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lient guide" id="{c476c1c1-4f70-1678-f9dc-a5d8ea28e211}">
          <p14:sldIdLst>
            <p14:sldId id="257"/>
            <p14:sldId id="258"/>
            <p14:sldId id="259"/>
            <p14:sldId id="260"/>
            <p14:sldId id="261"/>
            <p14:sldId id="262"/>
            <p14:sldId id="263"/>
          </p14:sldIdLst>
        </p14:section>
        <p14:section name="Default-1" id="{7b9e5209-bdb2-d33e-d07e-963475a23e29}">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short deck at client onboarding meetings, or send it as a PDF before the first meeting. It explains, warmly and simply, why we ask for documents. It contains nothing about our internal procedures or what we look out for, so it is safe to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isn't about mistrust. Every bank, law firm, trust company and real estate agent in the Turks and Caicos Islands must ask these questions by law. It is part of the Islands' commitment to international standards, which protect the reputation of the TCI as a place to live, invest and do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typical list. We may ask for more or less depending on the matter. Reassure clients that we will send a personalised checklist. Fill in the firm's specific requirements, for example how recent a proof of address must be, from the firm's procedures manual once it's finalised.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are sometimes surprised by these questions, especially wealthy, long-established clients. Explain that source of funds relates to this transaction, and source of wealth to how their wealth was built over time. Give examples of acceptable evidence. Emphasise that a clear, documented explanation helps their transaction complete smoothly with banks and counterparties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client through the process. We'll send a personalised checklist; they send documents securely; we review, and may ask follow-up questions; then we formally confirm our engagement. Over a longer relationship we will occasionally ask them to refresh documents. That's normal, and required by law. Replace the timing placeholder with the firm's service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clients can't present originals in person, we need certified copies. List the categories of acceptable certifiers that the firm's procedures and the AML/PTF Code allow. Typically: a lawyer, notary public, chartered accountant, or an officer of a regulated bank, from a jurisdiction with equivalent standards. Confirm the list against the Code before sharing.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 worry about where their personal documents go. Reassure them: information is held securely and confidentially, used only for legal and regulatory purposes, and kept only as long as the law requires. Add a reference to the firm's privacy notice and data protection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warmly. Invite questions and give the client the personalised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ontent-Contour-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Statem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bg1"/>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ph idx="101" type="body" hasCustomPrompt="1"/>
          </p:nvPr>
        </p:nvSpPr>
        <p:spPr>
          <a:xfrm>
            <a:off x="685800" y="1417320"/>
            <a:ext cx="7315200" cy="365760"/>
          </a:xfrm>
          <a:prstGeom prst="rect">
            <a:avLst/>
          </a:prstGeom>
          <a:noFill/>
          <a:ln/>
        </p:spPr>
        <p:txBody>
          <a:bodyPr wrap="square" rtlCol="0"/>
          <a:lstStyle>
            <a:lvl1pPr algn="l" indent="0" marL="0">
              <a:buNone/>
              <a:defRPr lang="en-US" sz="1300" b="1" spc="400" kern="0" dirty="0">
                <a:solidFill>
                  <a:schemeClr val="accent5"/>
                </a:solidFill>
              </a:defRPr>
            </a:lvl1pPr>
          </a:lstStyle>
          <a:p>
            <a:pPr algn="l" indent="0" marL="0">
              <a:buNone/>
            </a:pPr>
            <a:endParaRPr lang="en-US" sz="1300" dirty="0"/>
          </a:p>
        </p:txBody>
      </p:sp>
      <p:sp>
        <p:nvSpPr>
          <p:cNvPr id="4" name="Text 1"/>
          <p:cNvSpPr/>
          <p:nvPr>
            <p:ph idx="102" type="title" hasCustomPrompt="1"/>
          </p:nvPr>
        </p:nvSpPr>
        <p:spPr>
          <a:xfrm>
            <a:off x="685800" y="1874520"/>
            <a:ext cx="7863840" cy="2194560"/>
          </a:xfrm>
          <a:prstGeom prst="rect">
            <a:avLst/>
          </a:prstGeom>
          <a:noFill/>
          <a:ln/>
        </p:spPr>
        <p:txBody>
          <a:bodyPr wrap="square" rtlCol="0"/>
          <a:lstStyle>
            <a:lvl1pPr algn="l" indent="0" marL="0">
              <a:buNone/>
              <a:defRPr lang="en-US" sz="5800" dirty="0">
                <a:solidFill>
                  <a:schemeClr val="bg1"/>
                </a:solidFill>
                <a:latin typeface="Cambria" pitchFamily="34" charset="0"/>
                <a:ea typeface="Cambria" pitchFamily="34" charset="-122"/>
                <a:cs typeface="Cambria" pitchFamily="34" charset="-120"/>
              </a:defRPr>
            </a:lvl1pPr>
          </a:lstStyle>
          <a:p>
            <a:pPr algn="l" indent="0" marL="0">
              <a:buNone/>
            </a:pPr>
            <a:endParaRPr lang="en-US" sz="5800" dirty="0"/>
          </a:p>
        </p:txBody>
      </p:sp>
      <p:sp>
        <p:nvSpPr>
          <p:cNvPr id="5" name="Text 1"/>
          <p:cNvSpPr/>
          <p:nvPr>
            <p:ph idx="103" type="body" hasCustomPrompt="1"/>
          </p:nvPr>
        </p:nvSpPr>
        <p:spPr>
          <a:xfrm>
            <a:off x="685800" y="4206240"/>
            <a:ext cx="694944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6" name="Text 1"/>
          <p:cNvSpPr/>
          <p:nvPr>
            <p:ph idx="104" type="body" hasCustomPrompt="1"/>
          </p:nvPr>
        </p:nvSpPr>
        <p:spPr>
          <a:xfrm>
            <a:off x="685800" y="5349240"/>
            <a:ext cx="7315200" cy="548640"/>
          </a:xfrm>
          <a:prstGeom prst="rect">
            <a:avLst/>
          </a:prstGeom>
          <a:noFill/>
          <a:ln/>
        </p:spPr>
        <p:txBody>
          <a:bodyPr wrap="square" rtlCol="0"/>
          <a:lstStyle>
            <a:lvl1pPr algn="l" indent="0" marL="0">
              <a:buNone/>
              <a:defRPr lang="en-US" sz="1200" dirty="0">
                <a:solidFill>
                  <a:schemeClr val="bg1"/>
                </a:solidFill>
              </a:defRPr>
            </a:lvl1pPr>
          </a:lstStyle>
          <a:p>
            <a:pPr algn="l"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bg1"/>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6"/>
                </a:solidFill>
              </a:rPr>
              <a:t>Client Guide to Due Diligence</a:t>
            </a:r>
            <a:endParaRPr lang="en-US" sz="900" dirty="0"/>
          </a:p>
        </p:txBody>
      </p:sp>
      <p:sp>
        <p:nvSpPr>
          <p:cNvPr id="4" name="Text 2"/>
          <p:cNvSpPr/>
          <p:nvPr>
            <p:ph idx="102" type="body" hasCustomPrompt="1"/>
          </p:nvPr>
        </p:nvSpPr>
        <p:spPr>
          <a:xfrm>
            <a:off x="685800" y="1097280"/>
            <a:ext cx="3657600" cy="1645920"/>
          </a:xfrm>
          <a:prstGeom prst="rect">
            <a:avLst/>
          </a:prstGeom>
          <a:noFill/>
          <a:ln/>
        </p:spPr>
        <p:txBody>
          <a:bodyPr wrap="square" rtlCol="0"/>
          <a:lstStyle>
            <a:lvl1pPr algn="l" indent="0" marL="0">
              <a:buNone/>
              <a:defRPr lang="en-US" sz="11000" dirty="0">
                <a:solidFill>
                  <a:schemeClr val="accent1"/>
                </a:solidFill>
                <a:latin typeface="Cambria" pitchFamily="34" charset="0"/>
                <a:ea typeface="Cambria" pitchFamily="34" charset="-122"/>
                <a:cs typeface="Cambria" pitchFamily="34" charset="-120"/>
              </a:defRPr>
            </a:lvl1pPr>
          </a:lstStyle>
          <a:p>
            <a:pPr algn="l" indent="0" marL="0">
              <a:buNone/>
            </a:pPr>
            <a:endParaRPr lang="en-US" sz="11000" dirty="0"/>
          </a:p>
        </p:txBody>
      </p:sp>
      <p:sp>
        <p:nvSpPr>
          <p:cNvPr id="5" name="Text 2"/>
          <p:cNvSpPr/>
          <p:nvPr>
            <p:ph idx="103" type="title" hasCustomPrompt="1"/>
          </p:nvPr>
        </p:nvSpPr>
        <p:spPr>
          <a:xfrm>
            <a:off x="685800" y="2880360"/>
            <a:ext cx="8229600" cy="1188720"/>
          </a:xfrm>
          <a:prstGeom prst="rect">
            <a:avLst/>
          </a:prstGeom>
          <a:noFill/>
          <a:ln/>
        </p:spPr>
        <p:txBody>
          <a:bodyPr wrap="square" rtlCol="0"/>
          <a:lstStyle>
            <a:lvl1pPr algn="l" indent="0" marL="0">
              <a:buNone/>
              <a:defRPr lang="en-US" sz="4400"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6" name="Text 2"/>
          <p:cNvSpPr/>
          <p:nvPr>
            <p:ph idx="104" type="body" hasCustomPrompt="1"/>
          </p:nvPr>
        </p:nvSpPr>
        <p:spPr>
          <a:xfrm>
            <a:off x="685800" y="4160520"/>
            <a:ext cx="6583680" cy="109728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tx2"/>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4"/>
                </a:solidFill>
              </a:rPr>
              <a:t>Client Guide to Due Diligence</a:t>
            </a:r>
            <a:endParaRPr lang="en-US" sz="900" dirty="0"/>
          </a:p>
        </p:txBody>
      </p:sp>
      <p:sp>
        <p:nvSpPr>
          <p:cNvPr id="4" name="Text 2"/>
          <p:cNvSpPr/>
          <p:nvPr>
            <p:ph idx="102" type="body" hasCustomPrompt="1"/>
          </p:nvPr>
        </p:nvSpPr>
        <p:spPr>
          <a:xfrm>
            <a:off x="685800" y="411480"/>
            <a:ext cx="9144000" cy="274320"/>
          </a:xfrm>
          <a:prstGeom prst="rect">
            <a:avLst/>
          </a:prstGeom>
          <a:noFill/>
          <a:ln/>
        </p:spPr>
        <p:txBody>
          <a:bodyPr wrap="square" rtlCol="0"/>
          <a:lstStyle>
            <a:lvl1pPr algn="l" indent="0" marL="0">
              <a:buNone/>
              <a:defRPr lang="en-US" sz="1100" b="1" spc="400" kern="0" dirty="0">
                <a:solidFill>
                  <a:schemeClr val="accent1"/>
                </a:solidFill>
              </a:defRPr>
            </a:lvl1pPr>
          </a:lstStyle>
          <a:p>
            <a:pPr algn="l" indent="0" marL="0">
              <a:buNone/>
            </a:pPr>
            <a:endParaRPr lang="en-US" sz="1100" dirty="0"/>
          </a:p>
        </p:txBody>
      </p:sp>
      <p:sp>
        <p:nvSpPr>
          <p:cNvPr id="5" name="Text 2"/>
          <p:cNvSpPr/>
          <p:nvPr>
            <p:ph idx="103" type="title" hasCustomPrompt="1"/>
          </p:nvPr>
        </p:nvSpPr>
        <p:spPr>
          <a:xfrm>
            <a:off x="685800" y="713232"/>
            <a:ext cx="10789920" cy="822960"/>
          </a:xfrm>
          <a:prstGeom prst="rect">
            <a:avLst/>
          </a:prstGeom>
          <a:noFill/>
          <a:ln/>
        </p:spPr>
        <p:txBody>
          <a:bodyPr wrap="square" rtlCol="0"/>
          <a:lstStyle>
            <a:lvl1pPr algn="l" indent="0" marL="0">
              <a:buNone/>
              <a:defRPr lang="en-US" sz="3400"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Contou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tx2"/>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4"/>
                </a:solidFill>
              </a:rPr>
              <a:t>Client Guide to Due Diligence</a:t>
            </a:r>
            <a:endParaRPr lang="en-US" sz="900" dirty="0"/>
          </a:p>
        </p:txBody>
      </p:sp>
      <p:sp>
        <p:nvSpPr>
          <p:cNvPr id="4" name="Text 2"/>
          <p:cNvSpPr/>
          <p:nvPr>
            <p:ph idx="102" type="body" hasCustomPrompt="1"/>
          </p:nvPr>
        </p:nvSpPr>
        <p:spPr>
          <a:xfrm>
            <a:off x="685800" y="411480"/>
            <a:ext cx="9144000" cy="274320"/>
          </a:xfrm>
          <a:prstGeom prst="rect">
            <a:avLst/>
          </a:prstGeom>
          <a:noFill/>
          <a:ln/>
        </p:spPr>
        <p:txBody>
          <a:bodyPr wrap="square" rtlCol="0"/>
          <a:lstStyle>
            <a:lvl1pPr algn="l" indent="0" marL="0">
              <a:buNone/>
              <a:defRPr lang="en-US" sz="1100" b="1" spc="400" kern="0" dirty="0">
                <a:solidFill>
                  <a:schemeClr val="accent1"/>
                </a:solidFill>
              </a:defRPr>
            </a:lvl1pPr>
          </a:lstStyle>
          <a:p>
            <a:pPr algn="l" indent="0" marL="0">
              <a:buNone/>
            </a:pPr>
            <a:endParaRPr lang="en-US" sz="1100" dirty="0"/>
          </a:p>
        </p:txBody>
      </p:sp>
      <p:sp>
        <p:nvSpPr>
          <p:cNvPr id="5" name="Text 2"/>
          <p:cNvSpPr/>
          <p:nvPr>
            <p:ph idx="103" type="title" hasCustomPrompt="1"/>
          </p:nvPr>
        </p:nvSpPr>
        <p:spPr>
          <a:xfrm>
            <a:off x="685800" y="713232"/>
            <a:ext cx="10789920" cy="822960"/>
          </a:xfrm>
          <a:prstGeom prst="rect">
            <a:avLst/>
          </a:prstGeom>
          <a:noFill/>
          <a:ln/>
        </p:spPr>
        <p:txBody>
          <a:bodyPr wrap="square" rtlCol="0"/>
          <a:lstStyle>
            <a:lvl1pPr algn="l" indent="0" marL="0">
              <a:buNone/>
              <a:defRPr lang="en-US" sz="3400"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tatem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85800" y="6327648"/>
            <a:ext cx="4572000" cy="274320"/>
          </a:xfrm>
          <a:prstGeom prst="rect">
            <a:avLst/>
          </a:prstGeom>
          <a:noFill/>
          <a:ln/>
        </p:spPr>
        <p:txBody>
          <a:bodyPr wrap="square" lIns="0" tIns="0" rIns="0" bIns="0" rtlCol="0" anchor="ctr"/>
          <a:lstStyle/>
          <a:p>
            <a:pPr indent="0" marL="0">
              <a:buNone/>
            </a:pPr>
            <a:r>
              <a:rPr lang="en-US" sz="900" b="1" spc="300" kern="0" dirty="0">
                <a:solidFill>
                  <a:schemeClr val="bg1"/>
                </a:solidFill>
                <a:latin typeface="Calibri" pitchFamily="34" charset="0"/>
                <a:ea typeface="Calibri" pitchFamily="34" charset="-122"/>
                <a:cs typeface="Calibri" pitchFamily="34" charset="-120"/>
              </a:rPr>
              <a:t>MISSICK &amp; STANBROOK</a:t>
            </a:r>
            <a:endParaRPr lang="en-US" sz="900" dirty="0"/>
          </a:p>
        </p:txBody>
      </p:sp>
      <p:sp>
        <p:nvSpPr>
          <p:cNvPr id="3" name="Text 1"/>
          <p:cNvSpPr/>
          <p:nvPr/>
        </p:nvSpPr>
        <p:spPr>
          <a:xfrm>
            <a:off x="4206240" y="6327648"/>
            <a:ext cx="6217920" cy="274320"/>
          </a:xfrm>
          <a:prstGeom prst="rect">
            <a:avLst/>
          </a:prstGeom>
          <a:noFill/>
          <a:ln/>
        </p:spPr>
        <p:txBody>
          <a:bodyPr wrap="square" lIns="0" tIns="0" rIns="0" bIns="0" rtlCol="0" anchor="ctr"/>
          <a:lstStyle/>
          <a:p>
            <a:pPr algn="r" indent="0" marL="0">
              <a:buNone/>
            </a:pPr>
            <a:r>
              <a:rPr lang="en-US" sz="900" dirty="0">
                <a:solidFill>
                  <a:schemeClr val="accent6"/>
                </a:solidFill>
              </a:rPr>
              <a:t>Client Guide to Due Diligence</a:t>
            </a:r>
            <a:endParaRPr lang="en-US" sz="900" dirty="0"/>
          </a:p>
        </p:txBody>
      </p:sp>
      <p:sp>
        <p:nvSpPr>
          <p:cNvPr id="4" name="Text 2"/>
          <p:cNvSpPr/>
          <p:nvPr>
            <p:ph idx="102" type="body" hasCustomPrompt="1"/>
          </p:nvPr>
        </p:nvSpPr>
        <p:spPr>
          <a:xfrm>
            <a:off x="685800" y="411480"/>
            <a:ext cx="9144000" cy="274320"/>
          </a:xfrm>
          <a:prstGeom prst="rect">
            <a:avLst/>
          </a:prstGeom>
          <a:noFill/>
          <a:ln/>
        </p:spPr>
        <p:txBody>
          <a:bodyPr wrap="square" rtlCol="0"/>
          <a:lstStyle>
            <a:lvl1pPr algn="l" indent="0" marL="0">
              <a:buNone/>
              <a:defRPr lang="en-US" sz="1100" b="1" spc="400" kern="0" dirty="0">
                <a:solidFill>
                  <a:schemeClr val="accent5"/>
                </a:solidFill>
              </a:defRPr>
            </a:lvl1pPr>
          </a:lstStyle>
          <a:p>
            <a:pPr algn="l" indent="0" marL="0">
              <a:buNone/>
            </a:pPr>
            <a:endParaRPr lang="en-US" sz="1100" dirty="0"/>
          </a:p>
        </p:txBody>
      </p:sp>
      <p:sp>
        <p:nvSpPr>
          <p:cNvPr id="5" name="Text 2"/>
          <p:cNvSpPr/>
          <p:nvPr>
            <p:ph idx="103" type="title" hasCustomPrompt="1"/>
          </p:nvPr>
        </p:nvSpPr>
        <p:spPr>
          <a:xfrm>
            <a:off x="685800" y="713232"/>
            <a:ext cx="10789920" cy="822960"/>
          </a:xfrm>
          <a:prstGeom prst="rect">
            <a:avLst/>
          </a:prstGeom>
          <a:noFill/>
          <a:ln/>
        </p:spPr>
        <p:txBody>
          <a:bodyPr wrap="square" rtlCol="0"/>
          <a:lstStyle>
            <a:lvl1pPr algn="l" indent="0" marL="0">
              <a:buNone/>
              <a:defRPr lang="en-US" sz="3400"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5"/>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5.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5.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685800" y="1417320"/>
            <a:ext cx="7315200" cy="365760"/>
          </a:xfrm>
          <a:prstGeom prst="rect">
            <a:avLst/>
          </a:prstGeom>
          <a:noFill/>
          <a:ln/>
        </p:spPr>
        <p:txBody>
          <a:bodyPr wrap="square" lIns="0" tIns="0" rIns="0" bIns="0" rtlCol="0"/>
          <a:lstStyle/>
          <a:p>
            <a:pPr algn="l" indent="0" marL="0">
              <a:buNone/>
            </a:pPr>
            <a:r>
              <a:rPr lang="en-US" sz="1300" b="1" spc="400" kern="0" dirty="0">
                <a:solidFill>
                  <a:schemeClr val="accent5"/>
                </a:solidFill>
              </a:rPr>
              <a:t>A GUIDE FOR OUR CLIENTS</a:t>
            </a:r>
            <a:endParaRPr lang="en-US" sz="1300" dirty="0"/>
          </a:p>
        </p:txBody>
      </p:sp>
      <p:sp>
        <p:nvSpPr>
          <p:cNvPr id="3" name="Text 1"/>
          <p:cNvSpPr/>
          <p:nvPr>
            <p:ph idx="102" type="title" hasCustomPrompt="1"/>
          </p:nvPr>
        </p:nvSpPr>
        <p:spPr>
          <a:xfrm>
            <a:off x="685800" y="1874520"/>
            <a:ext cx="7863840" cy="2194560"/>
          </a:xfrm>
          <a:prstGeom prst="rect">
            <a:avLst/>
          </a:prstGeom>
          <a:noFill/>
          <a:ln/>
        </p:spPr>
        <p:txBody>
          <a:bodyPr wrap="square" lIns="0" tIns="0" rIns="0" bIns="0" rtlCol="0" anchor="t"/>
          <a:lstStyle/>
          <a:p>
            <a:pPr algn="l" indent="0" marL="0">
              <a:buNone/>
            </a:pPr>
            <a:r>
              <a:rPr lang="en-US" sz="5800" dirty="0">
                <a:solidFill>
                  <a:schemeClr val="bg1"/>
                </a:solidFill>
                <a:latin typeface="Cambria" pitchFamily="34" charset="0"/>
                <a:ea typeface="Cambria" pitchFamily="34" charset="-122"/>
                <a:cs typeface="Cambria" pitchFamily="34" charset="-120"/>
              </a:rPr>
              <a:t>Why we ask</a:t>
            </a:r>
            <a:endParaRPr lang="en-US" sz="5800" dirty="0"/>
          </a:p>
        </p:txBody>
      </p:sp>
      <p:sp>
        <p:nvSpPr>
          <p:cNvPr id="4" name="Text 1"/>
          <p:cNvSpPr/>
          <p:nvPr>
            <p:ph idx="103" type="body" hasCustomPrompt="1"/>
          </p:nvPr>
        </p:nvSpPr>
        <p:spPr>
          <a:xfrm>
            <a:off x="685800" y="4206240"/>
            <a:ext cx="6949440" cy="914400"/>
          </a:xfrm>
          <a:prstGeom prst="rect">
            <a:avLst/>
          </a:prstGeom>
          <a:noFill/>
          <a:ln/>
        </p:spPr>
        <p:txBody>
          <a:bodyPr wrap="square" lIns="0" tIns="0" rIns="0" bIns="0" rtlCol="0" anchor="t"/>
          <a:lstStyle/>
          <a:p>
            <a:pPr algn="l" indent="0" marL="0">
              <a:buNone/>
            </a:pPr>
            <a:r>
              <a:rPr lang="en-US" sz="1800" dirty="0">
                <a:solidFill>
                  <a:schemeClr val="accent6"/>
                </a:solidFill>
              </a:rPr>
              <a:t>Our commitment to protecting you, our firm and the Turks and Caicos Islands, and what to expect when you instruct us</a:t>
            </a:r>
            <a:endParaRPr lang="en-US" sz="1800" dirty="0"/>
          </a:p>
        </p:txBody>
      </p:sp>
      <p:sp>
        <p:nvSpPr>
          <p:cNvPr id="5" name="Text 1"/>
          <p:cNvSpPr/>
          <p:nvPr>
            <p:ph idx="104" type="body" hasCustomPrompt="1"/>
          </p:nvPr>
        </p:nvSpPr>
        <p:spPr>
          <a:xfrm>
            <a:off x="685800" y="5349240"/>
            <a:ext cx="7315200" cy="548640"/>
          </a:xfrm>
          <a:prstGeom prst="rect">
            <a:avLst/>
          </a:prstGeom>
          <a:noFill/>
          <a:ln/>
        </p:spPr>
        <p:txBody>
          <a:bodyPr wrap="square" lIns="0" tIns="0" rIns="0" bIns="0" rtlCol="0" anchor="t"/>
          <a:lstStyle/>
          <a:p>
            <a:pPr algn="l" indent="0" marL="0">
              <a:buNone/>
            </a:pPr>
            <a:r>
              <a:rPr lang="en-US" sz="1200" dirty="0">
                <a:solidFill>
                  <a:schemeClr val="bg1"/>
                </a:solidFill>
              </a:rPr>
              <a:t>Missick &amp; Stanbrook   ·   Attorneys-at-Law   ·   Turks and Caicos Islands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OUR RESPONSIBILITY</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Every regulated firm in the Islands asks</a:t>
            </a:r>
            <a:endParaRPr lang="en-US" sz="3400" dirty="0"/>
          </a:p>
        </p:txBody>
      </p:sp>
      <p:sp>
        <p:nvSpPr>
          <p:cNvPr id="5" name="Text 2"/>
          <p:cNvSpPr txBox="1"/>
          <p:nvPr/>
        </p:nvSpPr>
        <p:spPr>
          <a:xfrm>
            <a:off x="685800" y="1874520"/>
            <a:ext cx="4937760" cy="1463040"/>
          </a:xfrm>
          <a:prstGeom prst="rect">
            <a:avLst/>
          </a:prstGeom>
          <a:noFill/>
          <a:ln/>
        </p:spPr>
        <p:txBody>
          <a:bodyPr wrap="square" lIns="0" tIns="0" rIns="0" bIns="0" rtlCol="0" anchor="t"/>
          <a:lstStyle/>
          <a:p>
            <a:pPr indent="0" marL="0">
              <a:lnSpc>
                <a:spcPct val="105000"/>
              </a:lnSpc>
              <a:buNone/>
            </a:pPr>
            <a:r>
              <a:rPr lang="en-US" sz="3000" dirty="0">
                <a:solidFill>
                  <a:schemeClr val="tx1"/>
                </a:solidFill>
                <a:latin typeface="Cambria" pitchFamily="34" charset="0"/>
                <a:ea typeface="Cambria" pitchFamily="34" charset="-122"/>
                <a:cs typeface="Cambria" pitchFamily="34" charset="-120"/>
              </a:rPr>
              <a:t>It's not personal. It's the law, and it protects you.</a:t>
            </a:r>
            <a:endParaRPr lang="en-US" sz="3000" dirty="0"/>
          </a:p>
        </p:txBody>
      </p:sp>
      <p:sp>
        <p:nvSpPr>
          <p:cNvPr id="6" name="Text 3"/>
          <p:cNvSpPr txBox="1"/>
          <p:nvPr/>
        </p:nvSpPr>
        <p:spPr>
          <a:xfrm>
            <a:off x="685800" y="3063240"/>
            <a:ext cx="4754880" cy="2011680"/>
          </a:xfrm>
          <a:prstGeom prst="rect">
            <a:avLst/>
          </a:prstGeom>
          <a:noFill/>
          <a:ln/>
        </p:spPr>
        <p:txBody>
          <a:bodyPr wrap="square" lIns="0" tIns="0" rIns="0" bIns="0" rtlCol="0" anchor="t"/>
          <a:lstStyle/>
          <a:p>
            <a:pPr indent="0" marL="0">
              <a:lnSpc>
                <a:spcPct val="115000"/>
              </a:lnSpc>
              <a:buNone/>
            </a:pPr>
            <a:r>
              <a:rPr lang="en-US" sz="1500" dirty="0">
                <a:solidFill>
                  <a:schemeClr val="tx2"/>
                </a:solidFill>
              </a:rPr>
              <a:t>Turks and Caicos law requires law firms, banks, trust companies and real estate agents to verify who their clients are and to understand the purpose and source of the funds involved. These are international standards, applied in the same way across the world's leading financial centres.</a:t>
            </a:r>
            <a:endParaRPr lang="en-US" sz="1500" dirty="0"/>
          </a:p>
        </p:txBody>
      </p:sp>
      <p:sp>
        <p:nvSpPr>
          <p:cNvPr id="7" name="Benefit card"/>
          <p:cNvSpPr/>
          <p:nvPr/>
        </p:nvSpPr>
        <p:spPr>
          <a:xfrm>
            <a:off x="6309360" y="1874520"/>
            <a:ext cx="5193792" cy="1143000"/>
          </a:xfrm>
          <a:prstGeom prst="roundRect">
            <a:avLst>
              <a:gd name="adj" fmla="val 9600"/>
            </a:avLst>
          </a:prstGeom>
          <a:solidFill>
            <a:schemeClr val="bg1"/>
          </a:solidFill>
          <a:ln/>
          <a:effectLst>
            <a:outerShdw sx="100000" sy="100000" kx="0" ky="0" algn="bl" rotWithShape="0" blurRad="177800" dist="38100" dir="5400000">
              <a:srgbClr val="0B1F2A">
                <a:alpha val="10000"/>
              </a:srgbClr>
            </a:outerShdw>
          </a:effectLst>
        </p:spPr>
      </p:sp>
      <p:sp>
        <p:nvSpPr>
          <p:cNvPr id="8" name="Icon disc"/>
          <p:cNvSpPr/>
          <p:nvPr/>
        </p:nvSpPr>
        <p:spPr>
          <a:xfrm>
            <a:off x="6583680" y="2121408"/>
            <a:ext cx="658368" cy="658368"/>
          </a:xfrm>
          <a:prstGeom prst="ellipse">
            <a:avLst/>
          </a:prstGeom>
          <a:solidFill>
            <a:schemeClr val="accent1"/>
          </a:solidFill>
          <a:ln/>
        </p:spPr>
      </p:sp>
      <p:pic>
        <p:nvPicPr>
          <p:cNvPr id="9" name="Image 0" descr="ShieldCheck icon">    </p:cNvPr>
          <p:cNvPicPr>
            <a:picLocks noChangeAspect="1"/>
          </p:cNvPicPr>
          <p:nvPr/>
        </p:nvPicPr>
        <p:blipFill>
          <a:blip r:embed="rId1"/>
          <a:stretch>
            <a:fillRect/>
          </a:stretch>
        </p:blipFill>
        <p:spPr>
          <a:xfrm>
            <a:off x="6748272" y="2286000"/>
            <a:ext cx="329184" cy="329184"/>
          </a:xfrm>
          <a:prstGeom prst="rect">
            <a:avLst/>
          </a:prstGeom>
        </p:spPr>
      </p:pic>
      <p:sp>
        <p:nvSpPr>
          <p:cNvPr id="10" name="Text 6"/>
          <p:cNvSpPr txBox="1"/>
          <p:nvPr/>
        </p:nvSpPr>
        <p:spPr>
          <a:xfrm>
            <a:off x="7498080" y="2075688"/>
            <a:ext cx="384048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Protects you</a:t>
            </a:r>
            <a:endParaRPr lang="en-US" sz="1900" dirty="0"/>
          </a:p>
        </p:txBody>
      </p:sp>
      <p:sp>
        <p:nvSpPr>
          <p:cNvPr id="11" name="Text 7"/>
          <p:cNvSpPr txBox="1"/>
          <p:nvPr/>
        </p:nvSpPr>
        <p:spPr>
          <a:xfrm>
            <a:off x="7498080" y="2468880"/>
            <a:ext cx="3840480" cy="365760"/>
          </a:xfrm>
          <a:prstGeom prst="rect">
            <a:avLst/>
          </a:prstGeom>
          <a:noFill/>
          <a:ln/>
        </p:spPr>
        <p:txBody>
          <a:bodyPr wrap="square" lIns="0" tIns="0" rIns="0" bIns="0" rtlCol="0" anchor="t"/>
          <a:lstStyle/>
          <a:p>
            <a:pPr indent="0" marL="0">
              <a:buNone/>
            </a:pPr>
            <a:r>
              <a:rPr lang="en-US" sz="1400" dirty="0">
                <a:solidFill>
                  <a:schemeClr val="tx2"/>
                </a:solidFill>
              </a:rPr>
              <a:t>From identity theft, fraud and impersonation</a:t>
            </a:r>
            <a:endParaRPr lang="en-US" sz="1400" dirty="0"/>
          </a:p>
        </p:txBody>
      </p:sp>
      <p:sp>
        <p:nvSpPr>
          <p:cNvPr id="12" name="Benefit card"/>
          <p:cNvSpPr/>
          <p:nvPr/>
        </p:nvSpPr>
        <p:spPr>
          <a:xfrm>
            <a:off x="6309360" y="3200400"/>
            <a:ext cx="5193792" cy="1143000"/>
          </a:xfrm>
          <a:prstGeom prst="roundRect">
            <a:avLst>
              <a:gd name="adj" fmla="val 9600"/>
            </a:avLst>
          </a:prstGeom>
          <a:solidFill>
            <a:schemeClr val="bg1"/>
          </a:solidFill>
          <a:ln/>
          <a:effectLst>
            <a:outerShdw sx="100000" sy="100000" kx="0" ky="0" algn="bl" rotWithShape="0" blurRad="177800" dist="38100" dir="5400000">
              <a:srgbClr val="0B1F2A">
                <a:alpha val="10000"/>
              </a:srgbClr>
            </a:outerShdw>
          </a:effectLst>
        </p:spPr>
      </p:sp>
      <p:sp>
        <p:nvSpPr>
          <p:cNvPr id="13" name="Icon disc"/>
          <p:cNvSpPr/>
          <p:nvPr/>
        </p:nvSpPr>
        <p:spPr>
          <a:xfrm>
            <a:off x="6583680" y="3447288"/>
            <a:ext cx="658368" cy="658368"/>
          </a:xfrm>
          <a:prstGeom prst="ellipse">
            <a:avLst/>
          </a:prstGeom>
          <a:solidFill>
            <a:schemeClr val="accent1"/>
          </a:solidFill>
          <a:ln/>
        </p:spPr>
      </p:sp>
      <p:pic>
        <p:nvPicPr>
          <p:cNvPr id="14" name="Image 1" descr="Landmark icon">    </p:cNvPr>
          <p:cNvPicPr>
            <a:picLocks noChangeAspect="1"/>
          </p:cNvPicPr>
          <p:nvPr/>
        </p:nvPicPr>
        <p:blipFill>
          <a:blip r:embed="rId2"/>
          <a:stretch>
            <a:fillRect/>
          </a:stretch>
        </p:blipFill>
        <p:spPr>
          <a:xfrm>
            <a:off x="6748272" y="3611880"/>
            <a:ext cx="329184" cy="329184"/>
          </a:xfrm>
          <a:prstGeom prst="rect">
            <a:avLst/>
          </a:prstGeom>
        </p:spPr>
      </p:pic>
      <p:sp>
        <p:nvSpPr>
          <p:cNvPr id="15" name="Text 10"/>
          <p:cNvSpPr txBox="1"/>
          <p:nvPr/>
        </p:nvSpPr>
        <p:spPr>
          <a:xfrm>
            <a:off x="7498080" y="3401568"/>
            <a:ext cx="384048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Protects the Islands</a:t>
            </a:r>
            <a:endParaRPr lang="en-US" sz="1900" dirty="0"/>
          </a:p>
        </p:txBody>
      </p:sp>
      <p:sp>
        <p:nvSpPr>
          <p:cNvPr id="16" name="Text 11"/>
          <p:cNvSpPr txBox="1"/>
          <p:nvPr/>
        </p:nvSpPr>
        <p:spPr>
          <a:xfrm>
            <a:off x="7498080" y="3794760"/>
            <a:ext cx="3840480" cy="365760"/>
          </a:xfrm>
          <a:prstGeom prst="rect">
            <a:avLst/>
          </a:prstGeom>
          <a:noFill/>
          <a:ln/>
        </p:spPr>
        <p:txBody>
          <a:bodyPr wrap="square" lIns="0" tIns="0" rIns="0" bIns="0" rtlCol="0" anchor="t"/>
          <a:lstStyle/>
          <a:p>
            <a:pPr indent="0" marL="0">
              <a:buNone/>
            </a:pPr>
            <a:r>
              <a:rPr lang="en-US" sz="1400" dirty="0">
                <a:solidFill>
                  <a:schemeClr val="tx2"/>
                </a:solidFill>
              </a:rPr>
              <a:t>And their standing as a trusted place to invest</a:t>
            </a:r>
            <a:endParaRPr lang="en-US" sz="1400" dirty="0"/>
          </a:p>
        </p:txBody>
      </p:sp>
      <p:sp>
        <p:nvSpPr>
          <p:cNvPr id="17" name="Benefit card"/>
          <p:cNvSpPr/>
          <p:nvPr/>
        </p:nvSpPr>
        <p:spPr>
          <a:xfrm>
            <a:off x="6309360" y="4526280"/>
            <a:ext cx="5193792" cy="1143000"/>
          </a:xfrm>
          <a:prstGeom prst="roundRect">
            <a:avLst>
              <a:gd name="adj" fmla="val 9600"/>
            </a:avLst>
          </a:prstGeom>
          <a:solidFill>
            <a:schemeClr val="bg1"/>
          </a:solidFill>
          <a:ln/>
          <a:effectLst>
            <a:outerShdw sx="100000" sy="100000" kx="0" ky="0" algn="bl" rotWithShape="0" blurRad="177800" dist="38100" dir="5400000">
              <a:srgbClr val="0B1F2A">
                <a:alpha val="10000"/>
              </a:srgbClr>
            </a:outerShdw>
          </a:effectLst>
        </p:spPr>
      </p:sp>
      <p:sp>
        <p:nvSpPr>
          <p:cNvPr id="18" name="Icon disc"/>
          <p:cNvSpPr/>
          <p:nvPr/>
        </p:nvSpPr>
        <p:spPr>
          <a:xfrm>
            <a:off x="6583680" y="4773168"/>
            <a:ext cx="658368" cy="658368"/>
          </a:xfrm>
          <a:prstGeom prst="ellipse">
            <a:avLst/>
          </a:prstGeom>
          <a:solidFill>
            <a:schemeClr val="accent1"/>
          </a:solidFill>
          <a:ln/>
        </p:spPr>
      </p:sp>
      <p:pic>
        <p:nvPicPr>
          <p:cNvPr id="19" name="Image 2" descr="Scale icon">    </p:cNvPr>
          <p:cNvPicPr>
            <a:picLocks noChangeAspect="1"/>
          </p:cNvPicPr>
          <p:nvPr/>
        </p:nvPicPr>
        <p:blipFill>
          <a:blip r:embed="rId3"/>
          <a:stretch>
            <a:fillRect/>
          </a:stretch>
        </p:blipFill>
        <p:spPr>
          <a:xfrm>
            <a:off x="6748272" y="4937760"/>
            <a:ext cx="329184" cy="329184"/>
          </a:xfrm>
          <a:prstGeom prst="rect">
            <a:avLst/>
          </a:prstGeom>
        </p:spPr>
      </p:pic>
      <p:sp>
        <p:nvSpPr>
          <p:cNvPr id="20" name="Text 14"/>
          <p:cNvSpPr txBox="1"/>
          <p:nvPr/>
        </p:nvSpPr>
        <p:spPr>
          <a:xfrm>
            <a:off x="7498080" y="4727448"/>
            <a:ext cx="384048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Meets the law</a:t>
            </a:r>
            <a:endParaRPr lang="en-US" sz="1900" dirty="0"/>
          </a:p>
        </p:txBody>
      </p:sp>
      <p:sp>
        <p:nvSpPr>
          <p:cNvPr id="21" name="Text 15"/>
          <p:cNvSpPr txBox="1"/>
          <p:nvPr/>
        </p:nvSpPr>
        <p:spPr>
          <a:xfrm>
            <a:off x="7498080" y="5120640"/>
            <a:ext cx="3840480" cy="365760"/>
          </a:xfrm>
          <a:prstGeom prst="rect">
            <a:avLst/>
          </a:prstGeom>
          <a:noFill/>
          <a:ln/>
        </p:spPr>
        <p:txBody>
          <a:bodyPr wrap="square" lIns="0" tIns="0" rIns="0" bIns="0" rtlCol="0" anchor="t"/>
          <a:lstStyle/>
          <a:p>
            <a:pPr indent="0" marL="0">
              <a:buNone/>
            </a:pPr>
            <a:r>
              <a:rPr lang="en-US" sz="1400" dirty="0">
                <a:solidFill>
                  <a:schemeClr val="tx2"/>
                </a:solidFill>
              </a:rPr>
              <a:t>So every transaction we handle for you stands on solid ground</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WHAT WE WILL ASK FOR</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The documents we usually need</a:t>
            </a:r>
            <a:endParaRPr lang="en-US" sz="3400" dirty="0"/>
          </a:p>
        </p:txBody>
      </p:sp>
      <p:sp>
        <p:nvSpPr>
          <p:cNvPr id="5" name="Document card"/>
          <p:cNvSpPr/>
          <p:nvPr/>
        </p:nvSpPr>
        <p:spPr>
          <a:xfrm>
            <a:off x="685800" y="1874520"/>
            <a:ext cx="3401568" cy="397764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51560" y="2240280"/>
            <a:ext cx="676656" cy="676656"/>
          </a:xfrm>
          <a:prstGeom prst="ellipse">
            <a:avLst/>
          </a:prstGeom>
          <a:solidFill>
            <a:schemeClr val="accent1"/>
          </a:solidFill>
          <a:ln/>
        </p:spPr>
      </p:sp>
      <p:pic>
        <p:nvPicPr>
          <p:cNvPr id="7" name="Image 0" descr="User icon">    </p:cNvPr>
          <p:cNvPicPr>
            <a:picLocks noChangeAspect="1"/>
          </p:cNvPicPr>
          <p:nvPr/>
        </p:nvPicPr>
        <p:blipFill>
          <a:blip r:embed="rId1"/>
          <a:stretch>
            <a:fillRect/>
          </a:stretch>
        </p:blipFill>
        <p:spPr>
          <a:xfrm>
            <a:off x="1220724" y="2409444"/>
            <a:ext cx="338328" cy="338328"/>
          </a:xfrm>
          <a:prstGeom prst="rect">
            <a:avLst/>
          </a:prstGeom>
        </p:spPr>
      </p:pic>
      <p:sp>
        <p:nvSpPr>
          <p:cNvPr id="8" name="Text 4"/>
          <p:cNvSpPr txBox="1"/>
          <p:nvPr/>
        </p:nvSpPr>
        <p:spPr>
          <a:xfrm>
            <a:off x="1051560" y="3081528"/>
            <a:ext cx="2670048"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Individuals</a:t>
            </a:r>
            <a:endParaRPr lang="en-US" sz="2100" dirty="0"/>
          </a:p>
        </p:txBody>
      </p:sp>
      <p:sp>
        <p:nvSpPr>
          <p:cNvPr id="9" name="Text 5"/>
          <p:cNvSpPr txBox="1"/>
          <p:nvPr/>
        </p:nvSpPr>
        <p:spPr>
          <a:xfrm>
            <a:off x="1051560" y="3611880"/>
            <a:ext cx="2715768" cy="210312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2"/>
                </a:solidFill>
              </a:rPr>
              <a:t>Valid passport or national ID</a:t>
            </a:r>
            <a:endParaRPr lang="en-US" sz="1400" dirty="0"/>
          </a:p>
          <a:p>
            <a:pPr marL="203200" indent="-203200">
              <a:spcAft>
                <a:spcPts val="900"/>
              </a:spcAft>
              <a:buSzPct val="100000"/>
              <a:buChar char="•"/>
            </a:pPr>
            <a:r>
              <a:rPr lang="en-US" sz="1400" dirty="0">
                <a:solidFill>
                  <a:schemeClr val="tx2"/>
                </a:solidFill>
              </a:rPr>
              <a:t>Recent proof of residential address</a:t>
            </a:r>
            <a:endParaRPr lang="en-US" sz="1400" dirty="0"/>
          </a:p>
          <a:p>
            <a:pPr marL="203200" indent="-203200">
              <a:spcAft>
                <a:spcPts val="900"/>
              </a:spcAft>
              <a:buSzPct val="100000"/>
              <a:buChar char="•"/>
            </a:pPr>
            <a:r>
              <a:rPr lang="en-US" sz="1400" dirty="0">
                <a:solidFill>
                  <a:schemeClr val="tx2"/>
                </a:solidFill>
              </a:rPr>
              <a:t>Contact details and occupation</a:t>
            </a:r>
            <a:endParaRPr lang="en-US" sz="1400" dirty="0"/>
          </a:p>
          <a:p>
            <a:pPr marL="203200" indent="-203200">
              <a:spcAft>
                <a:spcPts val="900"/>
              </a:spcAft>
              <a:buSzPct val="100000"/>
              <a:buChar char="•"/>
            </a:pPr>
            <a:r>
              <a:rPr lang="en-US" sz="1400" dirty="0">
                <a:solidFill>
                  <a:schemeClr val="tx2"/>
                </a:solidFill>
              </a:rPr>
              <a:t>Details of any third party paying on your behalf</a:t>
            </a:r>
            <a:endParaRPr lang="en-US" sz="1400" dirty="0"/>
          </a:p>
        </p:txBody>
      </p:sp>
      <p:sp>
        <p:nvSpPr>
          <p:cNvPr id="10" name="Document card"/>
          <p:cNvSpPr/>
          <p:nvPr/>
        </p:nvSpPr>
        <p:spPr>
          <a:xfrm>
            <a:off x="4393692" y="1874520"/>
            <a:ext cx="3401568" cy="397764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11" name="Icon disc"/>
          <p:cNvSpPr/>
          <p:nvPr/>
        </p:nvSpPr>
        <p:spPr>
          <a:xfrm>
            <a:off x="4759452" y="2240280"/>
            <a:ext cx="676656" cy="676656"/>
          </a:xfrm>
          <a:prstGeom prst="ellipse">
            <a:avLst/>
          </a:prstGeom>
          <a:solidFill>
            <a:schemeClr val="accent1"/>
          </a:solidFill>
          <a:ln/>
        </p:spPr>
      </p:sp>
      <p:pic>
        <p:nvPicPr>
          <p:cNvPr id="12" name="Image 1" descr="Building2 icon">    </p:cNvPr>
          <p:cNvPicPr>
            <a:picLocks noChangeAspect="1"/>
          </p:cNvPicPr>
          <p:nvPr/>
        </p:nvPicPr>
        <p:blipFill>
          <a:blip r:embed="rId2"/>
          <a:stretch>
            <a:fillRect/>
          </a:stretch>
        </p:blipFill>
        <p:spPr>
          <a:xfrm>
            <a:off x="4928616" y="2409444"/>
            <a:ext cx="338328" cy="338328"/>
          </a:xfrm>
          <a:prstGeom prst="rect">
            <a:avLst/>
          </a:prstGeom>
        </p:spPr>
      </p:pic>
      <p:sp>
        <p:nvSpPr>
          <p:cNvPr id="13" name="Text 8"/>
          <p:cNvSpPr txBox="1"/>
          <p:nvPr/>
        </p:nvSpPr>
        <p:spPr>
          <a:xfrm>
            <a:off x="4759452" y="3081528"/>
            <a:ext cx="2670048"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Companies</a:t>
            </a:r>
            <a:endParaRPr lang="en-US" sz="2100" dirty="0"/>
          </a:p>
        </p:txBody>
      </p:sp>
      <p:sp>
        <p:nvSpPr>
          <p:cNvPr id="14" name="Text 9"/>
          <p:cNvSpPr txBox="1"/>
          <p:nvPr/>
        </p:nvSpPr>
        <p:spPr>
          <a:xfrm>
            <a:off x="4759452" y="3611880"/>
            <a:ext cx="2715768" cy="210312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2"/>
                </a:solidFill>
              </a:rPr>
              <a:t>Certificate of incorporation and good standing</a:t>
            </a:r>
            <a:endParaRPr lang="en-US" sz="1400" dirty="0"/>
          </a:p>
          <a:p>
            <a:pPr marL="203200" indent="-203200">
              <a:spcAft>
                <a:spcPts val="900"/>
              </a:spcAft>
              <a:buSzPct val="100000"/>
              <a:buChar char="•"/>
            </a:pPr>
            <a:r>
              <a:rPr lang="en-US" sz="1400" dirty="0">
                <a:solidFill>
                  <a:schemeClr val="tx2"/>
                </a:solidFill>
              </a:rPr>
              <a:t>Registers of directors and shareholders</a:t>
            </a:r>
            <a:endParaRPr lang="en-US" sz="1400" dirty="0"/>
          </a:p>
          <a:p>
            <a:pPr marL="203200" indent="-203200">
              <a:spcAft>
                <a:spcPts val="900"/>
              </a:spcAft>
              <a:buSzPct val="100000"/>
              <a:buChar char="•"/>
            </a:pPr>
            <a:r>
              <a:rPr lang="en-US" sz="1400" dirty="0">
                <a:solidFill>
                  <a:schemeClr val="tx2"/>
                </a:solidFill>
              </a:rPr>
              <a:t>Identification of the people who ultimately own or control it</a:t>
            </a:r>
            <a:endParaRPr lang="en-US" sz="1400" dirty="0"/>
          </a:p>
          <a:p>
            <a:pPr marL="203200" indent="-203200">
              <a:spcAft>
                <a:spcPts val="900"/>
              </a:spcAft>
              <a:buSzPct val="100000"/>
              <a:buChar char="•"/>
            </a:pPr>
            <a:r>
              <a:rPr lang="en-US" sz="1400" dirty="0">
                <a:solidFill>
                  <a:schemeClr val="tx2"/>
                </a:solidFill>
              </a:rPr>
              <a:t>Constitutional documents</a:t>
            </a:r>
            <a:endParaRPr lang="en-US" sz="1400" dirty="0"/>
          </a:p>
        </p:txBody>
      </p:sp>
      <p:sp>
        <p:nvSpPr>
          <p:cNvPr id="15" name="Document card"/>
          <p:cNvSpPr/>
          <p:nvPr/>
        </p:nvSpPr>
        <p:spPr>
          <a:xfrm>
            <a:off x="8101584" y="1874520"/>
            <a:ext cx="3401568" cy="3977640"/>
          </a:xfrm>
          <a:prstGeom prst="roundRect">
            <a:avLst>
              <a:gd name="adj" fmla="val 3226"/>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8467344" y="2240280"/>
            <a:ext cx="676656" cy="676656"/>
          </a:xfrm>
          <a:prstGeom prst="ellipse">
            <a:avLst/>
          </a:prstGeom>
          <a:solidFill>
            <a:schemeClr val="accent1"/>
          </a:solidFill>
          <a:ln/>
        </p:spPr>
      </p:sp>
      <p:pic>
        <p:nvPicPr>
          <p:cNvPr id="17" name="Image 2" descr="Network icon">    </p:cNvPr>
          <p:cNvPicPr>
            <a:picLocks noChangeAspect="1"/>
          </p:cNvPicPr>
          <p:nvPr/>
        </p:nvPicPr>
        <p:blipFill>
          <a:blip r:embed="rId3"/>
          <a:stretch>
            <a:fillRect/>
          </a:stretch>
        </p:blipFill>
        <p:spPr>
          <a:xfrm>
            <a:off x="8636508" y="2409444"/>
            <a:ext cx="338328" cy="338328"/>
          </a:xfrm>
          <a:prstGeom prst="rect">
            <a:avLst/>
          </a:prstGeom>
        </p:spPr>
      </p:pic>
      <p:sp>
        <p:nvSpPr>
          <p:cNvPr id="18" name="Text 12"/>
          <p:cNvSpPr txBox="1"/>
          <p:nvPr/>
        </p:nvSpPr>
        <p:spPr>
          <a:xfrm>
            <a:off x="8467344" y="3081528"/>
            <a:ext cx="2670048"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Trusts</a:t>
            </a:r>
            <a:endParaRPr lang="en-US" sz="2100" dirty="0"/>
          </a:p>
        </p:txBody>
      </p:sp>
      <p:sp>
        <p:nvSpPr>
          <p:cNvPr id="19" name="Text 13"/>
          <p:cNvSpPr txBox="1"/>
          <p:nvPr/>
        </p:nvSpPr>
        <p:spPr>
          <a:xfrm>
            <a:off x="8467344" y="3611880"/>
            <a:ext cx="2715768" cy="210312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2"/>
                </a:solidFill>
              </a:rPr>
              <a:t>Trust deed or constitution</a:t>
            </a:r>
            <a:endParaRPr lang="en-US" sz="1400" dirty="0"/>
          </a:p>
          <a:p>
            <a:pPr marL="203200" indent="-203200">
              <a:spcAft>
                <a:spcPts val="900"/>
              </a:spcAft>
              <a:buSzPct val="100000"/>
              <a:buChar char="•"/>
            </a:pPr>
            <a:r>
              <a:rPr lang="en-US" sz="1400" dirty="0">
                <a:solidFill>
                  <a:schemeClr val="tx2"/>
                </a:solidFill>
              </a:rPr>
              <a:t>Identification of settlor, trustees and protector</a:t>
            </a:r>
            <a:endParaRPr lang="en-US" sz="1400" dirty="0"/>
          </a:p>
          <a:p>
            <a:pPr marL="203200" indent="-203200">
              <a:spcAft>
                <a:spcPts val="900"/>
              </a:spcAft>
              <a:buSzPct val="100000"/>
              <a:buChar char="•"/>
            </a:pPr>
            <a:r>
              <a:rPr lang="en-US" sz="1400" dirty="0">
                <a:solidFill>
                  <a:schemeClr val="tx2"/>
                </a:solidFill>
              </a:rPr>
              <a:t>Details of beneficiaries or classes of beneficiary</a:t>
            </a:r>
            <a:endParaRPr lang="en-US" sz="1400" dirty="0"/>
          </a:p>
          <a:p>
            <a:pPr marL="203200" indent="-203200">
              <a:spcAft>
                <a:spcPts val="900"/>
              </a:spcAft>
              <a:buSzPct val="100000"/>
              <a:buChar char="•"/>
            </a:pPr>
            <a:r>
              <a:rPr lang="en-US" sz="1400" dirty="0">
                <a:solidFill>
                  <a:schemeClr val="tx2"/>
                </a:solidFill>
              </a:rPr>
              <a:t>Purpose of the structure</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UNDERSTANDING YOUR FUNDS</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Where the money comes from</a:t>
            </a:r>
            <a:endParaRPr lang="en-US" sz="3400" dirty="0"/>
          </a:p>
        </p:txBody>
      </p:sp>
      <p:sp>
        <p:nvSpPr>
          <p:cNvPr id="5" name="Funds card"/>
          <p:cNvSpPr/>
          <p:nvPr/>
        </p:nvSpPr>
        <p:spPr>
          <a:xfrm>
            <a:off x="685800" y="1874520"/>
            <a:ext cx="6583680" cy="1783080"/>
          </a:xfrm>
          <a:prstGeom prst="roundRect">
            <a:avLst>
              <a:gd name="adj" fmla="val 6154"/>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05840" y="2194560"/>
            <a:ext cx="731520" cy="731520"/>
          </a:xfrm>
          <a:prstGeom prst="ellipse">
            <a:avLst/>
          </a:prstGeom>
          <a:solidFill>
            <a:schemeClr val="accent1"/>
          </a:solidFill>
          <a:ln/>
        </p:spPr>
      </p:sp>
      <p:pic>
        <p:nvPicPr>
          <p:cNvPr id="7" name="Image 0" descr="Wallet icon">    </p:cNvPr>
          <p:cNvPicPr>
            <a:picLocks noChangeAspect="1"/>
          </p:cNvPicPr>
          <p:nvPr/>
        </p:nvPicPr>
        <p:blipFill>
          <a:blip r:embed="rId1"/>
          <a:stretch>
            <a:fillRect/>
          </a:stretch>
        </p:blipFill>
        <p:spPr>
          <a:xfrm>
            <a:off x="1188720" y="2377440"/>
            <a:ext cx="365760" cy="365760"/>
          </a:xfrm>
          <a:prstGeom prst="rect">
            <a:avLst/>
          </a:prstGeom>
        </p:spPr>
      </p:pic>
      <p:sp>
        <p:nvSpPr>
          <p:cNvPr id="8" name="Text 4"/>
          <p:cNvSpPr txBox="1"/>
          <p:nvPr/>
        </p:nvSpPr>
        <p:spPr>
          <a:xfrm>
            <a:off x="2011680" y="2148840"/>
            <a:ext cx="5029200" cy="384048"/>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Source of funds</a:t>
            </a:r>
            <a:endParaRPr lang="en-US" sz="2100" dirty="0"/>
          </a:p>
        </p:txBody>
      </p:sp>
      <p:sp>
        <p:nvSpPr>
          <p:cNvPr id="9" name="Text 5"/>
          <p:cNvSpPr txBox="1"/>
          <p:nvPr/>
        </p:nvSpPr>
        <p:spPr>
          <a:xfrm>
            <a:off x="2011680" y="2542032"/>
            <a:ext cx="5029200" cy="292608"/>
          </a:xfrm>
          <a:prstGeom prst="rect">
            <a:avLst/>
          </a:prstGeom>
          <a:noFill/>
          <a:ln/>
        </p:spPr>
        <p:txBody>
          <a:bodyPr wrap="square" lIns="0" tIns="0" rIns="0" bIns="0" rtlCol="0" anchor="t"/>
          <a:lstStyle/>
          <a:p>
            <a:pPr indent="0" marL="0">
              <a:buNone/>
            </a:pPr>
            <a:r>
              <a:rPr lang="en-US" sz="1300" i="1" dirty="0">
                <a:solidFill>
                  <a:schemeClr val="accent1"/>
                </a:solidFill>
              </a:rPr>
              <a:t>The money for this matter</a:t>
            </a:r>
            <a:endParaRPr lang="en-US" sz="1300" dirty="0"/>
          </a:p>
        </p:txBody>
      </p:sp>
      <p:sp>
        <p:nvSpPr>
          <p:cNvPr id="10" name="Text 6"/>
          <p:cNvSpPr txBox="1"/>
          <p:nvPr/>
        </p:nvSpPr>
        <p:spPr>
          <a:xfrm>
            <a:off x="2011680" y="2880360"/>
            <a:ext cx="5029200" cy="685800"/>
          </a:xfrm>
          <a:prstGeom prst="rect">
            <a:avLst/>
          </a:prstGeom>
          <a:noFill/>
          <a:ln/>
        </p:spPr>
        <p:txBody>
          <a:bodyPr wrap="square" lIns="0" tIns="0" rIns="0" bIns="0" rtlCol="0" anchor="t"/>
          <a:lstStyle/>
          <a:p>
            <a:pPr indent="0" marL="0">
              <a:buNone/>
            </a:pPr>
            <a:r>
              <a:rPr lang="en-US" sz="1400" dirty="0">
                <a:solidFill>
                  <a:schemeClr val="tx2"/>
                </a:solidFill>
              </a:rPr>
              <a:t>For example, a bank statement showing the funds, or completion statement from a property sale.</a:t>
            </a:r>
            <a:endParaRPr lang="en-US" sz="1400" dirty="0"/>
          </a:p>
        </p:txBody>
      </p:sp>
      <p:sp>
        <p:nvSpPr>
          <p:cNvPr id="11" name="Funds card"/>
          <p:cNvSpPr/>
          <p:nvPr/>
        </p:nvSpPr>
        <p:spPr>
          <a:xfrm>
            <a:off x="685800" y="3886200"/>
            <a:ext cx="6583680" cy="1783080"/>
          </a:xfrm>
          <a:prstGeom prst="roundRect">
            <a:avLst>
              <a:gd name="adj" fmla="val 6154"/>
            </a:avLst>
          </a:prstGeom>
          <a:solidFill>
            <a:schemeClr val="bg1"/>
          </a:solidFill>
          <a:ln/>
          <a:effectLst>
            <a:outerShdw sx="100000" sy="100000" kx="0" ky="0" algn="bl" rotWithShape="0" blurRad="177800" dist="38100" dir="5400000">
              <a:srgbClr val="0B1F2A">
                <a:alpha val="10000"/>
              </a:srgbClr>
            </a:outerShdw>
          </a:effectLst>
        </p:spPr>
      </p:sp>
      <p:sp>
        <p:nvSpPr>
          <p:cNvPr id="12" name="Icon disc"/>
          <p:cNvSpPr/>
          <p:nvPr/>
        </p:nvSpPr>
        <p:spPr>
          <a:xfrm>
            <a:off x="1005840" y="4206240"/>
            <a:ext cx="731520" cy="731520"/>
          </a:xfrm>
          <a:prstGeom prst="ellipse">
            <a:avLst/>
          </a:prstGeom>
          <a:solidFill>
            <a:schemeClr val="tx2"/>
          </a:solidFill>
          <a:ln/>
        </p:spPr>
      </p:sp>
      <p:pic>
        <p:nvPicPr>
          <p:cNvPr id="13" name="Image 1" descr="Crown icon">    </p:cNvPr>
          <p:cNvPicPr>
            <a:picLocks noChangeAspect="1"/>
          </p:cNvPicPr>
          <p:nvPr/>
        </p:nvPicPr>
        <p:blipFill>
          <a:blip r:embed="rId2"/>
          <a:stretch>
            <a:fillRect/>
          </a:stretch>
        </p:blipFill>
        <p:spPr>
          <a:xfrm>
            <a:off x="1188720" y="4389120"/>
            <a:ext cx="365760" cy="365760"/>
          </a:xfrm>
          <a:prstGeom prst="rect">
            <a:avLst/>
          </a:prstGeom>
        </p:spPr>
      </p:pic>
      <p:sp>
        <p:nvSpPr>
          <p:cNvPr id="14" name="Text 9"/>
          <p:cNvSpPr txBox="1"/>
          <p:nvPr/>
        </p:nvSpPr>
        <p:spPr>
          <a:xfrm>
            <a:off x="2011680" y="4160520"/>
            <a:ext cx="5029200" cy="384048"/>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Source of wealth</a:t>
            </a:r>
            <a:endParaRPr lang="en-US" sz="2100" dirty="0"/>
          </a:p>
        </p:txBody>
      </p:sp>
      <p:sp>
        <p:nvSpPr>
          <p:cNvPr id="15" name="Text 10"/>
          <p:cNvSpPr txBox="1"/>
          <p:nvPr/>
        </p:nvSpPr>
        <p:spPr>
          <a:xfrm>
            <a:off x="2011680" y="4553712"/>
            <a:ext cx="5029200" cy="292608"/>
          </a:xfrm>
          <a:prstGeom prst="rect">
            <a:avLst/>
          </a:prstGeom>
          <a:noFill/>
          <a:ln/>
        </p:spPr>
        <p:txBody>
          <a:bodyPr wrap="square" lIns="0" tIns="0" rIns="0" bIns="0" rtlCol="0" anchor="t"/>
          <a:lstStyle/>
          <a:p>
            <a:pPr indent="0" marL="0">
              <a:buNone/>
            </a:pPr>
            <a:r>
              <a:rPr lang="en-US" sz="1300" i="1" dirty="0">
                <a:solidFill>
                  <a:schemeClr val="accent1"/>
                </a:solidFill>
              </a:rPr>
              <a:t>How your overall wealth was built</a:t>
            </a:r>
            <a:endParaRPr lang="en-US" sz="1300" dirty="0"/>
          </a:p>
        </p:txBody>
      </p:sp>
      <p:sp>
        <p:nvSpPr>
          <p:cNvPr id="16" name="Text 11"/>
          <p:cNvSpPr txBox="1"/>
          <p:nvPr/>
        </p:nvSpPr>
        <p:spPr>
          <a:xfrm>
            <a:off x="2011680" y="4892040"/>
            <a:ext cx="5029200" cy="685800"/>
          </a:xfrm>
          <a:prstGeom prst="rect">
            <a:avLst/>
          </a:prstGeom>
          <a:noFill/>
          <a:ln/>
        </p:spPr>
        <p:txBody>
          <a:bodyPr wrap="square" lIns="0" tIns="0" rIns="0" bIns="0" rtlCol="0" anchor="t"/>
          <a:lstStyle/>
          <a:p>
            <a:pPr indent="0" marL="0">
              <a:buNone/>
            </a:pPr>
            <a:r>
              <a:rPr lang="en-US" sz="1400" dirty="0">
                <a:solidFill>
                  <a:schemeClr val="tx2"/>
                </a:solidFill>
              </a:rPr>
              <a:t>For example, a summary of your career or business, a sale agreement, or probate documents for an inheritance.</a:t>
            </a:r>
            <a:endParaRPr lang="en-US" sz="1400" dirty="0"/>
          </a:p>
        </p:txBody>
      </p:sp>
      <p:sp>
        <p:nvSpPr>
          <p:cNvPr id="17" name="Tip panel"/>
          <p:cNvSpPr/>
          <p:nvPr/>
        </p:nvSpPr>
        <p:spPr>
          <a:xfrm>
            <a:off x="7635240" y="1874520"/>
            <a:ext cx="3867912" cy="3794760"/>
          </a:xfrm>
          <a:prstGeom prst="roundRect">
            <a:avLst>
              <a:gd name="adj" fmla="val 2892"/>
            </a:avLst>
          </a:prstGeom>
          <a:solidFill>
            <a:schemeClr val="tx1"/>
          </a:solidFill>
          <a:ln/>
          <a:effectLst>
            <a:outerShdw sx="100000" sy="100000" kx="0" ky="0" algn="bl" rotWithShape="0" blurRad="177800" dist="38100" dir="5400000">
              <a:srgbClr val="0B1F2A">
                <a:alpha val="10000"/>
              </a:srgbClr>
            </a:outerShdw>
          </a:effectLst>
        </p:spPr>
      </p:sp>
      <p:pic>
        <p:nvPicPr>
          <p:cNvPr id="18" name="Image 2" descr="tip">    </p:cNvPr>
          <p:cNvPicPr>
            <a:picLocks noChangeAspect="1"/>
          </p:cNvPicPr>
          <p:nvPr/>
        </p:nvPicPr>
        <p:blipFill>
          <a:blip r:embed="rId3"/>
          <a:stretch>
            <a:fillRect/>
          </a:stretch>
        </p:blipFill>
        <p:spPr>
          <a:xfrm>
            <a:off x="7955280" y="2194560"/>
            <a:ext cx="502920" cy="502920"/>
          </a:xfrm>
          <a:prstGeom prst="rect">
            <a:avLst/>
          </a:prstGeom>
        </p:spPr>
      </p:pic>
      <p:sp>
        <p:nvSpPr>
          <p:cNvPr id="19" name="Text 13"/>
          <p:cNvSpPr txBox="1"/>
          <p:nvPr/>
        </p:nvSpPr>
        <p:spPr>
          <a:xfrm>
            <a:off x="7955280" y="2880360"/>
            <a:ext cx="3291840" cy="1463040"/>
          </a:xfrm>
          <a:prstGeom prst="rect">
            <a:avLst/>
          </a:prstGeom>
          <a:noFill/>
          <a:ln/>
        </p:spPr>
        <p:txBody>
          <a:bodyPr wrap="square" lIns="0" tIns="0" rIns="0" bIns="0" rtlCol="0" anchor="t"/>
          <a:lstStyle/>
          <a:p>
            <a:pPr indent="0" marL="0">
              <a:lnSpc>
                <a:spcPct val="108000"/>
              </a:lnSpc>
              <a:buNone/>
            </a:pPr>
            <a:r>
              <a:rPr lang="en-US" sz="1900" dirty="0">
                <a:solidFill>
                  <a:schemeClr val="bg1"/>
                </a:solidFill>
                <a:latin typeface="Cambria" pitchFamily="34" charset="0"/>
                <a:ea typeface="Cambria" pitchFamily="34" charset="-122"/>
                <a:cs typeface="Cambria" pitchFamily="34" charset="-120"/>
              </a:rPr>
              <a:t>A clear explanation, shared early, is the fastest route to completion.</a:t>
            </a:r>
            <a:endParaRPr lang="en-US" sz="1900" dirty="0"/>
          </a:p>
        </p:txBody>
      </p:sp>
      <p:sp>
        <p:nvSpPr>
          <p:cNvPr id="20" name="Text 14"/>
          <p:cNvSpPr txBox="1"/>
          <p:nvPr/>
        </p:nvSpPr>
        <p:spPr>
          <a:xfrm>
            <a:off x="7955280" y="4114800"/>
            <a:ext cx="3291840" cy="1097280"/>
          </a:xfrm>
          <a:prstGeom prst="rect">
            <a:avLst/>
          </a:prstGeom>
          <a:noFill/>
          <a:ln/>
        </p:spPr>
        <p:txBody>
          <a:bodyPr wrap="square" lIns="0" tIns="0" rIns="0" bIns="0" rtlCol="0" anchor="t"/>
          <a:lstStyle/>
          <a:p>
            <a:pPr indent="0" marL="0">
              <a:buNone/>
            </a:pPr>
            <a:r>
              <a:rPr lang="en-US" sz="1300" dirty="0">
                <a:solidFill>
                  <a:schemeClr val="accent6"/>
                </a:solidFill>
              </a:rPr>
              <a:t>Banks and counterparties ask the same questions. Having your documents ready helps everyone move with confidence.</a:t>
            </a:r>
            <a:endParaRPr lang="en-US" sz="13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WHAT TO EXPECT</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Four simple steps</a:t>
            </a:r>
            <a:endParaRPr lang="en-US" sz="3400" dirty="0"/>
          </a:p>
        </p:txBody>
      </p:sp>
      <p:sp>
        <p:nvSpPr>
          <p:cNvPr id="5" name="Connector"/>
          <p:cNvSpPr/>
          <p:nvPr/>
        </p:nvSpPr>
        <p:spPr>
          <a:xfrm>
            <a:off x="2468880" y="2560320"/>
            <a:ext cx="1685239" cy="0"/>
          </a:xfrm>
          <a:prstGeom prst="line">
            <a:avLst/>
          </a:prstGeom>
          <a:noFill/>
          <a:ln w="15875">
            <a:solidFill>
              <a:srgbClr val="A9BCC4"/>
            </a:solidFill>
            <a:prstDash val="dash"/>
          </a:ln>
        </p:spPr>
      </p:sp>
      <p:sp>
        <p:nvSpPr>
          <p:cNvPr id="6" name="Icon disc"/>
          <p:cNvSpPr/>
          <p:nvPr/>
        </p:nvSpPr>
        <p:spPr>
          <a:xfrm>
            <a:off x="1463040" y="2103120"/>
            <a:ext cx="914400" cy="914400"/>
          </a:xfrm>
          <a:prstGeom prst="ellipse">
            <a:avLst/>
          </a:prstGeom>
          <a:solidFill>
            <a:schemeClr val="accent1"/>
          </a:solidFill>
          <a:ln/>
        </p:spPr>
      </p:sp>
      <p:pic>
        <p:nvPicPr>
          <p:cNvPr id="7" name="Image 0" descr="MessageSquare icon">    </p:cNvPr>
          <p:cNvPicPr>
            <a:picLocks noChangeAspect="1"/>
          </p:cNvPicPr>
          <p:nvPr/>
        </p:nvPicPr>
        <p:blipFill>
          <a:blip r:embed="rId1"/>
          <a:stretch>
            <a:fillRect/>
          </a:stretch>
        </p:blipFill>
        <p:spPr>
          <a:xfrm>
            <a:off x="1691640" y="2331720"/>
            <a:ext cx="457200" cy="457200"/>
          </a:xfrm>
          <a:prstGeom prst="rect">
            <a:avLst/>
          </a:prstGeom>
        </p:spPr>
      </p:pic>
      <p:sp>
        <p:nvSpPr>
          <p:cNvPr id="8" name="Text 4"/>
          <p:cNvSpPr txBox="1"/>
          <p:nvPr/>
        </p:nvSpPr>
        <p:spPr>
          <a:xfrm>
            <a:off x="685800" y="3246120"/>
            <a:ext cx="2468880" cy="274320"/>
          </a:xfrm>
          <a:prstGeom prst="rect">
            <a:avLst/>
          </a:prstGeom>
          <a:noFill/>
          <a:ln/>
        </p:spPr>
        <p:txBody>
          <a:bodyPr wrap="square" lIns="0" tIns="0" rIns="0" bIns="0" rtlCol="0" anchor="t"/>
          <a:lstStyle/>
          <a:p>
            <a:pPr algn="ctr" indent="0" marL="0">
              <a:buNone/>
            </a:pPr>
            <a:r>
              <a:rPr lang="en-US" sz="1100" b="1" spc="300" kern="0" dirty="0">
                <a:solidFill>
                  <a:schemeClr val="accent1"/>
                </a:solidFill>
              </a:rPr>
              <a:t>STEP 1</a:t>
            </a:r>
            <a:endParaRPr lang="en-US" sz="1100" dirty="0"/>
          </a:p>
        </p:txBody>
      </p:sp>
      <p:sp>
        <p:nvSpPr>
          <p:cNvPr id="9" name="Text 5"/>
          <p:cNvSpPr txBox="1"/>
          <p:nvPr/>
        </p:nvSpPr>
        <p:spPr>
          <a:xfrm>
            <a:off x="685800" y="3520440"/>
            <a:ext cx="2468880" cy="411480"/>
          </a:xfrm>
          <a:prstGeom prst="rect">
            <a:avLst/>
          </a:prstGeom>
          <a:noFill/>
          <a:ln/>
        </p:spPr>
        <p:txBody>
          <a:bodyPr wrap="square" lIns="0" tIns="0" rIns="0" bIns="0" rtlCol="0" anchor="t"/>
          <a:lstStyle/>
          <a:p>
            <a:pPr algn="ctr" indent="0" marL="0">
              <a:buNone/>
            </a:pPr>
            <a:r>
              <a:rPr lang="en-US" sz="2200" b="1" dirty="0">
                <a:solidFill>
                  <a:schemeClr val="tx1"/>
                </a:solidFill>
                <a:latin typeface="Cambria" pitchFamily="34" charset="0"/>
                <a:ea typeface="Cambria" pitchFamily="34" charset="-122"/>
                <a:cs typeface="Cambria" pitchFamily="34" charset="-120"/>
              </a:rPr>
              <a:t>Introduction</a:t>
            </a:r>
            <a:endParaRPr lang="en-US" sz="2200" dirty="0"/>
          </a:p>
        </p:txBody>
      </p:sp>
      <p:sp>
        <p:nvSpPr>
          <p:cNvPr id="10" name="Text 6"/>
          <p:cNvSpPr txBox="1"/>
          <p:nvPr/>
        </p:nvSpPr>
        <p:spPr>
          <a:xfrm>
            <a:off x="822960" y="4005072"/>
            <a:ext cx="2194560" cy="822960"/>
          </a:xfrm>
          <a:prstGeom prst="rect">
            <a:avLst/>
          </a:prstGeom>
          <a:noFill/>
          <a:ln/>
        </p:spPr>
        <p:txBody>
          <a:bodyPr wrap="square" lIns="0" tIns="0" rIns="0" bIns="0" rtlCol="0" anchor="t"/>
          <a:lstStyle/>
          <a:p>
            <a:pPr algn="ctr" indent="0" marL="0">
              <a:buNone/>
            </a:pPr>
            <a:r>
              <a:rPr lang="en-US" sz="1400" dirty="0">
                <a:solidFill>
                  <a:schemeClr val="tx2"/>
                </a:solidFill>
              </a:rPr>
              <a:t>We discuss your needs and send you a personal checklist</a:t>
            </a:r>
            <a:endParaRPr lang="en-US" sz="1400" dirty="0"/>
          </a:p>
        </p:txBody>
      </p:sp>
      <p:sp>
        <p:nvSpPr>
          <p:cNvPr id="11" name="Connector"/>
          <p:cNvSpPr/>
          <p:nvPr/>
        </p:nvSpPr>
        <p:spPr>
          <a:xfrm>
            <a:off x="5251399" y="2560320"/>
            <a:ext cx="1685239" cy="0"/>
          </a:xfrm>
          <a:prstGeom prst="line">
            <a:avLst/>
          </a:prstGeom>
          <a:noFill/>
          <a:ln w="15875">
            <a:solidFill>
              <a:srgbClr val="A9BCC4"/>
            </a:solidFill>
            <a:prstDash val="dash"/>
          </a:ln>
        </p:spPr>
      </p:sp>
      <p:sp>
        <p:nvSpPr>
          <p:cNvPr id="12" name="Icon disc"/>
          <p:cNvSpPr/>
          <p:nvPr/>
        </p:nvSpPr>
        <p:spPr>
          <a:xfrm>
            <a:off x="4245559" y="2103120"/>
            <a:ext cx="914400" cy="914400"/>
          </a:xfrm>
          <a:prstGeom prst="ellipse">
            <a:avLst/>
          </a:prstGeom>
          <a:solidFill>
            <a:schemeClr val="accent1"/>
          </a:solidFill>
          <a:ln/>
        </p:spPr>
      </p:sp>
      <p:pic>
        <p:nvPicPr>
          <p:cNvPr id="13" name="Image 1" descr="FolderOpen icon">    </p:cNvPr>
          <p:cNvPicPr>
            <a:picLocks noChangeAspect="1"/>
          </p:cNvPicPr>
          <p:nvPr/>
        </p:nvPicPr>
        <p:blipFill>
          <a:blip r:embed="rId2"/>
          <a:stretch>
            <a:fillRect/>
          </a:stretch>
        </p:blipFill>
        <p:spPr>
          <a:xfrm>
            <a:off x="4474159" y="2331720"/>
            <a:ext cx="457200" cy="457200"/>
          </a:xfrm>
          <a:prstGeom prst="rect">
            <a:avLst/>
          </a:prstGeom>
        </p:spPr>
      </p:pic>
      <p:sp>
        <p:nvSpPr>
          <p:cNvPr id="14" name="Text 9"/>
          <p:cNvSpPr txBox="1"/>
          <p:nvPr/>
        </p:nvSpPr>
        <p:spPr>
          <a:xfrm>
            <a:off x="3468319" y="3246120"/>
            <a:ext cx="2468880" cy="274320"/>
          </a:xfrm>
          <a:prstGeom prst="rect">
            <a:avLst/>
          </a:prstGeom>
          <a:noFill/>
          <a:ln/>
        </p:spPr>
        <p:txBody>
          <a:bodyPr wrap="square" lIns="0" tIns="0" rIns="0" bIns="0" rtlCol="0" anchor="t"/>
          <a:lstStyle/>
          <a:p>
            <a:pPr algn="ctr" indent="0" marL="0">
              <a:buNone/>
            </a:pPr>
            <a:r>
              <a:rPr lang="en-US" sz="1100" b="1" spc="300" kern="0" dirty="0">
                <a:solidFill>
                  <a:schemeClr val="accent1"/>
                </a:solidFill>
              </a:rPr>
              <a:t>STEP 2</a:t>
            </a:r>
            <a:endParaRPr lang="en-US" sz="1100" dirty="0"/>
          </a:p>
        </p:txBody>
      </p:sp>
      <p:sp>
        <p:nvSpPr>
          <p:cNvPr id="15" name="Text 10"/>
          <p:cNvSpPr txBox="1"/>
          <p:nvPr/>
        </p:nvSpPr>
        <p:spPr>
          <a:xfrm>
            <a:off x="3468319" y="3520440"/>
            <a:ext cx="2468880" cy="411480"/>
          </a:xfrm>
          <a:prstGeom prst="rect">
            <a:avLst/>
          </a:prstGeom>
          <a:noFill/>
          <a:ln/>
        </p:spPr>
        <p:txBody>
          <a:bodyPr wrap="square" lIns="0" tIns="0" rIns="0" bIns="0" rtlCol="0" anchor="t"/>
          <a:lstStyle/>
          <a:p>
            <a:pPr algn="ctr" indent="0" marL="0">
              <a:buNone/>
            </a:pPr>
            <a:r>
              <a:rPr lang="en-US" sz="2200" b="1" dirty="0">
                <a:solidFill>
                  <a:schemeClr val="tx1"/>
                </a:solidFill>
                <a:latin typeface="Cambria" pitchFamily="34" charset="0"/>
                <a:ea typeface="Cambria" pitchFamily="34" charset="-122"/>
                <a:cs typeface="Cambria" pitchFamily="34" charset="-120"/>
              </a:rPr>
              <a:t>Documents</a:t>
            </a:r>
            <a:endParaRPr lang="en-US" sz="2200" dirty="0"/>
          </a:p>
        </p:txBody>
      </p:sp>
      <p:sp>
        <p:nvSpPr>
          <p:cNvPr id="16" name="Text 11"/>
          <p:cNvSpPr txBox="1"/>
          <p:nvPr/>
        </p:nvSpPr>
        <p:spPr>
          <a:xfrm>
            <a:off x="3605479" y="4005072"/>
            <a:ext cx="2194560" cy="822960"/>
          </a:xfrm>
          <a:prstGeom prst="rect">
            <a:avLst/>
          </a:prstGeom>
          <a:noFill/>
          <a:ln/>
        </p:spPr>
        <p:txBody>
          <a:bodyPr wrap="square" lIns="0" tIns="0" rIns="0" bIns="0" rtlCol="0" anchor="t"/>
          <a:lstStyle/>
          <a:p>
            <a:pPr algn="ctr" indent="0" marL="0">
              <a:buNone/>
            </a:pPr>
            <a:r>
              <a:rPr lang="en-US" sz="1400" dirty="0">
                <a:solidFill>
                  <a:schemeClr val="tx2"/>
                </a:solidFill>
              </a:rPr>
              <a:t>You send your documents securely, certified where needed</a:t>
            </a:r>
            <a:endParaRPr lang="en-US" sz="1400" dirty="0"/>
          </a:p>
        </p:txBody>
      </p:sp>
      <p:sp>
        <p:nvSpPr>
          <p:cNvPr id="17" name="Connector"/>
          <p:cNvSpPr/>
          <p:nvPr/>
        </p:nvSpPr>
        <p:spPr>
          <a:xfrm>
            <a:off x="8033918" y="2560320"/>
            <a:ext cx="1685239" cy="0"/>
          </a:xfrm>
          <a:prstGeom prst="line">
            <a:avLst/>
          </a:prstGeom>
          <a:noFill/>
          <a:ln w="15875">
            <a:solidFill>
              <a:srgbClr val="A9BCC4"/>
            </a:solidFill>
            <a:prstDash val="dash"/>
          </a:ln>
        </p:spPr>
      </p:sp>
      <p:sp>
        <p:nvSpPr>
          <p:cNvPr id="18" name="Icon disc"/>
          <p:cNvSpPr/>
          <p:nvPr/>
        </p:nvSpPr>
        <p:spPr>
          <a:xfrm>
            <a:off x="7028078" y="2103120"/>
            <a:ext cx="914400" cy="914400"/>
          </a:xfrm>
          <a:prstGeom prst="ellipse">
            <a:avLst/>
          </a:prstGeom>
          <a:solidFill>
            <a:schemeClr val="accent1"/>
          </a:solidFill>
          <a:ln/>
        </p:spPr>
      </p:sp>
      <p:pic>
        <p:nvPicPr>
          <p:cNvPr id="19" name="Image 2" descr="FileSearch icon">    </p:cNvPr>
          <p:cNvPicPr>
            <a:picLocks noChangeAspect="1"/>
          </p:cNvPicPr>
          <p:nvPr/>
        </p:nvPicPr>
        <p:blipFill>
          <a:blip r:embed="rId3"/>
          <a:stretch>
            <a:fillRect/>
          </a:stretch>
        </p:blipFill>
        <p:spPr>
          <a:xfrm>
            <a:off x="7256678" y="2331720"/>
            <a:ext cx="457200" cy="457200"/>
          </a:xfrm>
          <a:prstGeom prst="rect">
            <a:avLst/>
          </a:prstGeom>
        </p:spPr>
      </p:pic>
      <p:sp>
        <p:nvSpPr>
          <p:cNvPr id="20" name="Text 14"/>
          <p:cNvSpPr txBox="1"/>
          <p:nvPr/>
        </p:nvSpPr>
        <p:spPr>
          <a:xfrm>
            <a:off x="6250838" y="3246120"/>
            <a:ext cx="2468880" cy="274320"/>
          </a:xfrm>
          <a:prstGeom prst="rect">
            <a:avLst/>
          </a:prstGeom>
          <a:noFill/>
          <a:ln/>
        </p:spPr>
        <p:txBody>
          <a:bodyPr wrap="square" lIns="0" tIns="0" rIns="0" bIns="0" rtlCol="0" anchor="t"/>
          <a:lstStyle/>
          <a:p>
            <a:pPr algn="ctr" indent="0" marL="0">
              <a:buNone/>
            </a:pPr>
            <a:r>
              <a:rPr lang="en-US" sz="1100" b="1" spc="300" kern="0" dirty="0">
                <a:solidFill>
                  <a:schemeClr val="accent1"/>
                </a:solidFill>
              </a:rPr>
              <a:t>STEP 3</a:t>
            </a:r>
            <a:endParaRPr lang="en-US" sz="1100" dirty="0"/>
          </a:p>
        </p:txBody>
      </p:sp>
      <p:sp>
        <p:nvSpPr>
          <p:cNvPr id="21" name="Text 15"/>
          <p:cNvSpPr txBox="1"/>
          <p:nvPr/>
        </p:nvSpPr>
        <p:spPr>
          <a:xfrm>
            <a:off x="6250838" y="3520440"/>
            <a:ext cx="2468880" cy="411480"/>
          </a:xfrm>
          <a:prstGeom prst="rect">
            <a:avLst/>
          </a:prstGeom>
          <a:noFill/>
          <a:ln/>
        </p:spPr>
        <p:txBody>
          <a:bodyPr wrap="square" lIns="0" tIns="0" rIns="0" bIns="0" rtlCol="0" anchor="t"/>
          <a:lstStyle/>
          <a:p>
            <a:pPr algn="ctr" indent="0" marL="0">
              <a:buNone/>
            </a:pPr>
            <a:r>
              <a:rPr lang="en-US" sz="2200" b="1" dirty="0">
                <a:solidFill>
                  <a:schemeClr val="tx1"/>
                </a:solidFill>
                <a:latin typeface="Cambria" pitchFamily="34" charset="0"/>
                <a:ea typeface="Cambria" pitchFamily="34" charset="-122"/>
                <a:cs typeface="Cambria" pitchFamily="34" charset="-120"/>
              </a:rPr>
              <a:t>Review</a:t>
            </a:r>
            <a:endParaRPr lang="en-US" sz="2200" dirty="0"/>
          </a:p>
        </p:txBody>
      </p:sp>
      <p:sp>
        <p:nvSpPr>
          <p:cNvPr id="22" name="Text 16"/>
          <p:cNvSpPr txBox="1"/>
          <p:nvPr/>
        </p:nvSpPr>
        <p:spPr>
          <a:xfrm>
            <a:off x="6387998" y="4005072"/>
            <a:ext cx="2194560" cy="822960"/>
          </a:xfrm>
          <a:prstGeom prst="rect">
            <a:avLst/>
          </a:prstGeom>
          <a:noFill/>
          <a:ln/>
        </p:spPr>
        <p:txBody>
          <a:bodyPr wrap="square" lIns="0" tIns="0" rIns="0" bIns="0" rtlCol="0" anchor="t"/>
          <a:lstStyle/>
          <a:p>
            <a:pPr algn="ctr" indent="0" marL="0">
              <a:buNone/>
            </a:pPr>
            <a:r>
              <a:rPr lang="en-US" sz="1400" dirty="0">
                <a:solidFill>
                  <a:schemeClr val="tx2"/>
                </a:solidFill>
              </a:rPr>
              <a:t>We review them and may ask a few follow-up questions</a:t>
            </a:r>
            <a:endParaRPr lang="en-US" sz="1400" dirty="0"/>
          </a:p>
        </p:txBody>
      </p:sp>
      <p:sp>
        <p:nvSpPr>
          <p:cNvPr id="23" name="Icon disc"/>
          <p:cNvSpPr/>
          <p:nvPr/>
        </p:nvSpPr>
        <p:spPr>
          <a:xfrm>
            <a:off x="9810598" y="2103120"/>
            <a:ext cx="914400" cy="914400"/>
          </a:xfrm>
          <a:prstGeom prst="ellipse">
            <a:avLst/>
          </a:prstGeom>
          <a:solidFill>
            <a:schemeClr val="accent1"/>
          </a:solidFill>
          <a:ln/>
        </p:spPr>
      </p:sp>
      <p:pic>
        <p:nvPicPr>
          <p:cNvPr id="24" name="Image 3" descr="Handshake icon">    </p:cNvPr>
          <p:cNvPicPr>
            <a:picLocks noChangeAspect="1"/>
          </p:cNvPicPr>
          <p:nvPr/>
        </p:nvPicPr>
        <p:blipFill>
          <a:blip r:embed="rId4"/>
          <a:stretch>
            <a:fillRect/>
          </a:stretch>
        </p:blipFill>
        <p:spPr>
          <a:xfrm>
            <a:off x="10039198" y="2331720"/>
            <a:ext cx="457200" cy="457200"/>
          </a:xfrm>
          <a:prstGeom prst="rect">
            <a:avLst/>
          </a:prstGeom>
        </p:spPr>
      </p:pic>
      <p:sp>
        <p:nvSpPr>
          <p:cNvPr id="25" name="Text 18"/>
          <p:cNvSpPr txBox="1"/>
          <p:nvPr/>
        </p:nvSpPr>
        <p:spPr>
          <a:xfrm>
            <a:off x="9033358" y="3246120"/>
            <a:ext cx="2468880" cy="274320"/>
          </a:xfrm>
          <a:prstGeom prst="rect">
            <a:avLst/>
          </a:prstGeom>
          <a:noFill/>
          <a:ln/>
        </p:spPr>
        <p:txBody>
          <a:bodyPr wrap="square" lIns="0" tIns="0" rIns="0" bIns="0" rtlCol="0" anchor="t"/>
          <a:lstStyle/>
          <a:p>
            <a:pPr algn="ctr" indent="0" marL="0">
              <a:buNone/>
            </a:pPr>
            <a:r>
              <a:rPr lang="en-US" sz="1100" b="1" spc="300" kern="0" dirty="0">
                <a:solidFill>
                  <a:schemeClr val="accent1"/>
                </a:solidFill>
              </a:rPr>
              <a:t>STEP 4</a:t>
            </a:r>
            <a:endParaRPr lang="en-US" sz="1100" dirty="0"/>
          </a:p>
        </p:txBody>
      </p:sp>
      <p:sp>
        <p:nvSpPr>
          <p:cNvPr id="26" name="Text 19"/>
          <p:cNvSpPr txBox="1"/>
          <p:nvPr/>
        </p:nvSpPr>
        <p:spPr>
          <a:xfrm>
            <a:off x="9033358" y="3520440"/>
            <a:ext cx="2468880" cy="411480"/>
          </a:xfrm>
          <a:prstGeom prst="rect">
            <a:avLst/>
          </a:prstGeom>
          <a:noFill/>
          <a:ln/>
        </p:spPr>
        <p:txBody>
          <a:bodyPr wrap="square" lIns="0" tIns="0" rIns="0" bIns="0" rtlCol="0" anchor="t"/>
          <a:lstStyle/>
          <a:p>
            <a:pPr algn="ctr" indent="0" marL="0">
              <a:buNone/>
            </a:pPr>
            <a:r>
              <a:rPr lang="en-US" sz="2200" b="1" dirty="0">
                <a:solidFill>
                  <a:schemeClr val="tx1"/>
                </a:solidFill>
                <a:latin typeface="Cambria" pitchFamily="34" charset="0"/>
                <a:ea typeface="Cambria" pitchFamily="34" charset="-122"/>
                <a:cs typeface="Cambria" pitchFamily="34" charset="-120"/>
              </a:rPr>
              <a:t>Engagement</a:t>
            </a:r>
            <a:endParaRPr lang="en-US" sz="2200" dirty="0"/>
          </a:p>
        </p:txBody>
      </p:sp>
      <p:sp>
        <p:nvSpPr>
          <p:cNvPr id="27" name="Text 20"/>
          <p:cNvSpPr txBox="1"/>
          <p:nvPr/>
        </p:nvSpPr>
        <p:spPr>
          <a:xfrm>
            <a:off x="9170518" y="4005072"/>
            <a:ext cx="2194560" cy="822960"/>
          </a:xfrm>
          <a:prstGeom prst="rect">
            <a:avLst/>
          </a:prstGeom>
          <a:noFill/>
          <a:ln/>
        </p:spPr>
        <p:txBody>
          <a:bodyPr wrap="square" lIns="0" tIns="0" rIns="0" bIns="0" rtlCol="0" anchor="t"/>
          <a:lstStyle/>
          <a:p>
            <a:pPr algn="ctr" indent="0" marL="0">
              <a:buNone/>
            </a:pPr>
            <a:r>
              <a:rPr lang="en-US" sz="1400" dirty="0">
                <a:solidFill>
                  <a:schemeClr val="tx2"/>
                </a:solidFill>
              </a:rPr>
              <a:t>We confirm our engagement and begin work</a:t>
            </a:r>
            <a:endParaRPr lang="en-US" sz="1400" dirty="0"/>
          </a:p>
        </p:txBody>
      </p:sp>
      <p:sp>
        <p:nvSpPr>
          <p:cNvPr id="28" name="Ongoing note"/>
          <p:cNvSpPr/>
          <p:nvPr/>
        </p:nvSpPr>
        <p:spPr>
          <a:xfrm>
            <a:off x="685800" y="5212080"/>
            <a:ext cx="10817352" cy="685800"/>
          </a:xfrm>
          <a:prstGeom prst="roundRect">
            <a:avLst>
              <a:gd name="adj" fmla="val 16000"/>
            </a:avLst>
          </a:prstGeom>
          <a:solidFill>
            <a:schemeClr val="bg2"/>
          </a:solidFill>
          <a:ln/>
        </p:spPr>
      </p:sp>
      <p:pic>
        <p:nvPicPr>
          <p:cNvPr id="29" name="Image 4" descr="clock">    </p:cNvPr>
          <p:cNvPicPr>
            <a:picLocks noChangeAspect="1"/>
          </p:cNvPicPr>
          <p:nvPr/>
        </p:nvPicPr>
        <p:blipFill>
          <a:blip r:embed="rId5"/>
          <a:stretch>
            <a:fillRect/>
          </a:stretch>
        </p:blipFill>
        <p:spPr>
          <a:xfrm>
            <a:off x="960120" y="5376672"/>
            <a:ext cx="347472" cy="347472"/>
          </a:xfrm>
          <a:prstGeom prst="rect">
            <a:avLst/>
          </a:prstGeom>
        </p:spPr>
      </p:pic>
      <p:sp>
        <p:nvSpPr>
          <p:cNvPr id="30" name="Text 22"/>
          <p:cNvSpPr txBox="1"/>
          <p:nvPr/>
        </p:nvSpPr>
        <p:spPr>
          <a:xfrm>
            <a:off x="1508760" y="5212080"/>
            <a:ext cx="9784080" cy="685800"/>
          </a:xfrm>
          <a:prstGeom prst="rect">
            <a:avLst/>
          </a:prstGeom>
          <a:noFill/>
          <a:ln/>
        </p:spPr>
        <p:txBody>
          <a:bodyPr wrap="square" lIns="0" tIns="0" rIns="0" bIns="0" rtlCol="0" anchor="ctr"/>
          <a:lstStyle/>
          <a:p>
            <a:pPr indent="0" marL="0">
              <a:buNone/>
            </a:pPr>
            <a:r>
              <a:rPr lang="en-US" sz="1400" dirty="0">
                <a:solidFill>
                  <a:schemeClr val="tx1"/>
                </a:solidFill>
              </a:rPr>
              <a:t>Over time, we may ask you to refresh your documents. This is a routine legal requirement for all clients.</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CERTIFIED COPIES</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Getting your documents certified</a:t>
            </a:r>
            <a:endParaRPr lang="en-US" sz="3400" dirty="0"/>
          </a:p>
        </p:txBody>
      </p:sp>
      <p:sp>
        <p:nvSpPr>
          <p:cNvPr id="5" name="Text 2"/>
          <p:cNvSpPr txBox="1"/>
          <p:nvPr/>
        </p:nvSpPr>
        <p:spPr>
          <a:xfrm>
            <a:off x="685800" y="1874520"/>
            <a:ext cx="4572000" cy="1371600"/>
          </a:xfrm>
          <a:prstGeom prst="rect">
            <a:avLst/>
          </a:prstGeom>
          <a:noFill/>
          <a:ln/>
        </p:spPr>
        <p:txBody>
          <a:bodyPr wrap="square" lIns="0" tIns="0" rIns="0" bIns="0" rtlCol="0" anchor="t"/>
          <a:lstStyle/>
          <a:p>
            <a:pPr indent="0" marL="0">
              <a:lnSpc>
                <a:spcPct val="110000"/>
              </a:lnSpc>
              <a:buNone/>
            </a:pPr>
            <a:r>
              <a:rPr lang="en-US" sz="1800" dirty="0">
                <a:solidFill>
                  <a:schemeClr val="tx1"/>
                </a:solidFill>
                <a:latin typeface="Cambria" pitchFamily="34" charset="0"/>
                <a:ea typeface="Cambria" pitchFamily="34" charset="-122"/>
                <a:cs typeface="Cambria" pitchFamily="34" charset="-120"/>
              </a:rPr>
              <a:t>If you can't meet us in person, a suitable professional can certify copies of your documents as true copies of the original.</a:t>
            </a:r>
            <a:endParaRPr lang="en-US" sz="1800" dirty="0"/>
          </a:p>
        </p:txBody>
      </p:sp>
      <p:sp>
        <p:nvSpPr>
          <p:cNvPr id="6" name="Text 3"/>
          <p:cNvSpPr txBox="1"/>
          <p:nvPr/>
        </p:nvSpPr>
        <p:spPr>
          <a:xfrm>
            <a:off x="685800" y="3429000"/>
            <a:ext cx="3657600" cy="274320"/>
          </a:xfrm>
          <a:prstGeom prst="rect">
            <a:avLst/>
          </a:prstGeom>
          <a:noFill/>
          <a:ln/>
        </p:spPr>
        <p:txBody>
          <a:bodyPr wrap="square" lIns="0" tIns="0" rIns="0" bIns="0" rtlCol="0" anchor="t"/>
          <a:lstStyle/>
          <a:p>
            <a:pPr indent="0" marL="0">
              <a:buNone/>
            </a:pPr>
            <a:r>
              <a:rPr lang="en-US" sz="1000" b="1" spc="300" kern="0" dirty="0">
                <a:solidFill>
                  <a:schemeClr val="accent1"/>
                </a:solidFill>
              </a:rPr>
              <a:t>WHO CAN CERTIFY</a:t>
            </a:r>
            <a:endParaRPr lang="en-US" sz="1000" dirty="0"/>
          </a:p>
        </p:txBody>
      </p:sp>
      <p:sp>
        <p:nvSpPr>
          <p:cNvPr id="7" name="Text 4"/>
          <p:cNvSpPr txBox="1"/>
          <p:nvPr/>
        </p:nvSpPr>
        <p:spPr>
          <a:xfrm>
            <a:off x="685800" y="3749040"/>
            <a:ext cx="4572000" cy="19202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2"/>
                </a:solidFill>
              </a:rPr>
              <a:t>A lawyer or notary public</a:t>
            </a:r>
            <a:endParaRPr lang="en-US" sz="1500" dirty="0"/>
          </a:p>
          <a:p>
            <a:pPr marL="203200" indent="-203200">
              <a:spcAft>
                <a:spcPts val="800"/>
              </a:spcAft>
              <a:buSzPct val="100000"/>
              <a:buChar char="•"/>
            </a:pPr>
            <a:r>
              <a:rPr lang="en-US" sz="1500" dirty="0">
                <a:solidFill>
                  <a:schemeClr val="tx2"/>
                </a:solidFill>
              </a:rPr>
              <a:t>A chartered or certified accountant</a:t>
            </a:r>
            <a:endParaRPr lang="en-US" sz="1500" dirty="0"/>
          </a:p>
          <a:p>
            <a:pPr marL="203200" indent="-203200">
              <a:spcAft>
                <a:spcPts val="800"/>
              </a:spcAft>
              <a:buSzPct val="100000"/>
              <a:buChar char="•"/>
            </a:pPr>
            <a:r>
              <a:rPr lang="en-US" sz="1500" dirty="0">
                <a:solidFill>
                  <a:schemeClr val="tx2"/>
                </a:solidFill>
              </a:rPr>
              <a:t>An officer of a regulated bank</a:t>
            </a:r>
            <a:endParaRPr lang="en-US" sz="1500" dirty="0"/>
          </a:p>
          <a:p>
            <a:pPr marL="203200" indent="-203200">
              <a:spcAft>
                <a:spcPts val="800"/>
              </a:spcAft>
              <a:buSzPct val="100000"/>
              <a:buChar char="•"/>
            </a:pPr>
            <a:r>
              <a:rPr lang="en-US" sz="1500" dirty="0">
                <a:solidFill>
                  <a:schemeClr val="tx2"/>
                </a:solidFill>
              </a:rPr>
              <a:t>[Other certifiers accepted by the firm]</a:t>
            </a:r>
            <a:endParaRPr lang="en-US" sz="1500" dirty="0"/>
          </a:p>
        </p:txBody>
      </p:sp>
      <p:sp>
        <p:nvSpPr>
          <p:cNvPr id="8" name="Certification card"/>
          <p:cNvSpPr/>
          <p:nvPr/>
        </p:nvSpPr>
        <p:spPr>
          <a:xfrm>
            <a:off x="6035040" y="1874520"/>
            <a:ext cx="5468112" cy="3977640"/>
          </a:xfrm>
          <a:prstGeom prst="roundRect">
            <a:avLst>
              <a:gd name="adj" fmla="val 2759"/>
            </a:avLst>
          </a:prstGeom>
          <a:solidFill>
            <a:schemeClr val="bg1"/>
          </a:solidFill>
          <a:ln/>
          <a:effectLst>
            <a:outerShdw sx="100000" sy="100000" kx="0" ky="0" algn="bl" rotWithShape="0" blurRad="177800" dist="38100" dir="5400000">
              <a:srgbClr val="0B1F2A">
                <a:alpha val="10000"/>
              </a:srgbClr>
            </a:outerShdw>
          </a:effectLst>
        </p:spPr>
      </p:sp>
      <p:sp>
        <p:nvSpPr>
          <p:cNvPr id="9" name="Text 6"/>
          <p:cNvSpPr txBox="1"/>
          <p:nvPr/>
        </p:nvSpPr>
        <p:spPr>
          <a:xfrm>
            <a:off x="6355080" y="2148840"/>
            <a:ext cx="4572000" cy="274320"/>
          </a:xfrm>
          <a:prstGeom prst="rect">
            <a:avLst/>
          </a:prstGeom>
          <a:noFill/>
          <a:ln/>
        </p:spPr>
        <p:txBody>
          <a:bodyPr wrap="square" lIns="0" tIns="0" rIns="0" bIns="0" rtlCol="0" anchor="t"/>
          <a:lstStyle/>
          <a:p>
            <a:pPr indent="0" marL="0">
              <a:buNone/>
            </a:pPr>
            <a:r>
              <a:rPr lang="en-US" sz="1000" b="1" spc="300" kern="0" dirty="0">
                <a:solidFill>
                  <a:schemeClr val="accent4"/>
                </a:solidFill>
              </a:rPr>
              <a:t>THE CERTIFICATION SHOULD INCLUDE</a:t>
            </a:r>
            <a:endParaRPr lang="en-US" sz="1000" dirty="0"/>
          </a:p>
        </p:txBody>
      </p:sp>
      <p:pic>
        <p:nvPicPr>
          <p:cNvPr id="10" name="Image 0" descr="signature">    </p:cNvPr>
          <p:cNvPicPr>
            <a:picLocks noChangeAspect="1"/>
          </p:cNvPicPr>
          <p:nvPr/>
        </p:nvPicPr>
        <p:blipFill>
          <a:blip r:embed="rId1"/>
          <a:stretch>
            <a:fillRect/>
          </a:stretch>
        </p:blipFill>
        <p:spPr>
          <a:xfrm>
            <a:off x="6355080" y="2624328"/>
            <a:ext cx="365760" cy="365760"/>
          </a:xfrm>
          <a:prstGeom prst="rect">
            <a:avLst/>
          </a:prstGeom>
        </p:spPr>
      </p:pic>
      <p:sp>
        <p:nvSpPr>
          <p:cNvPr id="11" name="Text 7"/>
          <p:cNvSpPr txBox="1"/>
          <p:nvPr/>
        </p:nvSpPr>
        <p:spPr>
          <a:xfrm>
            <a:off x="6903720" y="2606040"/>
            <a:ext cx="4389120" cy="594360"/>
          </a:xfrm>
          <a:prstGeom prst="rect">
            <a:avLst/>
          </a:prstGeom>
          <a:noFill/>
          <a:ln/>
        </p:spPr>
        <p:txBody>
          <a:bodyPr wrap="square" lIns="0" tIns="0" rIns="0" bIns="0" rtlCol="0" anchor="t"/>
          <a:lstStyle/>
          <a:p>
            <a:pPr indent="0" marL="0">
              <a:buNone/>
            </a:pPr>
            <a:r>
              <a:rPr lang="en-US" sz="1500" dirty="0">
                <a:solidFill>
                  <a:schemeClr val="tx1"/>
                </a:solidFill>
              </a:rPr>
              <a:t>The words "certified true copy of the original"</a:t>
            </a:r>
            <a:endParaRPr lang="en-US" sz="1500" dirty="0"/>
          </a:p>
        </p:txBody>
      </p:sp>
      <p:pic>
        <p:nvPicPr>
          <p:cNvPr id="12" name="Image 1" descr="signature">    </p:cNvPr>
          <p:cNvPicPr>
            <a:picLocks noChangeAspect="1"/>
          </p:cNvPicPr>
          <p:nvPr/>
        </p:nvPicPr>
        <p:blipFill>
          <a:blip r:embed="rId2"/>
          <a:stretch>
            <a:fillRect/>
          </a:stretch>
        </p:blipFill>
        <p:spPr>
          <a:xfrm>
            <a:off x="6355080" y="3401568"/>
            <a:ext cx="365760" cy="365760"/>
          </a:xfrm>
          <a:prstGeom prst="rect">
            <a:avLst/>
          </a:prstGeom>
        </p:spPr>
      </p:pic>
      <p:sp>
        <p:nvSpPr>
          <p:cNvPr id="13" name="Text 8"/>
          <p:cNvSpPr txBox="1"/>
          <p:nvPr/>
        </p:nvSpPr>
        <p:spPr>
          <a:xfrm>
            <a:off x="6903720" y="3383280"/>
            <a:ext cx="4389120" cy="594360"/>
          </a:xfrm>
          <a:prstGeom prst="rect">
            <a:avLst/>
          </a:prstGeom>
          <a:noFill/>
          <a:ln/>
        </p:spPr>
        <p:txBody>
          <a:bodyPr wrap="square" lIns="0" tIns="0" rIns="0" bIns="0" rtlCol="0" anchor="t"/>
          <a:lstStyle/>
          <a:p>
            <a:pPr indent="0" marL="0">
              <a:buNone/>
            </a:pPr>
            <a:r>
              <a:rPr lang="en-US" sz="1500" dirty="0">
                <a:solidFill>
                  <a:schemeClr val="tx1"/>
                </a:solidFill>
              </a:rPr>
              <a:t>For photo ID: "the photograph is a true likeness"</a:t>
            </a:r>
            <a:endParaRPr lang="en-US" sz="1500" dirty="0"/>
          </a:p>
        </p:txBody>
      </p:sp>
      <p:pic>
        <p:nvPicPr>
          <p:cNvPr id="14" name="Image 2" descr="signature">    </p:cNvPr>
          <p:cNvPicPr>
            <a:picLocks noChangeAspect="1"/>
          </p:cNvPicPr>
          <p:nvPr/>
        </p:nvPicPr>
        <p:blipFill>
          <a:blip r:embed="rId3"/>
          <a:stretch>
            <a:fillRect/>
          </a:stretch>
        </p:blipFill>
        <p:spPr>
          <a:xfrm>
            <a:off x="6355080" y="4178808"/>
            <a:ext cx="365760" cy="365760"/>
          </a:xfrm>
          <a:prstGeom prst="rect">
            <a:avLst/>
          </a:prstGeom>
        </p:spPr>
      </p:pic>
      <p:sp>
        <p:nvSpPr>
          <p:cNvPr id="15" name="Text 9"/>
          <p:cNvSpPr txBox="1"/>
          <p:nvPr/>
        </p:nvSpPr>
        <p:spPr>
          <a:xfrm>
            <a:off x="6903720" y="4160520"/>
            <a:ext cx="4389120" cy="594360"/>
          </a:xfrm>
          <a:prstGeom prst="rect">
            <a:avLst/>
          </a:prstGeom>
          <a:noFill/>
          <a:ln/>
        </p:spPr>
        <p:txBody>
          <a:bodyPr wrap="square" lIns="0" tIns="0" rIns="0" bIns="0" rtlCol="0" anchor="t"/>
          <a:lstStyle/>
          <a:p>
            <a:pPr indent="0" marL="0">
              <a:buNone/>
            </a:pPr>
            <a:r>
              <a:rPr lang="en-US" sz="1500" dirty="0">
                <a:solidFill>
                  <a:schemeClr val="tx1"/>
                </a:solidFill>
              </a:rPr>
              <a:t>The certifier's name, profession and contact details</a:t>
            </a:r>
            <a:endParaRPr lang="en-US" sz="1500" dirty="0"/>
          </a:p>
        </p:txBody>
      </p:sp>
      <p:pic>
        <p:nvPicPr>
          <p:cNvPr id="16" name="Image 3" descr="signature">    </p:cNvPr>
          <p:cNvPicPr>
            <a:picLocks noChangeAspect="1"/>
          </p:cNvPicPr>
          <p:nvPr/>
        </p:nvPicPr>
        <p:blipFill>
          <a:blip r:embed="rId4"/>
          <a:stretch>
            <a:fillRect/>
          </a:stretch>
        </p:blipFill>
        <p:spPr>
          <a:xfrm>
            <a:off x="6355080" y="4956048"/>
            <a:ext cx="365760" cy="365760"/>
          </a:xfrm>
          <a:prstGeom prst="rect">
            <a:avLst/>
          </a:prstGeom>
        </p:spPr>
      </p:pic>
      <p:sp>
        <p:nvSpPr>
          <p:cNvPr id="17" name="Text 10"/>
          <p:cNvSpPr txBox="1"/>
          <p:nvPr/>
        </p:nvSpPr>
        <p:spPr>
          <a:xfrm>
            <a:off x="6903720" y="4937760"/>
            <a:ext cx="4389120" cy="594360"/>
          </a:xfrm>
          <a:prstGeom prst="rect">
            <a:avLst/>
          </a:prstGeom>
          <a:noFill/>
          <a:ln/>
        </p:spPr>
        <p:txBody>
          <a:bodyPr wrap="square" lIns="0" tIns="0" rIns="0" bIns="0" rtlCol="0" anchor="t"/>
          <a:lstStyle/>
          <a:p>
            <a:pPr indent="0" marL="0">
              <a:buNone/>
            </a:pPr>
            <a:r>
              <a:rPr lang="en-US" sz="1500" dirty="0">
                <a:solidFill>
                  <a:schemeClr val="tx1"/>
                </a:solidFill>
              </a:rPr>
              <a:t>Their signature and the date</a:t>
            </a:r>
            <a:endParaRPr lang="en-US" sz="15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685800" y="411480"/>
            <a:ext cx="9144000" cy="274320"/>
          </a:xfrm>
          <a:prstGeom prst="rect">
            <a:avLst/>
          </a:prstGeom>
          <a:noFill/>
          <a:ln/>
        </p:spPr>
        <p:txBody>
          <a:bodyPr wrap="square" lIns="0" tIns="0" rIns="0" bIns="0" rtlCol="0"/>
          <a:lstStyle/>
          <a:p>
            <a:pPr algn="l" indent="0" marL="0">
              <a:buNone/>
            </a:pPr>
            <a:r>
              <a:rPr lang="en-US" sz="1100" b="1" spc="400" kern="0" dirty="0">
                <a:solidFill>
                  <a:schemeClr val="accent1"/>
                </a:solidFill>
              </a:rPr>
              <a:t>YOUR PRIVACY</a:t>
            </a:r>
            <a:endParaRPr lang="en-US" sz="1100" dirty="0"/>
          </a:p>
        </p:txBody>
      </p:sp>
      <p:sp>
        <p:nvSpPr>
          <p:cNvPr id="3" name="Text 2"/>
          <p:cNvSpPr/>
          <p:nvPr>
            <p:ph idx="103" type="title" hasCustomPrompt="1"/>
          </p:nvPr>
        </p:nvSpPr>
        <p:spPr>
          <a:xfrm>
            <a:off x="685800" y="713232"/>
            <a:ext cx="10789920" cy="822960"/>
          </a:xfrm>
          <a:prstGeom prst="rect">
            <a:avLst/>
          </a:prstGeom>
          <a:noFill/>
          <a:ln/>
        </p:spPr>
        <p:txBody>
          <a:bodyPr wrap="square" lIns="0" tIns="0" rIns="0" bIns="0" rtlCol="0" anchor="t"/>
          <a:lstStyle/>
          <a:p>
            <a:pPr algn="l" indent="0" marL="0">
              <a:buNone/>
            </a:pPr>
            <a:r>
              <a:rPr lang="en-US" sz="3400" dirty="0">
                <a:solidFill>
                  <a:schemeClr val="tx1"/>
                </a:solidFill>
                <a:latin typeface="Cambria" pitchFamily="34" charset="0"/>
                <a:ea typeface="Cambria" pitchFamily="34" charset="-122"/>
                <a:cs typeface="Cambria" pitchFamily="34" charset="-120"/>
              </a:rPr>
              <a:t>Your information is safe with us</a:t>
            </a:r>
            <a:endParaRPr lang="en-US" sz="3400" dirty="0"/>
          </a:p>
        </p:txBody>
      </p:sp>
      <p:sp>
        <p:nvSpPr>
          <p:cNvPr id="5" name="Privacy card"/>
          <p:cNvSpPr/>
          <p:nvPr/>
        </p:nvSpPr>
        <p:spPr>
          <a:xfrm>
            <a:off x="685800" y="1965960"/>
            <a:ext cx="3401568" cy="2834640"/>
          </a:xfrm>
          <a:prstGeom prst="roundRect">
            <a:avLst>
              <a:gd name="adj" fmla="val 3871"/>
            </a:avLst>
          </a:prstGeom>
          <a:solidFill>
            <a:schemeClr val="bg1"/>
          </a:solidFill>
          <a:ln/>
          <a:effectLst>
            <a:outerShdw sx="100000" sy="100000" kx="0" ky="0" algn="bl" rotWithShape="0" blurRad="177800" dist="38100" dir="5400000">
              <a:srgbClr val="0B1F2A">
                <a:alpha val="10000"/>
              </a:srgbClr>
            </a:outerShdw>
          </a:effectLst>
        </p:spPr>
      </p:sp>
      <p:sp>
        <p:nvSpPr>
          <p:cNvPr id="6" name="Icon disc"/>
          <p:cNvSpPr/>
          <p:nvPr/>
        </p:nvSpPr>
        <p:spPr>
          <a:xfrm>
            <a:off x="1051560" y="2331720"/>
            <a:ext cx="731520" cy="731520"/>
          </a:xfrm>
          <a:prstGeom prst="ellipse">
            <a:avLst/>
          </a:prstGeom>
          <a:solidFill>
            <a:schemeClr val="accent1"/>
          </a:solidFill>
          <a:ln/>
        </p:spPr>
      </p:sp>
      <p:pic>
        <p:nvPicPr>
          <p:cNvPr id="7" name="Image 0" descr="Lock icon">    </p:cNvPr>
          <p:cNvPicPr>
            <a:picLocks noChangeAspect="1"/>
          </p:cNvPicPr>
          <p:nvPr/>
        </p:nvPicPr>
        <p:blipFill>
          <a:blip r:embed="rId1"/>
          <a:stretch>
            <a:fillRect/>
          </a:stretch>
        </p:blipFill>
        <p:spPr>
          <a:xfrm>
            <a:off x="1234440" y="2514600"/>
            <a:ext cx="365760" cy="365760"/>
          </a:xfrm>
          <a:prstGeom prst="rect">
            <a:avLst/>
          </a:prstGeom>
        </p:spPr>
      </p:pic>
      <p:sp>
        <p:nvSpPr>
          <p:cNvPr id="8" name="Text 4"/>
          <p:cNvSpPr txBox="1"/>
          <p:nvPr/>
        </p:nvSpPr>
        <p:spPr>
          <a:xfrm>
            <a:off x="1051560" y="3291840"/>
            <a:ext cx="2670048"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Held securely</a:t>
            </a:r>
            <a:endParaRPr lang="en-US" sz="2100" dirty="0"/>
          </a:p>
        </p:txBody>
      </p:sp>
      <p:sp>
        <p:nvSpPr>
          <p:cNvPr id="9" name="Text 5"/>
          <p:cNvSpPr txBox="1"/>
          <p:nvPr/>
        </p:nvSpPr>
        <p:spPr>
          <a:xfrm>
            <a:off x="1051560" y="3776472"/>
            <a:ext cx="2670048" cy="822960"/>
          </a:xfrm>
          <a:prstGeom prst="rect">
            <a:avLst/>
          </a:prstGeom>
          <a:noFill/>
          <a:ln/>
        </p:spPr>
        <p:txBody>
          <a:bodyPr wrap="square" lIns="0" tIns="0" rIns="0" bIns="0" rtlCol="0" anchor="t"/>
          <a:lstStyle/>
          <a:p>
            <a:pPr indent="0" marL="0">
              <a:buNone/>
            </a:pPr>
            <a:r>
              <a:rPr lang="en-US" sz="1450" dirty="0">
                <a:solidFill>
                  <a:schemeClr val="tx2"/>
                </a:solidFill>
              </a:rPr>
              <a:t>Stored in protected systems with restricted access.</a:t>
            </a:r>
            <a:endParaRPr lang="en-US" sz="1450" dirty="0"/>
          </a:p>
        </p:txBody>
      </p:sp>
      <p:sp>
        <p:nvSpPr>
          <p:cNvPr id="10" name="Privacy card"/>
          <p:cNvSpPr/>
          <p:nvPr/>
        </p:nvSpPr>
        <p:spPr>
          <a:xfrm>
            <a:off x="4393692" y="1965960"/>
            <a:ext cx="3401568" cy="2834640"/>
          </a:xfrm>
          <a:prstGeom prst="roundRect">
            <a:avLst>
              <a:gd name="adj" fmla="val 3871"/>
            </a:avLst>
          </a:prstGeom>
          <a:solidFill>
            <a:schemeClr val="tx1"/>
          </a:solidFill>
          <a:ln/>
          <a:effectLst>
            <a:outerShdw sx="100000" sy="100000" kx="0" ky="0" algn="bl" rotWithShape="0" blurRad="177800" dist="38100" dir="5400000">
              <a:srgbClr val="0B1F2A">
                <a:alpha val="10000"/>
              </a:srgbClr>
            </a:outerShdw>
          </a:effectLst>
        </p:spPr>
      </p:sp>
      <p:sp>
        <p:nvSpPr>
          <p:cNvPr id="11" name="Icon disc"/>
          <p:cNvSpPr/>
          <p:nvPr/>
        </p:nvSpPr>
        <p:spPr>
          <a:xfrm>
            <a:off x="4759452" y="2331720"/>
            <a:ext cx="731520" cy="731520"/>
          </a:xfrm>
          <a:prstGeom prst="ellipse">
            <a:avLst/>
          </a:prstGeom>
          <a:solidFill>
            <a:schemeClr val="accent1"/>
          </a:solidFill>
          <a:ln/>
        </p:spPr>
      </p:sp>
      <p:pic>
        <p:nvPicPr>
          <p:cNvPr id="12" name="Image 1" descr="EyeOff icon">    </p:cNvPr>
          <p:cNvPicPr>
            <a:picLocks noChangeAspect="1"/>
          </p:cNvPicPr>
          <p:nvPr/>
        </p:nvPicPr>
        <p:blipFill>
          <a:blip r:embed="rId2"/>
          <a:stretch>
            <a:fillRect/>
          </a:stretch>
        </p:blipFill>
        <p:spPr>
          <a:xfrm>
            <a:off x="4942332" y="2514600"/>
            <a:ext cx="365760" cy="365760"/>
          </a:xfrm>
          <a:prstGeom prst="rect">
            <a:avLst/>
          </a:prstGeom>
        </p:spPr>
      </p:pic>
      <p:sp>
        <p:nvSpPr>
          <p:cNvPr id="13" name="Text 8"/>
          <p:cNvSpPr txBox="1"/>
          <p:nvPr/>
        </p:nvSpPr>
        <p:spPr>
          <a:xfrm>
            <a:off x="4759452" y="3291840"/>
            <a:ext cx="2670048" cy="41148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Kept confidential</a:t>
            </a:r>
            <a:endParaRPr lang="en-US" sz="2100" dirty="0"/>
          </a:p>
        </p:txBody>
      </p:sp>
      <p:sp>
        <p:nvSpPr>
          <p:cNvPr id="14" name="Text 9"/>
          <p:cNvSpPr txBox="1"/>
          <p:nvPr/>
        </p:nvSpPr>
        <p:spPr>
          <a:xfrm>
            <a:off x="4759452" y="3776472"/>
            <a:ext cx="2670048" cy="822960"/>
          </a:xfrm>
          <a:prstGeom prst="rect">
            <a:avLst/>
          </a:prstGeom>
          <a:noFill/>
          <a:ln/>
        </p:spPr>
        <p:txBody>
          <a:bodyPr wrap="square" lIns="0" tIns="0" rIns="0" bIns="0" rtlCol="0" anchor="t"/>
          <a:lstStyle/>
          <a:p>
            <a:pPr indent="0" marL="0">
              <a:buNone/>
            </a:pPr>
            <a:r>
              <a:rPr lang="en-US" sz="1450" dirty="0">
                <a:solidFill>
                  <a:schemeClr val="accent6"/>
                </a:solidFill>
              </a:rPr>
              <a:t>Used only to meet our legal and professional obligations.</a:t>
            </a:r>
            <a:endParaRPr lang="en-US" sz="1450" dirty="0"/>
          </a:p>
        </p:txBody>
      </p:sp>
      <p:sp>
        <p:nvSpPr>
          <p:cNvPr id="15" name="Privacy card"/>
          <p:cNvSpPr/>
          <p:nvPr/>
        </p:nvSpPr>
        <p:spPr>
          <a:xfrm>
            <a:off x="8101584" y="1965960"/>
            <a:ext cx="3401568" cy="2834640"/>
          </a:xfrm>
          <a:prstGeom prst="roundRect">
            <a:avLst>
              <a:gd name="adj" fmla="val 3871"/>
            </a:avLst>
          </a:prstGeom>
          <a:solidFill>
            <a:schemeClr val="bg1"/>
          </a:solidFill>
          <a:ln/>
          <a:effectLst>
            <a:outerShdw sx="100000" sy="100000" kx="0" ky="0" algn="bl" rotWithShape="0" blurRad="177800" dist="38100" dir="5400000">
              <a:srgbClr val="0B1F2A">
                <a:alpha val="10000"/>
              </a:srgbClr>
            </a:outerShdw>
          </a:effectLst>
        </p:spPr>
      </p:sp>
      <p:sp>
        <p:nvSpPr>
          <p:cNvPr id="16" name="Icon disc"/>
          <p:cNvSpPr/>
          <p:nvPr/>
        </p:nvSpPr>
        <p:spPr>
          <a:xfrm>
            <a:off x="8467344" y="2331720"/>
            <a:ext cx="731520" cy="731520"/>
          </a:xfrm>
          <a:prstGeom prst="ellipse">
            <a:avLst/>
          </a:prstGeom>
          <a:solidFill>
            <a:schemeClr val="accent1"/>
          </a:solidFill>
          <a:ln/>
        </p:spPr>
      </p:sp>
      <p:pic>
        <p:nvPicPr>
          <p:cNvPr id="17" name="Image 2" descr="Archive icon">    </p:cNvPr>
          <p:cNvPicPr>
            <a:picLocks noChangeAspect="1"/>
          </p:cNvPicPr>
          <p:nvPr/>
        </p:nvPicPr>
        <p:blipFill>
          <a:blip r:embed="rId3"/>
          <a:stretch>
            <a:fillRect/>
          </a:stretch>
        </p:blipFill>
        <p:spPr>
          <a:xfrm>
            <a:off x="8650224" y="2514600"/>
            <a:ext cx="365760" cy="365760"/>
          </a:xfrm>
          <a:prstGeom prst="rect">
            <a:avLst/>
          </a:prstGeom>
        </p:spPr>
      </p:pic>
      <p:sp>
        <p:nvSpPr>
          <p:cNvPr id="18" name="Text 12"/>
          <p:cNvSpPr txBox="1"/>
          <p:nvPr/>
        </p:nvSpPr>
        <p:spPr>
          <a:xfrm>
            <a:off x="8467344" y="3291840"/>
            <a:ext cx="2670048" cy="411480"/>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Retained as required</a:t>
            </a:r>
            <a:endParaRPr lang="en-US" sz="2100" dirty="0"/>
          </a:p>
        </p:txBody>
      </p:sp>
      <p:sp>
        <p:nvSpPr>
          <p:cNvPr id="19" name="Text 13"/>
          <p:cNvSpPr txBox="1"/>
          <p:nvPr/>
        </p:nvSpPr>
        <p:spPr>
          <a:xfrm>
            <a:off x="8467344" y="3776472"/>
            <a:ext cx="2670048" cy="822960"/>
          </a:xfrm>
          <a:prstGeom prst="rect">
            <a:avLst/>
          </a:prstGeom>
          <a:noFill/>
          <a:ln/>
        </p:spPr>
        <p:txBody>
          <a:bodyPr wrap="square" lIns="0" tIns="0" rIns="0" bIns="0" rtlCol="0" anchor="t"/>
          <a:lstStyle/>
          <a:p>
            <a:pPr indent="0" marL="0">
              <a:buNone/>
            </a:pPr>
            <a:r>
              <a:rPr lang="en-US" sz="1450" dirty="0">
                <a:solidFill>
                  <a:schemeClr val="tx2"/>
                </a:solidFill>
              </a:rPr>
              <a:t>Kept for the period the law requires, then securely destroyed.</a:t>
            </a:r>
            <a:endParaRPr lang="en-US" sz="1450" dirty="0"/>
          </a:p>
        </p:txBody>
      </p:sp>
      <p:sp>
        <p:nvSpPr>
          <p:cNvPr id="20" name="Text 14"/>
          <p:cNvSpPr txBox="1"/>
          <p:nvPr/>
        </p:nvSpPr>
        <p:spPr>
          <a:xfrm>
            <a:off x="685800" y="5166360"/>
            <a:ext cx="10789920" cy="365760"/>
          </a:xfrm>
          <a:prstGeom prst="rect">
            <a:avLst/>
          </a:prstGeom>
          <a:noFill/>
          <a:ln/>
        </p:spPr>
        <p:txBody>
          <a:bodyPr wrap="square" lIns="0" tIns="0" rIns="0" bIns="0" rtlCol="0" anchor="t"/>
          <a:lstStyle/>
          <a:p>
            <a:pPr indent="0" marL="0">
              <a:buNone/>
            </a:pPr>
            <a:r>
              <a:rPr lang="en-US" sz="1400" i="1" dirty="0">
                <a:solidFill>
                  <a:schemeClr val="accent4"/>
                </a:solidFill>
              </a:rPr>
              <a:t>Read our full privacy notice at [website] or ask your attorney for a copy.</a:t>
            </a:r>
            <a:endParaRPr lang="en-US" sz="1400" dirty="0"/>
          </a:p>
        </p:txBody>
      </p:sp>
      <p:sp>
        <p:nvSpPr>
          <p:cNvPr id="25" name="Slide Number Placeholder 0"/>
          <p:cNvSpPr>
            <a:spLocks noGrp="1"/>
          </p:cNvSpPr>
          <p:nvPr>
            <p:ph type="sldNum" sz="quarter" idx="4294967295"/>
          </p:nvPr>
        </p:nvSpPr>
        <p:spPr>
          <a:xfrm>
            <a:off x="11018520" y="6327648"/>
            <a:ext cx="502920" cy="27432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chemeClr val="accent1"/>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85800" y="1417320"/>
            <a:ext cx="7315200" cy="365760"/>
          </a:xfrm>
          <a:prstGeom prst="rect">
            <a:avLst/>
          </a:prstGeom>
          <a:noFill/>
          <a:ln/>
        </p:spPr>
        <p:txBody>
          <a:bodyPr wrap="square" lIns="0" tIns="0" rIns="0" bIns="0" rtlCol="0"/>
          <a:lstStyle/>
          <a:p>
            <a:pPr algn="l" indent="0" marL="0">
              <a:buNone/>
            </a:pPr>
            <a:r>
              <a:rPr lang="en-US" sz="1300" b="1" spc="400" kern="0" dirty="0">
                <a:solidFill>
                  <a:schemeClr val="accent5"/>
                </a:solidFill>
              </a:rPr>
              <a:t>THANK YOU</a:t>
            </a:r>
            <a:endParaRPr lang="en-US" sz="1300" dirty="0"/>
          </a:p>
        </p:txBody>
      </p:sp>
      <p:sp>
        <p:nvSpPr>
          <p:cNvPr id="3" name="Text 1"/>
          <p:cNvSpPr/>
          <p:nvPr>
            <p:ph idx="102" type="title" hasCustomPrompt="1"/>
          </p:nvPr>
        </p:nvSpPr>
        <p:spPr>
          <a:xfrm>
            <a:off x="685800" y="1874520"/>
            <a:ext cx="7863840" cy="2194560"/>
          </a:xfrm>
          <a:prstGeom prst="rect">
            <a:avLst/>
          </a:prstGeom>
          <a:noFill/>
          <a:ln/>
        </p:spPr>
        <p:txBody>
          <a:bodyPr wrap="square" lIns="0" tIns="0" rIns="0" bIns="0" rtlCol="0" anchor="t"/>
          <a:lstStyle/>
          <a:p>
            <a:pPr algn="l" indent="0" marL="0">
              <a:buNone/>
            </a:pPr>
            <a:r>
              <a:rPr lang="en-US" sz="5800" dirty="0">
                <a:solidFill>
                  <a:schemeClr val="bg1"/>
                </a:solidFill>
                <a:latin typeface="Cambria" pitchFamily="34" charset="0"/>
                <a:ea typeface="Cambria" pitchFamily="34" charset="-122"/>
                <a:cs typeface="Cambria" pitchFamily="34" charset="-120"/>
              </a:rPr>
              <a:t>Questions?</a:t>
            </a:r>
            <a:endParaRPr lang="en-US" sz="5800" dirty="0"/>
          </a:p>
          <a:p>
            <a:pPr algn="l" indent="0" marL="0">
              <a:buNone/>
            </a:pPr>
            <a:r>
              <a:rPr lang="en-US" sz="5800" dirty="0">
                <a:solidFill>
                  <a:schemeClr val="bg1"/>
                </a:solidFill>
                <a:latin typeface="Cambria" pitchFamily="34" charset="0"/>
                <a:ea typeface="Cambria" pitchFamily="34" charset="-122"/>
                <a:cs typeface="Cambria" pitchFamily="34" charset="-120"/>
              </a:rPr>
              <a:t>We're here to help</a:t>
            </a:r>
            <a:endParaRPr lang="en-US" sz="5800" dirty="0"/>
          </a:p>
        </p:txBody>
      </p:sp>
      <p:sp>
        <p:nvSpPr>
          <p:cNvPr id="4" name="Text 1"/>
          <p:cNvSpPr/>
          <p:nvPr>
            <p:ph idx="103" type="body" hasCustomPrompt="1"/>
          </p:nvPr>
        </p:nvSpPr>
        <p:spPr>
          <a:xfrm>
            <a:off x="685800" y="4206240"/>
            <a:ext cx="6949440" cy="914400"/>
          </a:xfrm>
          <a:prstGeom prst="rect">
            <a:avLst/>
          </a:prstGeom>
          <a:noFill/>
          <a:ln/>
        </p:spPr>
        <p:txBody>
          <a:bodyPr wrap="square" lIns="0" tIns="0" rIns="0" bIns="0" rtlCol="0" anchor="t"/>
          <a:lstStyle/>
          <a:p>
            <a:pPr algn="l" indent="0" marL="0">
              <a:buNone/>
            </a:pPr>
            <a:r>
              <a:rPr lang="en-US" sz="1800" dirty="0">
                <a:solidFill>
                  <a:schemeClr val="accent6"/>
                </a:solidFill>
              </a:rPr>
              <a:t>If anything in this guide is unclear, or you're unsure which documents apply to you, please ask. We'll guide you through it.</a:t>
            </a:r>
            <a:endParaRPr lang="en-US" sz="1800" dirty="0"/>
          </a:p>
        </p:txBody>
      </p:sp>
      <p:sp>
        <p:nvSpPr>
          <p:cNvPr id="5" name="Text 1"/>
          <p:cNvSpPr/>
          <p:nvPr>
            <p:ph idx="104" type="body" hasCustomPrompt="1"/>
          </p:nvPr>
        </p:nvSpPr>
        <p:spPr>
          <a:xfrm>
            <a:off x="685800" y="5349240"/>
            <a:ext cx="7315200" cy="548640"/>
          </a:xfrm>
          <a:prstGeom prst="rect">
            <a:avLst/>
          </a:prstGeom>
          <a:noFill/>
          <a:ln/>
        </p:spPr>
        <p:txBody>
          <a:bodyPr wrap="square" lIns="0" tIns="0" rIns="0" bIns="0" rtlCol="0" anchor="t"/>
          <a:lstStyle/>
          <a:p>
            <a:pPr algn="l" indent="0" marL="0">
              <a:buNone/>
            </a:pPr>
            <a:r>
              <a:rPr lang="en-US" sz="1200" dirty="0">
                <a:solidFill>
                  <a:schemeClr val="bg1"/>
                </a:solidFill>
              </a:rPr>
              <a:t>[Attorney name]   ·   [email]   ·   [phone]   ·   [website]</a:t>
            </a:r>
            <a:endParaRPr lang="en-US" sz="1200" dirty="0"/>
          </a:p>
        </p:txBody>
      </p:sp>
    </p:spTree>
  </p:cSld>
  <p:clrMapOvr>
    <a:masterClrMapping/>
  </p:clrMapOvr>
</p:sld>
</file>

<file path=ppt/theme/theme1.xml><?xml version="1.0" encoding="utf-8"?>
<a:theme xmlns:a="http://schemas.openxmlformats.org/drawingml/2006/main" name="Missick Stanbrook Compliance">
  <a:themeElements>
    <a:clrScheme name="Missick Stanbrook Compliance">
      <a:dk1>
        <a:srgbClr val="0B1F2A"/>
      </a:dk1>
      <a:lt1>
        <a:srgbClr val="FFFFFF"/>
      </a:lt1>
      <a:dk2>
        <a:srgbClr val="0F3B4C"/>
      </a:dk2>
      <a:lt2>
        <a:srgbClr val="EEF4F5"/>
      </a:lt2>
      <a:accent1>
        <a:srgbClr val="13A89E"/>
      </a:accent1>
      <a:accent2>
        <a:srgbClr val="E07A5F"/>
      </a:accent2>
      <a:accent3>
        <a:srgbClr val="C9A86A"/>
      </a:accent3>
      <a:accent4>
        <a:srgbClr val="5B7C8A"/>
      </a:accent4>
      <a:accent5>
        <a:srgbClr val="7FD1C7"/>
      </a:accent5>
      <a:accent6>
        <a:srgbClr val="A9BCC4"/>
      </a:accent6>
      <a:hlink>
        <a:srgbClr val="13A89E"/>
      </a:hlink>
      <a:folHlink>
        <a:srgbClr val="5B7C8A"/>
      </a:folHlink>
    </a:clrScheme>
    <a:fontScheme name="Missick Stanbrook Compli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Missick &amp; Stanbrook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We Ask</dc:title>
  <dc:subject>PptxGenJS Presentation</dc:subject>
  <dc:creator>Compliance Department</dc:creator>
  <cp:lastModifiedBy>Compliance Department</cp:lastModifiedBy>
  <cp:revision>1</cp:revision>
  <dcterms:created xsi:type="dcterms:W3CDTF">2026-10-25T16:11:24Z</dcterms:created>
  <dcterms:modified xsi:type="dcterms:W3CDTF">2026-10-25T16:11:24Z</dcterms:modified>
</cp:coreProperties>
</file>