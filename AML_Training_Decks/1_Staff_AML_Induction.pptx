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7c3c2805-7ce1-7d95-8a41-de879fbd9d0a}">
          <p14:sldIdLst>
            <p14:sldId id="257"/>
            <p14:sldId id="258"/>
          </p14:sldIdLst>
        </p14:section>
        <p14:section name="Default-1" id="{a0e018a9-5f8b-3474-8a24-48396971d861}">
          <p14:sldIdLst>
            <p14:sldId id="256"/>
          </p14:sldIdLst>
        </p14:section>
        <p14:section name="The threat" id="{e26680b3-6197-9555-4de5-b4dd14b1de5e}">
          <p14:sldIdLst>
            <p14:sldId id="259"/>
            <p14:sldId id="260"/>
            <p14:sldId id="261"/>
            <p14:sldId id="262"/>
          </p14:sldIdLst>
        </p14:section>
        <p14:section name="The law" id="{096c6c9c-f8fb-1cd8-62f9-d810afa4e411}">
          <p14:sldIdLst>
            <p14:sldId id="263"/>
            <p14:sldId id="264"/>
            <p14:sldId id="265"/>
            <p14:sldId id="266"/>
          </p14:sldIdLst>
        </p14:section>
        <p14:section name="Our risk-based approach" id="{18561505-719f-6af0-4446-5d47c14a8f6f}">
          <p14:sldIdLst>
            <p14:sldId id="267"/>
            <p14:sldId id="268"/>
          </p14:sldIdLst>
        </p14:section>
        <p14:section name="Client due diligence" id="{6bbd603f-9f52-019e-a7f2-2fb326907f0f}">
          <p14:sldIdLst>
            <p14:sldId id="269"/>
            <p14:sldId id="270"/>
            <p14:sldId id="271"/>
            <p14:sldId id="272"/>
            <p14:sldId id="273"/>
          </p14:sldIdLst>
        </p14:section>
        <p14:section name="Red flags" id="{c653317a-6d12-052b-e3c3-a2749997b40a}">
          <p14:sldIdLst>
            <p14:sldId id="274"/>
            <p14:sldId id="275"/>
            <p14:sldId id="276"/>
          </p14:sldIdLst>
        </p14:section>
        <p14:section name="Speaking up" id="{c39a5ed3-3110-1211-9491-989c544fc8b5}">
          <p14:sldIdLst>
            <p14:sldId id="277"/>
            <p14:sldId id="278"/>
            <p14:sldId id="279"/>
            <p14:sldId id="280"/>
          </p14:sldIdLst>
        </p14:section>
        <p14:section name="Close" id="{f7b0fb8c-4ede-67e2-36a3-aa5892f31944}">
          <p14:sldIdLst>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induction is mandatory for every new member of staff, from partners to reception, before you work on client matters. It takes about 45 minutes, and there's a short knowledge check at the end. Your completion is recorded and kept as evidence for our supervisor, the Financial Services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Lawyers, trust businesses and real estate professionals are called 'gatekeepers' internationally. Criminals need us: our client account, our ability to form companies and trusts, and our credibility when buying property. The law therefore places duties on us personally, not only on the firm. Three reasons this matters to you: the law requires it, you can be personally liable, and the firm's licence and reputation depend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short parts. The first two set out what we're protecting against and the law behind it. Parts three to five cover what you'll do day to day: assess risk, carry out due diligence and spot red flags. Part six, speaking up, is the most important. If you remember one thing, remember how to report a concern and never to tip off a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laundering is making criminal proceeds look legitimate. It usually happens in three stages, though not always in order, and one transaction can do all three. Placement puts the dirty money into the system. Layering moves it around to hide the trail. Integration brings it back as apparently clean wealth. Our services can be used at every stage: client account deposits at placement, company and trust structures at layering, and property purchases at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Terrorist financing is often the reverse of money laundering. The money can come from legitimate sources, like salaries, donations or business income, and the crime is in where it goes. Amounts can be small. Proliferation financing means funding the development of weapons of mass destruction, and is usually tied to sanctions evasion through front companies and complex trade. For us, the main protection is sanctions screening and understanding who really owns and controls our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TCI's first National Risk Assessment, published in 2017, rated the overall money laundering risk for the Islands as medium-high. Independent legal professionals and trust businesses were both placed in the medium-high group. The FSC has since issued risk outlooks for real estate, because high-value property attracts foreign buyers and large single transactions. Our three practice areas, trusts, real estate and investments, are exactly where those risks meet. Check whether a newer NRA has been published before delivering this, and update the figures if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instruments make up our framework. The Proceeds of Crime Ordinance, Cap 3.15, creates the money laundering offences and the duty to report. The AML/PTF Regulations set the firm's obligations: due diligence, record keeping, training, and appointing an MLRO and MLCO. The AML/PTF Code, issued by the FSC, explains how to meet those obligations in practice. The Financial Intelligence Agency Ordinance, Cap 3.20, sets up the FIA, which receives suspicious activity reports. UK financial sanctions are extended to the Islands by Order in Council. The FSC is the sole AML/CFT supervisor for designated non-financial businesses and professions, which includes lawyers and real estate agents. We must be registered with it and file annual returns. Consolidated texts are on the FSC website: always work from the current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offences are in the Proceeds of Crime Ordinance. The first three are the principal money laundering offences and can be committed by anyone: concealing or transferring criminal property; entering into an arrangement that helps someone else; and acquiring, using or possessing criminal property. Because we're a regulated business, there's a lower bar for failure to disclose. You can commit it if you knew, suspected, or had reasonable grounds to know or suspect, and didn't report to the MLRO as soon as practicable. That's an objective test: ignoring obvious signs is not a defence. Tipping off and prejudicing an investigation protect the integrity of reports. Penalties include imprisonment and fines. Confirm the current section numbers and maximum penalties against the consolidated Ordinance on the FSC website before you deliver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You, every member of staff, must be alert, follow our procedures, and report concerns internally to the MLRO. The Money Laundering Reporting Officer receives internal reports, decides whether to make an external suspicious activity report to the FIA, and is the point of contact for the FIA. The Money Laundering Compliance Officer oversees the compliance programme: policies, risk assessments, training, and reporting to management and the FSC. Since the October 2024 amendments, the FSC's prior written approval is needed for the appointment. Neither role replaces your personal duty. Telling a partner or colleague is not the same as reporting to the MLRO.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Regulations and Code require a risk-based approach. Before we take on a client or matter, we look through four lenses: who the client is, where they and their money are connected to, what service they want, and how they reach us. Together these produce a risk rating that sets the level of due diligence. Simplified due diligence is only allowed in limited, lower-risk cases. Most clients get standard CDD, and higher-risk clients get enhanced due diligence. The firm's own risk assessment, kept by the MLCO, sets out the detail. Risk isn't fixed: if circumstances change, so does the 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CDD is more than collecting a passport. First, identify the client and verify their identity using reliable, independent documents. Second, identify the beneficial owner, the natural person who ultimately owns or controls the client, and take reasonable steps to verify them. For trusts, that means the settlor, trustees, protector, beneficiaries, and anyone else with effective control. Third, understand the purpose and intended nature of the relationship: why do they want this service, and does it make sense? Fourth, monitor on an ongoing basis. Activity should stay consistent with what we know, and documents must be kept up to date. Check the Regulations for the current beneficial ownership threshold and confirm it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CDD must be complete before we establish a business relationship or carry out an occasional transaction above the threshold in the Regulations. Only in narrow, permitted cases may verification be completed shortly afterwards. CDD is always required, whatever the amount, if we suspect money laundering or terrorist financing, or doubt information we hold. Existing clients must be reviewed periodically and when something material changes. If you can't complete CDD, the rule is clear: don't proceed, consider ending the relationship, and consider whether a report to the MLRO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often confuse these two. Source of funds is about this transaction: where the money for this purchase or settlement is actually coming from. Source of wealth is about the client's total net worth: how they came to have it over their life. For a villa purchase we always need to understand source of funds. Where the client is higher risk, for example a PEP or someone with an unexplained fortune, we must also establish and evidence source of wealth. Evidence should be proportionate and credible, and the story must hang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Enhanced due diligence is required for higher-risk situations. Common triggers in our practice: politically exposed persons, including their family and close associates (and the definition covers foreign and domestic PEPs); clients or funds connected to high-risk jurisdictions, including those on the FATF lists; complex or unusual structures with no clear purpose; and unusually large or complex transactions. EDD measures include senior management approval before we act, verified source of wealth and source of funds, and closer ongoing monitoring with more frequent reviews. Record your reasoning: an EDD file should tell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estate is a priority risk in the TCI. The FSC has published dedicated AML risk outlooks for the sector. Go through each flag. One flag on its own may have an innocent explanation. Our job is to ask, record the answer, and escalate if it doesn't add up. Late changes to bank details are also a classic sign of email fraud, which we'll cover in annual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Trusts and investment structures are legitimate and valuable tools, but their features also suit people who want to hide. The key questions are always: who really controls this, who really benefits, and where did the money come from? Never let our client account act as a bank. Funds should only pass through it for a genuine underlying legal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process. Step one: you notice something, a red flag or a gut feeling that something isn't right. Step two: pause. Don't confront the client and don't progress the transaction if you can avoid doing so without alerting them. Step three: report it in writing to the MLRO as soon as practicable, using the internal report form. Reporting internally discharges your personal legal duty. Step four: the MLRO assesses it, independently and confidentially. Step five: if appropriate, the MLRO files a suspicious activity report with the Financial Intelligence Agency. Step six: follow the MLRO's instructions on whether and how to proceed. Don't discuss the report with colleagues who don't need to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rule. Once you suspect something, or a report has been made, you must not say or do anything that could alert the client or anyone else that a report has been or may be made, or that an investigation is under way. That includes hints, changes in tone, or explaining delays with 'compliance has concerns about you'. If a client asks why something is taking longer, use neutral, truthful language: we are completing our standard procedures. If you're unsure what to say, ask the MLRO before replying.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Records let us prove to the FSC that we did what the law requires, and let law enforcement reconstruct transactions. We must keep CDD documents and evidence, transaction records, internal and external suspicious activity reports, and training records. The Regulations set the minimum retention period, generally at least five years from the end of the relationship or completion of the occasional transaction, and longer if the FIA or a court directs. Confirm the current period in the Regulations. Use the firm's systems, and never keep compliance records on personal devices or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No. Report it to the MLRO in writing. Telling a partner doesn't discharge your duty unless they are the MLRO. 2: Source of wealth explains how the client built their overall wealth; source of funds is the money for this transaction. 3: No. That could amount to tipping off. Use neutral wording and ask the MLRO. 4: Yes. Any time we suspect ML or TF, CDD and reporting duties apply, whatever the amount. 5: At least five years from the end of the relationship, or as the Regulations specify. Collect the attestation forms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everyone to sign the training attestation, and make sure they know who the MLRO and MLCO are and how to reach them. Keep the signed attestations and the attendance list on file as training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Content-Contour-image-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Statem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bg1"/>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ph idx="101" type="body" hasCustomPrompt="1"/>
          </p:nvPr>
        </p:nvSpPr>
        <p:spPr>
          <a:xfrm>
            <a:off x="685800" y="1417320"/>
            <a:ext cx="7315200" cy="365760"/>
          </a:xfrm>
          <a:prstGeom prst="rect">
            <a:avLst/>
          </a:prstGeom>
          <a:noFill/>
          <a:ln/>
        </p:spPr>
        <p:txBody>
          <a:bodyPr wrap="square" rtlCol="0"/>
          <a:lstStyle>
            <a:lvl1pPr algn="l" indent="0" marL="0">
              <a:buNone/>
              <a:defRPr lang="en-US" sz="1300" b="1" spc="400" kern="0" dirty="0">
                <a:solidFill>
                  <a:schemeClr val="accent5"/>
                </a:solidFill>
              </a:defRPr>
            </a:lvl1pPr>
          </a:lstStyle>
          <a:p>
            <a:pPr algn="l" indent="0" marL="0">
              <a:buNone/>
            </a:pPr>
            <a:endParaRPr lang="en-US" sz="1300" dirty="0"/>
          </a:p>
        </p:txBody>
      </p:sp>
      <p:sp>
        <p:nvSpPr>
          <p:cNvPr id="4" name="Text 1"/>
          <p:cNvSpPr/>
          <p:nvPr>
            <p:ph idx="102" type="title" hasCustomPrompt="1"/>
          </p:nvPr>
        </p:nvSpPr>
        <p:spPr>
          <a:xfrm>
            <a:off x="685800" y="1874520"/>
            <a:ext cx="7863840" cy="2194560"/>
          </a:xfrm>
          <a:prstGeom prst="rect">
            <a:avLst/>
          </a:prstGeom>
          <a:noFill/>
          <a:ln/>
        </p:spPr>
        <p:txBody>
          <a:bodyPr wrap="square" rtlCol="0"/>
          <a:lstStyle>
            <a:lvl1pPr algn="l" indent="0" marL="0">
              <a:buNone/>
              <a:defRPr lang="en-US" sz="5800" dirty="0">
                <a:solidFill>
                  <a:schemeClr val="bg1"/>
                </a:solidFill>
                <a:latin typeface="Cambria" pitchFamily="34" charset="0"/>
                <a:ea typeface="Cambria" pitchFamily="34" charset="-122"/>
                <a:cs typeface="Cambria" pitchFamily="34" charset="-120"/>
              </a:defRPr>
            </a:lvl1pPr>
          </a:lstStyle>
          <a:p>
            <a:pPr algn="l" indent="0" marL="0">
              <a:buNone/>
            </a:pPr>
            <a:endParaRPr lang="en-US" sz="5800" dirty="0"/>
          </a:p>
        </p:txBody>
      </p:sp>
      <p:sp>
        <p:nvSpPr>
          <p:cNvPr id="5" name="Text 1"/>
          <p:cNvSpPr/>
          <p:nvPr>
            <p:ph idx="103" type="body" hasCustomPrompt="1"/>
          </p:nvPr>
        </p:nvSpPr>
        <p:spPr>
          <a:xfrm>
            <a:off x="685800" y="4206240"/>
            <a:ext cx="6949440" cy="91440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6" name="Text 1"/>
          <p:cNvSpPr/>
          <p:nvPr>
            <p:ph idx="104" type="body" hasCustomPrompt="1"/>
          </p:nvPr>
        </p:nvSpPr>
        <p:spPr>
          <a:xfrm>
            <a:off x="685800" y="5349240"/>
            <a:ext cx="7315200" cy="548640"/>
          </a:xfrm>
          <a:prstGeom prst="rect">
            <a:avLst/>
          </a:prstGeom>
          <a:noFill/>
          <a:ln/>
        </p:spPr>
        <p:txBody>
          <a:bodyPr wrap="square" rtlCol="0"/>
          <a:lstStyle>
            <a:lvl1pPr algn="l" indent="0" marL="0">
              <a:buNone/>
              <a:defRPr lang="en-US" sz="1200" dirty="0">
                <a:solidFill>
                  <a:schemeClr val="bg1"/>
                </a:solidFill>
              </a:defRPr>
            </a:lvl1pPr>
          </a:lstStyle>
          <a:p>
            <a:pPr algn="l"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bg1"/>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nvSpPr>
        <p:spPr>
          <a:xfrm>
            <a:off x="4206240" y="6327648"/>
            <a:ext cx="6217920" cy="274320"/>
          </a:xfrm>
          <a:prstGeom prst="rect">
            <a:avLst/>
          </a:prstGeom>
          <a:noFill/>
          <a:ln/>
        </p:spPr>
        <p:txBody>
          <a:bodyPr wrap="square" lIns="0" tIns="0" rIns="0" bIns="0" rtlCol="0" anchor="ctr"/>
          <a:lstStyle/>
          <a:p>
            <a:pPr algn="r" indent="0" marL="0">
              <a:buNone/>
            </a:pPr>
            <a:r>
              <a:rPr lang="en-US" sz="900" dirty="0">
                <a:solidFill>
                  <a:schemeClr val="accent6"/>
                </a:solidFill>
              </a:rPr>
              <a:t>AML/CFT/CPF Staff Induction   ·   Internal use only</a:t>
            </a:r>
            <a:endParaRPr lang="en-US" sz="900" dirty="0"/>
          </a:p>
        </p:txBody>
      </p:sp>
      <p:sp>
        <p:nvSpPr>
          <p:cNvPr id="4" name="Text 2"/>
          <p:cNvSpPr/>
          <p:nvPr>
            <p:ph idx="102" type="body" hasCustomPrompt="1"/>
          </p:nvPr>
        </p:nvSpPr>
        <p:spPr>
          <a:xfrm>
            <a:off x="685800" y="1097280"/>
            <a:ext cx="3657600" cy="1645920"/>
          </a:xfrm>
          <a:prstGeom prst="rect">
            <a:avLst/>
          </a:prstGeom>
          <a:noFill/>
          <a:ln/>
        </p:spPr>
        <p:txBody>
          <a:bodyPr wrap="square" rtlCol="0"/>
          <a:lstStyle>
            <a:lvl1pPr algn="l" indent="0" marL="0">
              <a:buNone/>
              <a:defRPr lang="en-US" sz="11000" dirty="0">
                <a:solidFill>
                  <a:schemeClr val="accent1"/>
                </a:solidFill>
                <a:latin typeface="Cambria" pitchFamily="34" charset="0"/>
                <a:ea typeface="Cambria" pitchFamily="34" charset="-122"/>
                <a:cs typeface="Cambria" pitchFamily="34" charset="-120"/>
              </a:defRPr>
            </a:lvl1pPr>
          </a:lstStyle>
          <a:p>
            <a:pPr algn="l" indent="0" marL="0">
              <a:buNone/>
            </a:pPr>
            <a:endParaRPr lang="en-US" sz="11000" dirty="0"/>
          </a:p>
        </p:txBody>
      </p:sp>
      <p:sp>
        <p:nvSpPr>
          <p:cNvPr id="5" name="Text 2"/>
          <p:cNvSpPr/>
          <p:nvPr>
            <p:ph idx="103" type="title" hasCustomPrompt="1"/>
          </p:nvPr>
        </p:nvSpPr>
        <p:spPr>
          <a:xfrm>
            <a:off x="685800" y="2880360"/>
            <a:ext cx="8229600" cy="1188720"/>
          </a:xfrm>
          <a:prstGeom prst="rect">
            <a:avLst/>
          </a:prstGeom>
          <a:noFill/>
          <a:ln/>
        </p:spPr>
        <p:txBody>
          <a:bodyPr wrap="square" rtlCol="0"/>
          <a:lstStyle>
            <a:lvl1pPr algn="l" indent="0" marL="0">
              <a:buNone/>
              <a:defRPr lang="en-US" sz="4400"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6" name="Text 2"/>
          <p:cNvSpPr/>
          <p:nvPr>
            <p:ph idx="104" type="body" hasCustomPrompt="1"/>
          </p:nvPr>
        </p:nvSpPr>
        <p:spPr>
          <a:xfrm>
            <a:off x="685800" y="4160520"/>
            <a:ext cx="6583680" cy="10972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tx2"/>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nvSpPr>
        <p:spPr>
          <a:xfrm>
            <a:off x="4206240" y="6327648"/>
            <a:ext cx="6217920" cy="274320"/>
          </a:xfrm>
          <a:prstGeom prst="rect">
            <a:avLst/>
          </a:prstGeom>
          <a:noFill/>
          <a:ln/>
        </p:spPr>
        <p:txBody>
          <a:bodyPr wrap="square" lIns="0" tIns="0" rIns="0" bIns="0" rtlCol="0" anchor="ctr"/>
          <a:lstStyle/>
          <a:p>
            <a:pPr algn="r" indent="0" marL="0">
              <a:buNone/>
            </a:pPr>
            <a:r>
              <a:rPr lang="en-US" sz="900" dirty="0">
                <a:solidFill>
                  <a:schemeClr val="accent4"/>
                </a:solidFill>
              </a:rPr>
              <a:t>AML/CFT/CPF Staff Induction   ·   Internal use only</a:t>
            </a:r>
            <a:endParaRPr lang="en-US" sz="900" dirty="0"/>
          </a:p>
        </p:txBody>
      </p:sp>
      <p:sp>
        <p:nvSpPr>
          <p:cNvPr id="4" name="Text 2"/>
          <p:cNvSpPr/>
          <p:nvPr>
            <p:ph idx="102" type="body" hasCustomPrompt="1"/>
          </p:nvPr>
        </p:nvSpPr>
        <p:spPr>
          <a:xfrm>
            <a:off x="685800" y="411480"/>
            <a:ext cx="9144000" cy="274320"/>
          </a:xfrm>
          <a:prstGeom prst="rect">
            <a:avLst/>
          </a:prstGeom>
          <a:noFill/>
          <a:ln/>
        </p:spPr>
        <p:txBody>
          <a:bodyPr wrap="square" rtlCol="0"/>
          <a:lstStyle>
            <a:lvl1pPr algn="l" indent="0" marL="0">
              <a:buNone/>
              <a:defRPr lang="en-US" sz="1100" b="1" spc="400" kern="0" dirty="0">
                <a:solidFill>
                  <a:schemeClr val="accent1"/>
                </a:solidFill>
              </a:defRPr>
            </a:lvl1pPr>
          </a:lstStyle>
          <a:p>
            <a:pPr algn="l" indent="0" marL="0">
              <a:buNone/>
            </a:pPr>
            <a:endParaRPr lang="en-US" sz="1100" dirty="0"/>
          </a:p>
        </p:txBody>
      </p:sp>
      <p:sp>
        <p:nvSpPr>
          <p:cNvPr id="5" name="Text 2"/>
          <p:cNvSpPr/>
          <p:nvPr>
            <p:ph idx="103" type="title" hasCustomPrompt="1"/>
          </p:nvPr>
        </p:nvSpPr>
        <p:spPr>
          <a:xfrm>
            <a:off x="685800" y="713232"/>
            <a:ext cx="10789920" cy="822960"/>
          </a:xfrm>
          <a:prstGeom prst="rect">
            <a:avLst/>
          </a:prstGeom>
          <a:noFill/>
          <a:ln/>
        </p:spPr>
        <p:txBody>
          <a:bodyPr wrap="square" rtlCol="0"/>
          <a:lstStyle>
            <a:lvl1pPr algn="l" indent="0" marL="0">
              <a:buNone/>
              <a:defRPr lang="en-US" sz="3400"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Contou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tx2"/>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nvSpPr>
        <p:spPr>
          <a:xfrm>
            <a:off x="4206240" y="6327648"/>
            <a:ext cx="6217920" cy="274320"/>
          </a:xfrm>
          <a:prstGeom prst="rect">
            <a:avLst/>
          </a:prstGeom>
          <a:noFill/>
          <a:ln/>
        </p:spPr>
        <p:txBody>
          <a:bodyPr wrap="square" lIns="0" tIns="0" rIns="0" bIns="0" rtlCol="0" anchor="ctr"/>
          <a:lstStyle/>
          <a:p>
            <a:pPr algn="r" indent="0" marL="0">
              <a:buNone/>
            </a:pPr>
            <a:r>
              <a:rPr lang="en-US" sz="900" dirty="0">
                <a:solidFill>
                  <a:schemeClr val="accent4"/>
                </a:solidFill>
              </a:rPr>
              <a:t>AML/CFT/CPF Staff Induction   ·   Internal use only</a:t>
            </a:r>
            <a:endParaRPr lang="en-US" sz="900" dirty="0"/>
          </a:p>
        </p:txBody>
      </p:sp>
      <p:sp>
        <p:nvSpPr>
          <p:cNvPr id="4" name="Text 2"/>
          <p:cNvSpPr/>
          <p:nvPr>
            <p:ph idx="102" type="body" hasCustomPrompt="1"/>
          </p:nvPr>
        </p:nvSpPr>
        <p:spPr>
          <a:xfrm>
            <a:off x="685800" y="411480"/>
            <a:ext cx="9144000" cy="274320"/>
          </a:xfrm>
          <a:prstGeom prst="rect">
            <a:avLst/>
          </a:prstGeom>
          <a:noFill/>
          <a:ln/>
        </p:spPr>
        <p:txBody>
          <a:bodyPr wrap="square" rtlCol="0"/>
          <a:lstStyle>
            <a:lvl1pPr algn="l" indent="0" marL="0">
              <a:buNone/>
              <a:defRPr lang="en-US" sz="1100" b="1" spc="400" kern="0" dirty="0">
                <a:solidFill>
                  <a:schemeClr val="accent1"/>
                </a:solidFill>
              </a:defRPr>
            </a:lvl1pPr>
          </a:lstStyle>
          <a:p>
            <a:pPr algn="l" indent="0" marL="0">
              <a:buNone/>
            </a:pPr>
            <a:endParaRPr lang="en-US" sz="1100" dirty="0"/>
          </a:p>
        </p:txBody>
      </p:sp>
      <p:sp>
        <p:nvSpPr>
          <p:cNvPr id="5" name="Text 2"/>
          <p:cNvSpPr/>
          <p:nvPr>
            <p:ph idx="103" type="title" hasCustomPrompt="1"/>
          </p:nvPr>
        </p:nvSpPr>
        <p:spPr>
          <a:xfrm>
            <a:off x="685800" y="713232"/>
            <a:ext cx="10789920" cy="822960"/>
          </a:xfrm>
          <a:prstGeom prst="rect">
            <a:avLst/>
          </a:prstGeom>
          <a:noFill/>
          <a:ln/>
        </p:spPr>
        <p:txBody>
          <a:bodyPr wrap="square" rtlCol="0"/>
          <a:lstStyle>
            <a:lvl1pPr algn="l" indent="0" marL="0">
              <a:buNone/>
              <a:defRPr lang="en-US" sz="3400"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bg1"/>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nvSpPr>
        <p:spPr>
          <a:xfrm>
            <a:off x="4206240" y="6327648"/>
            <a:ext cx="6217920" cy="274320"/>
          </a:xfrm>
          <a:prstGeom prst="rect">
            <a:avLst/>
          </a:prstGeom>
          <a:noFill/>
          <a:ln/>
        </p:spPr>
        <p:txBody>
          <a:bodyPr wrap="square" lIns="0" tIns="0" rIns="0" bIns="0" rtlCol="0" anchor="ctr"/>
          <a:lstStyle/>
          <a:p>
            <a:pPr algn="r" indent="0" marL="0">
              <a:buNone/>
            </a:pPr>
            <a:r>
              <a:rPr lang="en-US" sz="900" dirty="0">
                <a:solidFill>
                  <a:schemeClr val="accent6"/>
                </a:solidFill>
              </a:rPr>
              <a:t>AML/CFT/CPF Staff Induction   ·   Internal use only</a:t>
            </a:r>
            <a:endParaRPr lang="en-US" sz="900" dirty="0"/>
          </a:p>
        </p:txBody>
      </p:sp>
      <p:sp>
        <p:nvSpPr>
          <p:cNvPr id="4" name="Text 2"/>
          <p:cNvSpPr/>
          <p:nvPr>
            <p:ph idx="102" type="body" hasCustomPrompt="1"/>
          </p:nvPr>
        </p:nvSpPr>
        <p:spPr>
          <a:xfrm>
            <a:off x="685800" y="411480"/>
            <a:ext cx="9144000" cy="274320"/>
          </a:xfrm>
          <a:prstGeom prst="rect">
            <a:avLst/>
          </a:prstGeom>
          <a:noFill/>
          <a:ln/>
        </p:spPr>
        <p:txBody>
          <a:bodyPr wrap="square" rtlCol="0"/>
          <a:lstStyle>
            <a:lvl1pPr algn="l" indent="0" marL="0">
              <a:buNone/>
              <a:defRPr lang="en-US" sz="1100" b="1" spc="400" kern="0" dirty="0">
                <a:solidFill>
                  <a:schemeClr val="accent5"/>
                </a:solidFill>
              </a:defRPr>
            </a:lvl1pPr>
          </a:lstStyle>
          <a:p>
            <a:pPr algn="l" indent="0" marL="0">
              <a:buNone/>
            </a:pPr>
            <a:endParaRPr lang="en-US" sz="1100" dirty="0"/>
          </a:p>
        </p:txBody>
      </p:sp>
      <p:sp>
        <p:nvSpPr>
          <p:cNvPr id="5" name="Text 2"/>
          <p:cNvSpPr/>
          <p:nvPr>
            <p:ph idx="103" type="title" hasCustomPrompt="1"/>
          </p:nvPr>
        </p:nvSpPr>
        <p:spPr>
          <a:xfrm>
            <a:off x="685800" y="713232"/>
            <a:ext cx="10789920" cy="822960"/>
          </a:xfrm>
          <a:prstGeom prst="rect">
            <a:avLst/>
          </a:prstGeom>
          <a:noFill/>
          <a:ln/>
        </p:spPr>
        <p:txBody>
          <a:bodyPr wrap="square" rtlCol="0"/>
          <a:lstStyle>
            <a:lvl1pPr algn="l" indent="0" marL="0">
              <a:buNone/>
              <a:defRPr lang="en-US" sz="3400"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5.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5.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5.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5.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slideLayout" Target="../slideLayouts/slideLayout4.xml"/><Relationship Id="rId1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4.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4.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5.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4.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6.xml"/><Relationship Id="rId5"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685800" y="1417320"/>
            <a:ext cx="7315200" cy="365760"/>
          </a:xfrm>
          <a:prstGeom prst="rect">
            <a:avLst/>
          </a:prstGeom>
          <a:noFill/>
          <a:ln/>
        </p:spPr>
        <p:txBody>
          <a:bodyPr wrap="square" lIns="0" tIns="0" rIns="0" bIns="0" rtlCol="0"/>
          <a:lstStyle/>
          <a:p>
            <a:pPr algn="l" indent="0" marL="0">
              <a:buNone/>
            </a:pPr>
            <a:r>
              <a:rPr lang="en-US" sz="1300" b="1" spc="400" kern="0" dirty="0">
                <a:solidFill>
                  <a:schemeClr val="accent5"/>
                </a:solidFill>
              </a:rPr>
              <a:t>COMPLIANCE INDUCTION</a:t>
            </a:r>
            <a:endParaRPr lang="en-US" sz="1300" dirty="0"/>
          </a:p>
        </p:txBody>
      </p:sp>
      <p:sp>
        <p:nvSpPr>
          <p:cNvPr id="3" name="Text 1"/>
          <p:cNvSpPr/>
          <p:nvPr>
            <p:ph idx="102" type="title" hasCustomPrompt="1"/>
          </p:nvPr>
        </p:nvSpPr>
        <p:spPr>
          <a:xfrm>
            <a:off x="685800" y="1874520"/>
            <a:ext cx="7863840" cy="2194560"/>
          </a:xfrm>
          <a:prstGeom prst="rect">
            <a:avLst/>
          </a:prstGeom>
          <a:noFill/>
          <a:ln/>
        </p:spPr>
        <p:txBody>
          <a:bodyPr wrap="square" lIns="0" tIns="0" rIns="0" bIns="0" rtlCol="0" anchor="t"/>
          <a:lstStyle/>
          <a:p>
            <a:pPr algn="l" indent="0" marL="0">
              <a:buNone/>
            </a:pPr>
            <a:r>
              <a:rPr lang="en-US" sz="5800" dirty="0">
                <a:solidFill>
                  <a:schemeClr val="bg1"/>
                </a:solidFill>
                <a:latin typeface="Cambria" pitchFamily="34" charset="0"/>
                <a:ea typeface="Cambria" pitchFamily="34" charset="-122"/>
                <a:cs typeface="Cambria" pitchFamily="34" charset="-120"/>
              </a:rPr>
              <a:t>Gatekeepers</a:t>
            </a:r>
            <a:endParaRPr lang="en-US" sz="5800" dirty="0"/>
          </a:p>
          <a:p>
            <a:pPr algn="l" indent="0" marL="0">
              <a:buNone/>
            </a:pPr>
            <a:r>
              <a:rPr lang="en-US" sz="5800" dirty="0">
                <a:solidFill>
                  <a:schemeClr val="bg1"/>
                </a:solidFill>
                <a:latin typeface="Cambria" pitchFamily="34" charset="0"/>
                <a:ea typeface="Cambria" pitchFamily="34" charset="-122"/>
                <a:cs typeface="Cambria" pitchFamily="34" charset="-120"/>
              </a:rPr>
              <a:t>of the Islands</a:t>
            </a:r>
            <a:endParaRPr lang="en-US" sz="5800" dirty="0"/>
          </a:p>
        </p:txBody>
      </p:sp>
      <p:sp>
        <p:nvSpPr>
          <p:cNvPr id="4" name="Text 1"/>
          <p:cNvSpPr/>
          <p:nvPr>
            <p:ph idx="103" type="body" hasCustomPrompt="1"/>
          </p:nvPr>
        </p:nvSpPr>
        <p:spPr>
          <a:xfrm>
            <a:off x="685800" y="4206240"/>
            <a:ext cx="6949440" cy="914400"/>
          </a:xfrm>
          <a:prstGeom prst="rect">
            <a:avLst/>
          </a:prstGeom>
          <a:noFill/>
          <a:ln/>
        </p:spPr>
        <p:txBody>
          <a:bodyPr wrap="square" lIns="0" tIns="0" rIns="0" bIns="0" rtlCol="0" anchor="t"/>
          <a:lstStyle/>
          <a:p>
            <a:pPr algn="l" indent="0" marL="0">
              <a:buNone/>
            </a:pPr>
            <a:r>
              <a:rPr lang="en-US" sz="1800" dirty="0">
                <a:solidFill>
                  <a:schemeClr val="accent6"/>
                </a:solidFill>
              </a:rPr>
              <a:t>Anti-money laundering, counter-terrorist financing and counter-proliferation financing: what every member of the firm must know from day one</a:t>
            </a:r>
            <a:endParaRPr lang="en-US" sz="1800" dirty="0"/>
          </a:p>
        </p:txBody>
      </p:sp>
      <p:sp>
        <p:nvSpPr>
          <p:cNvPr id="5" name="Text 1"/>
          <p:cNvSpPr/>
          <p:nvPr>
            <p:ph idx="104" type="body" hasCustomPrompt="1"/>
          </p:nvPr>
        </p:nvSpPr>
        <p:spPr>
          <a:xfrm>
            <a:off x="685800" y="5349240"/>
            <a:ext cx="7315200" cy="548640"/>
          </a:xfrm>
          <a:prstGeom prst="rect">
            <a:avLst/>
          </a:prstGeom>
          <a:noFill/>
          <a:ln/>
        </p:spPr>
        <p:txBody>
          <a:bodyPr wrap="square" lIns="0" tIns="0" rIns="0" bIns="0" rtlCol="0" anchor="t"/>
          <a:lstStyle/>
          <a:p>
            <a:pPr algn="l" indent="0" marL="0">
              <a:buNone/>
            </a:pPr>
            <a:r>
              <a:rPr lang="en-US" sz="1200" dirty="0">
                <a:solidFill>
                  <a:schemeClr val="bg1"/>
                </a:solidFill>
              </a:rPr>
              <a:t>Presented by [Name], Compliance Officer   ·   Turks and Caicos Islands   ·   [Month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WHY THIS MATTERS</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Every one of us is a gatekeeper</a:t>
            </a:r>
            <a:endParaRPr lang="en-US" sz="3400" dirty="0"/>
          </a:p>
        </p:txBody>
      </p:sp>
      <p:sp>
        <p:nvSpPr>
          <p:cNvPr id="5" name="Reason card"/>
          <p:cNvSpPr/>
          <p:nvPr/>
        </p:nvSpPr>
        <p:spPr>
          <a:xfrm>
            <a:off x="685800" y="2148840"/>
            <a:ext cx="3383280" cy="3291840"/>
          </a:xfrm>
          <a:prstGeom prst="roundRect">
            <a:avLst>
              <a:gd name="adj" fmla="val 3333"/>
            </a:avLst>
          </a:prstGeom>
          <a:solidFill>
            <a:schemeClr val="bg1"/>
          </a:solidFill>
          <a:ln/>
          <a:effectLst>
            <a:outerShdw sx="100000" sy="100000" kx="0" ky="0" algn="bl" rotWithShape="0" blurRad="177800" dist="38100" dir="5400000">
              <a:srgbClr val="0B1F2A">
                <a:alpha val="10000"/>
              </a:srgbClr>
            </a:outerShdw>
          </a:effectLst>
        </p:spPr>
      </p:sp>
      <p:sp>
        <p:nvSpPr>
          <p:cNvPr id="6" name="Icon disc"/>
          <p:cNvSpPr/>
          <p:nvPr/>
        </p:nvSpPr>
        <p:spPr>
          <a:xfrm>
            <a:off x="1051560" y="2532888"/>
            <a:ext cx="713232" cy="713232"/>
          </a:xfrm>
          <a:prstGeom prst="ellipse">
            <a:avLst/>
          </a:prstGeom>
          <a:solidFill>
            <a:schemeClr val="accent1"/>
          </a:solidFill>
          <a:ln/>
        </p:spPr>
      </p:sp>
      <p:pic>
        <p:nvPicPr>
          <p:cNvPr id="7" name="Image 0" descr="Scale icon">    </p:cNvPr>
          <p:cNvPicPr>
            <a:picLocks noChangeAspect="1"/>
          </p:cNvPicPr>
          <p:nvPr/>
        </p:nvPicPr>
        <p:blipFill>
          <a:blip r:embed="rId1"/>
          <a:stretch>
            <a:fillRect/>
          </a:stretch>
        </p:blipFill>
        <p:spPr>
          <a:xfrm>
            <a:off x="1229868" y="2711196"/>
            <a:ext cx="356616" cy="356616"/>
          </a:xfrm>
          <a:prstGeom prst="rect">
            <a:avLst/>
          </a:prstGeom>
        </p:spPr>
      </p:pic>
      <p:sp>
        <p:nvSpPr>
          <p:cNvPr id="8" name="Text 4"/>
          <p:cNvSpPr txBox="1"/>
          <p:nvPr/>
        </p:nvSpPr>
        <p:spPr>
          <a:xfrm>
            <a:off x="1051560" y="3474720"/>
            <a:ext cx="265176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The law requires it</a:t>
            </a:r>
            <a:endParaRPr lang="en-US" sz="2000" dirty="0"/>
          </a:p>
        </p:txBody>
      </p:sp>
      <p:sp>
        <p:nvSpPr>
          <p:cNvPr id="9" name="Text 5"/>
          <p:cNvSpPr txBox="1"/>
          <p:nvPr/>
        </p:nvSpPr>
        <p:spPr>
          <a:xfrm>
            <a:off x="1051560" y="3977640"/>
            <a:ext cx="2651760" cy="1554480"/>
          </a:xfrm>
          <a:prstGeom prst="rect">
            <a:avLst/>
          </a:prstGeom>
          <a:noFill/>
          <a:ln/>
        </p:spPr>
        <p:txBody>
          <a:bodyPr wrap="square" lIns="0" tIns="0" rIns="0" bIns="0" rtlCol="0" anchor="t"/>
          <a:lstStyle/>
          <a:p>
            <a:pPr indent="0" marL="0">
              <a:lnSpc>
                <a:spcPct val="110000"/>
              </a:lnSpc>
              <a:buNone/>
            </a:pPr>
            <a:r>
              <a:rPr lang="en-US" sz="1400" dirty="0">
                <a:solidFill>
                  <a:schemeClr val="tx2"/>
                </a:solidFill>
              </a:rPr>
              <a:t>The Proceeds of Crime Ordinance and the AML/PTF Regulations place duties on the firm and on each employee, including training before and during your work.</a:t>
            </a:r>
            <a:endParaRPr lang="en-US" sz="1400" dirty="0"/>
          </a:p>
        </p:txBody>
      </p:sp>
      <p:sp>
        <p:nvSpPr>
          <p:cNvPr id="10" name="Reason card"/>
          <p:cNvSpPr/>
          <p:nvPr/>
        </p:nvSpPr>
        <p:spPr>
          <a:xfrm>
            <a:off x="4407408" y="2148840"/>
            <a:ext cx="3383280" cy="3291840"/>
          </a:xfrm>
          <a:prstGeom prst="roundRect">
            <a:avLst>
              <a:gd name="adj" fmla="val 3333"/>
            </a:avLst>
          </a:prstGeom>
          <a:solidFill>
            <a:schemeClr val="bg1"/>
          </a:solidFill>
          <a:ln/>
          <a:effectLst>
            <a:outerShdw sx="100000" sy="100000" kx="0" ky="0" algn="bl" rotWithShape="0" blurRad="177800" dist="38100" dir="5400000">
              <a:srgbClr val="0B1F2A">
                <a:alpha val="10000"/>
              </a:srgbClr>
            </a:outerShdw>
          </a:effectLst>
        </p:spPr>
      </p:sp>
      <p:sp>
        <p:nvSpPr>
          <p:cNvPr id="11" name="Icon disc"/>
          <p:cNvSpPr/>
          <p:nvPr/>
        </p:nvSpPr>
        <p:spPr>
          <a:xfrm>
            <a:off x="4773168" y="2532888"/>
            <a:ext cx="713232" cy="713232"/>
          </a:xfrm>
          <a:prstGeom prst="ellipse">
            <a:avLst/>
          </a:prstGeom>
          <a:solidFill>
            <a:schemeClr val="accent1"/>
          </a:solidFill>
          <a:ln/>
        </p:spPr>
      </p:sp>
      <p:pic>
        <p:nvPicPr>
          <p:cNvPr id="12" name="Image 1" descr="User icon">    </p:cNvPr>
          <p:cNvPicPr>
            <a:picLocks noChangeAspect="1"/>
          </p:cNvPicPr>
          <p:nvPr/>
        </p:nvPicPr>
        <p:blipFill>
          <a:blip r:embed="rId2"/>
          <a:stretch>
            <a:fillRect/>
          </a:stretch>
        </p:blipFill>
        <p:spPr>
          <a:xfrm>
            <a:off x="4951476" y="2711196"/>
            <a:ext cx="356616" cy="356616"/>
          </a:xfrm>
          <a:prstGeom prst="rect">
            <a:avLst/>
          </a:prstGeom>
        </p:spPr>
      </p:pic>
      <p:sp>
        <p:nvSpPr>
          <p:cNvPr id="13" name="Text 8"/>
          <p:cNvSpPr txBox="1"/>
          <p:nvPr/>
        </p:nvSpPr>
        <p:spPr>
          <a:xfrm>
            <a:off x="4773168" y="3474720"/>
            <a:ext cx="265176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It is personal</a:t>
            </a:r>
            <a:endParaRPr lang="en-US" sz="2000" dirty="0"/>
          </a:p>
        </p:txBody>
      </p:sp>
      <p:sp>
        <p:nvSpPr>
          <p:cNvPr id="14" name="Text 9"/>
          <p:cNvSpPr txBox="1"/>
          <p:nvPr/>
        </p:nvSpPr>
        <p:spPr>
          <a:xfrm>
            <a:off x="4773168" y="3977640"/>
            <a:ext cx="2651760" cy="1554480"/>
          </a:xfrm>
          <a:prstGeom prst="rect">
            <a:avLst/>
          </a:prstGeom>
          <a:noFill/>
          <a:ln/>
        </p:spPr>
        <p:txBody>
          <a:bodyPr wrap="square" lIns="0" tIns="0" rIns="0" bIns="0" rtlCol="0" anchor="t"/>
          <a:lstStyle/>
          <a:p>
            <a:pPr indent="0" marL="0">
              <a:lnSpc>
                <a:spcPct val="110000"/>
              </a:lnSpc>
              <a:buNone/>
            </a:pPr>
            <a:r>
              <a:rPr lang="en-US" sz="1400" dirty="0">
                <a:solidFill>
                  <a:schemeClr val="tx2"/>
                </a:solidFill>
              </a:rPr>
              <a:t>Money laundering offences, failure to disclose and tipping off can be committed by individuals. "I was only following instructions" is not a defence.</a:t>
            </a:r>
            <a:endParaRPr lang="en-US" sz="1400" dirty="0"/>
          </a:p>
        </p:txBody>
      </p:sp>
      <p:sp>
        <p:nvSpPr>
          <p:cNvPr id="15" name="Reason card"/>
          <p:cNvSpPr/>
          <p:nvPr/>
        </p:nvSpPr>
        <p:spPr>
          <a:xfrm>
            <a:off x="8129016" y="2148840"/>
            <a:ext cx="3383280" cy="3291840"/>
          </a:xfrm>
          <a:prstGeom prst="roundRect">
            <a:avLst>
              <a:gd name="adj" fmla="val 3333"/>
            </a:avLst>
          </a:prstGeom>
          <a:solidFill>
            <a:schemeClr val="bg1"/>
          </a:solidFill>
          <a:ln/>
          <a:effectLst>
            <a:outerShdw sx="100000" sy="100000" kx="0" ky="0" algn="bl" rotWithShape="0" blurRad="177800" dist="38100" dir="5400000">
              <a:srgbClr val="0B1F2A">
                <a:alpha val="10000"/>
              </a:srgbClr>
            </a:outerShdw>
          </a:effectLst>
        </p:spPr>
      </p:sp>
      <p:sp>
        <p:nvSpPr>
          <p:cNvPr id="16" name="Icon disc"/>
          <p:cNvSpPr/>
          <p:nvPr/>
        </p:nvSpPr>
        <p:spPr>
          <a:xfrm>
            <a:off x="8494776" y="2532888"/>
            <a:ext cx="713232" cy="713232"/>
          </a:xfrm>
          <a:prstGeom prst="ellipse">
            <a:avLst/>
          </a:prstGeom>
          <a:solidFill>
            <a:schemeClr val="accent1"/>
          </a:solidFill>
          <a:ln/>
        </p:spPr>
      </p:sp>
      <p:pic>
        <p:nvPicPr>
          <p:cNvPr id="17" name="Image 2" descr="ShieldCheck icon">    </p:cNvPr>
          <p:cNvPicPr>
            <a:picLocks noChangeAspect="1"/>
          </p:cNvPicPr>
          <p:nvPr/>
        </p:nvPicPr>
        <p:blipFill>
          <a:blip r:embed="rId3"/>
          <a:stretch>
            <a:fillRect/>
          </a:stretch>
        </p:blipFill>
        <p:spPr>
          <a:xfrm>
            <a:off x="8673084" y="2711196"/>
            <a:ext cx="356616" cy="356616"/>
          </a:xfrm>
          <a:prstGeom prst="rect">
            <a:avLst/>
          </a:prstGeom>
        </p:spPr>
      </p:pic>
      <p:sp>
        <p:nvSpPr>
          <p:cNvPr id="18" name="Text 12"/>
          <p:cNvSpPr txBox="1"/>
          <p:nvPr/>
        </p:nvSpPr>
        <p:spPr>
          <a:xfrm>
            <a:off x="8494776" y="3474720"/>
            <a:ext cx="265176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Our name is on it</a:t>
            </a:r>
            <a:endParaRPr lang="en-US" sz="2000" dirty="0"/>
          </a:p>
        </p:txBody>
      </p:sp>
      <p:sp>
        <p:nvSpPr>
          <p:cNvPr id="19" name="Text 13"/>
          <p:cNvSpPr txBox="1"/>
          <p:nvPr/>
        </p:nvSpPr>
        <p:spPr>
          <a:xfrm>
            <a:off x="8494776" y="3977640"/>
            <a:ext cx="2651760" cy="1554480"/>
          </a:xfrm>
          <a:prstGeom prst="rect">
            <a:avLst/>
          </a:prstGeom>
          <a:noFill/>
          <a:ln/>
        </p:spPr>
        <p:txBody>
          <a:bodyPr wrap="square" lIns="0" tIns="0" rIns="0" bIns="0" rtlCol="0" anchor="t"/>
          <a:lstStyle/>
          <a:p>
            <a:pPr indent="0" marL="0">
              <a:lnSpc>
                <a:spcPct val="110000"/>
              </a:lnSpc>
              <a:buNone/>
            </a:pPr>
            <a:r>
              <a:rPr lang="en-US" sz="1400" dirty="0">
                <a:solidFill>
                  <a:schemeClr val="tx2"/>
                </a:solidFill>
              </a:rPr>
              <a:t>One badly handled matter can cost the firm its standing with the FSC, its banks and its clients, and take years to repair.</a:t>
            </a:r>
            <a:endParaRPr lang="en-US" sz="1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THE NEXT 45 MINUTES</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What we will cover</a:t>
            </a:r>
            <a:endParaRPr lang="en-US" sz="3400" dirty="0"/>
          </a:p>
        </p:txBody>
      </p:sp>
      <p:sp>
        <p:nvSpPr>
          <p:cNvPr id="5" name="Agenda item"/>
          <p:cNvSpPr/>
          <p:nvPr/>
        </p:nvSpPr>
        <p:spPr>
          <a:xfrm>
            <a:off x="685800" y="1874520"/>
            <a:ext cx="5257800" cy="1188720"/>
          </a:xfrm>
          <a:prstGeom prst="roundRect">
            <a:avLst>
              <a:gd name="adj" fmla="val 9231"/>
            </a:avLst>
          </a:prstGeom>
          <a:solidFill>
            <a:schemeClr val="bg2"/>
          </a:solidFill>
          <a:ln/>
        </p:spPr>
      </p:sp>
      <p:sp>
        <p:nvSpPr>
          <p:cNvPr id="6" name="Text 3"/>
          <p:cNvSpPr txBox="1"/>
          <p:nvPr/>
        </p:nvSpPr>
        <p:spPr>
          <a:xfrm>
            <a:off x="1005840" y="2112264"/>
            <a:ext cx="1005840" cy="731520"/>
          </a:xfrm>
          <a:prstGeom prst="rect">
            <a:avLst/>
          </a:prstGeom>
          <a:noFill/>
          <a:ln/>
        </p:spPr>
        <p:txBody>
          <a:bodyPr wrap="square" lIns="0" tIns="0" rIns="0" bIns="0" rtlCol="0" anchor="t"/>
          <a:lstStyle/>
          <a:p>
            <a:pPr indent="0" marL="0">
              <a:buNone/>
            </a:pPr>
            <a:r>
              <a:rPr lang="en-US" sz="3600" dirty="0">
                <a:solidFill>
                  <a:schemeClr val="accent1"/>
                </a:solidFill>
                <a:latin typeface="Cambria" pitchFamily="34" charset="0"/>
                <a:ea typeface="Cambria" pitchFamily="34" charset="-122"/>
                <a:cs typeface="Cambria" pitchFamily="34" charset="-120"/>
              </a:rPr>
              <a:t>01</a:t>
            </a:r>
            <a:endParaRPr lang="en-US" sz="3600" dirty="0"/>
          </a:p>
        </p:txBody>
      </p:sp>
      <p:sp>
        <p:nvSpPr>
          <p:cNvPr id="7" name="Text 4"/>
          <p:cNvSpPr txBox="1"/>
          <p:nvPr/>
        </p:nvSpPr>
        <p:spPr>
          <a:xfrm>
            <a:off x="2011680" y="2121408"/>
            <a:ext cx="365760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The threat</a:t>
            </a:r>
            <a:endParaRPr lang="en-US" sz="1900" dirty="0"/>
          </a:p>
        </p:txBody>
      </p:sp>
      <p:sp>
        <p:nvSpPr>
          <p:cNvPr id="8" name="Text 5"/>
          <p:cNvSpPr txBox="1"/>
          <p:nvPr/>
        </p:nvSpPr>
        <p:spPr>
          <a:xfrm>
            <a:off x="2011680" y="2514600"/>
            <a:ext cx="3657600" cy="365760"/>
          </a:xfrm>
          <a:prstGeom prst="rect">
            <a:avLst/>
          </a:prstGeom>
          <a:noFill/>
          <a:ln/>
        </p:spPr>
        <p:txBody>
          <a:bodyPr wrap="square" lIns="0" tIns="0" rIns="0" bIns="0" rtlCol="0" anchor="t"/>
          <a:lstStyle/>
          <a:p>
            <a:pPr indent="0" marL="0">
              <a:buNone/>
            </a:pPr>
            <a:r>
              <a:rPr lang="en-US" sz="1400" dirty="0">
                <a:solidFill>
                  <a:schemeClr val="tx2"/>
                </a:solidFill>
              </a:rPr>
              <a:t>Money laundering, terrorist and proliferation financing</a:t>
            </a:r>
            <a:endParaRPr lang="en-US" sz="1400" dirty="0"/>
          </a:p>
        </p:txBody>
      </p:sp>
      <p:sp>
        <p:nvSpPr>
          <p:cNvPr id="9" name="Agenda item"/>
          <p:cNvSpPr/>
          <p:nvPr/>
        </p:nvSpPr>
        <p:spPr>
          <a:xfrm>
            <a:off x="6245352" y="1874520"/>
            <a:ext cx="5257800" cy="1188720"/>
          </a:xfrm>
          <a:prstGeom prst="roundRect">
            <a:avLst>
              <a:gd name="adj" fmla="val 9231"/>
            </a:avLst>
          </a:prstGeom>
          <a:solidFill>
            <a:schemeClr val="bg2"/>
          </a:solidFill>
          <a:ln/>
        </p:spPr>
      </p:sp>
      <p:sp>
        <p:nvSpPr>
          <p:cNvPr id="10" name="Text 7"/>
          <p:cNvSpPr txBox="1"/>
          <p:nvPr/>
        </p:nvSpPr>
        <p:spPr>
          <a:xfrm>
            <a:off x="6565392" y="2112264"/>
            <a:ext cx="1005840" cy="731520"/>
          </a:xfrm>
          <a:prstGeom prst="rect">
            <a:avLst/>
          </a:prstGeom>
          <a:noFill/>
          <a:ln/>
        </p:spPr>
        <p:txBody>
          <a:bodyPr wrap="square" lIns="0" tIns="0" rIns="0" bIns="0" rtlCol="0" anchor="t"/>
          <a:lstStyle/>
          <a:p>
            <a:pPr indent="0" marL="0">
              <a:buNone/>
            </a:pPr>
            <a:r>
              <a:rPr lang="en-US" sz="3600" dirty="0">
                <a:solidFill>
                  <a:schemeClr val="accent1"/>
                </a:solidFill>
                <a:latin typeface="Cambria" pitchFamily="34" charset="0"/>
                <a:ea typeface="Cambria" pitchFamily="34" charset="-122"/>
                <a:cs typeface="Cambria" pitchFamily="34" charset="-120"/>
              </a:rPr>
              <a:t>02</a:t>
            </a:r>
            <a:endParaRPr lang="en-US" sz="3600" dirty="0"/>
          </a:p>
        </p:txBody>
      </p:sp>
      <p:sp>
        <p:nvSpPr>
          <p:cNvPr id="11" name="Text 8"/>
          <p:cNvSpPr txBox="1"/>
          <p:nvPr/>
        </p:nvSpPr>
        <p:spPr>
          <a:xfrm>
            <a:off x="7571232" y="2121408"/>
            <a:ext cx="365760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The law</a:t>
            </a:r>
            <a:endParaRPr lang="en-US" sz="1900" dirty="0"/>
          </a:p>
        </p:txBody>
      </p:sp>
      <p:sp>
        <p:nvSpPr>
          <p:cNvPr id="12" name="Text 9"/>
          <p:cNvSpPr txBox="1"/>
          <p:nvPr/>
        </p:nvSpPr>
        <p:spPr>
          <a:xfrm>
            <a:off x="7571232" y="2514600"/>
            <a:ext cx="3657600" cy="365760"/>
          </a:xfrm>
          <a:prstGeom prst="rect">
            <a:avLst/>
          </a:prstGeom>
          <a:noFill/>
          <a:ln/>
        </p:spPr>
        <p:txBody>
          <a:bodyPr wrap="square" lIns="0" tIns="0" rIns="0" bIns="0" rtlCol="0" anchor="t"/>
          <a:lstStyle/>
          <a:p>
            <a:pPr indent="0" marL="0">
              <a:buNone/>
            </a:pPr>
            <a:r>
              <a:rPr lang="en-US" sz="1400" dirty="0">
                <a:solidFill>
                  <a:schemeClr val="tx2"/>
                </a:solidFill>
              </a:rPr>
              <a:t>The TCI framework and the offences that apply to you</a:t>
            </a:r>
            <a:endParaRPr lang="en-US" sz="1400" dirty="0"/>
          </a:p>
        </p:txBody>
      </p:sp>
      <p:sp>
        <p:nvSpPr>
          <p:cNvPr id="13" name="Agenda item"/>
          <p:cNvSpPr/>
          <p:nvPr/>
        </p:nvSpPr>
        <p:spPr>
          <a:xfrm>
            <a:off x="685800" y="3264408"/>
            <a:ext cx="5257800" cy="1188720"/>
          </a:xfrm>
          <a:prstGeom prst="roundRect">
            <a:avLst>
              <a:gd name="adj" fmla="val 9231"/>
            </a:avLst>
          </a:prstGeom>
          <a:solidFill>
            <a:schemeClr val="bg2"/>
          </a:solidFill>
          <a:ln/>
        </p:spPr>
      </p:sp>
      <p:sp>
        <p:nvSpPr>
          <p:cNvPr id="14" name="Text 11"/>
          <p:cNvSpPr txBox="1"/>
          <p:nvPr/>
        </p:nvSpPr>
        <p:spPr>
          <a:xfrm>
            <a:off x="1005840" y="3502152"/>
            <a:ext cx="1005840" cy="731520"/>
          </a:xfrm>
          <a:prstGeom prst="rect">
            <a:avLst/>
          </a:prstGeom>
          <a:noFill/>
          <a:ln/>
        </p:spPr>
        <p:txBody>
          <a:bodyPr wrap="square" lIns="0" tIns="0" rIns="0" bIns="0" rtlCol="0" anchor="t"/>
          <a:lstStyle/>
          <a:p>
            <a:pPr indent="0" marL="0">
              <a:buNone/>
            </a:pPr>
            <a:r>
              <a:rPr lang="en-US" sz="3600" dirty="0">
                <a:solidFill>
                  <a:schemeClr val="accent1"/>
                </a:solidFill>
                <a:latin typeface="Cambria" pitchFamily="34" charset="0"/>
                <a:ea typeface="Cambria" pitchFamily="34" charset="-122"/>
                <a:cs typeface="Cambria" pitchFamily="34" charset="-120"/>
              </a:rPr>
              <a:t>03</a:t>
            </a:r>
            <a:endParaRPr lang="en-US" sz="3600" dirty="0"/>
          </a:p>
        </p:txBody>
      </p:sp>
      <p:sp>
        <p:nvSpPr>
          <p:cNvPr id="15" name="Text 12"/>
          <p:cNvSpPr txBox="1"/>
          <p:nvPr/>
        </p:nvSpPr>
        <p:spPr>
          <a:xfrm>
            <a:off x="2011680" y="3511296"/>
            <a:ext cx="365760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Risk</a:t>
            </a:r>
            <a:endParaRPr lang="en-US" sz="1900" dirty="0"/>
          </a:p>
        </p:txBody>
      </p:sp>
      <p:sp>
        <p:nvSpPr>
          <p:cNvPr id="16" name="Text 13"/>
          <p:cNvSpPr txBox="1"/>
          <p:nvPr/>
        </p:nvSpPr>
        <p:spPr>
          <a:xfrm>
            <a:off x="2011680" y="3904488"/>
            <a:ext cx="3657600" cy="365760"/>
          </a:xfrm>
          <a:prstGeom prst="rect">
            <a:avLst/>
          </a:prstGeom>
          <a:noFill/>
          <a:ln/>
        </p:spPr>
        <p:txBody>
          <a:bodyPr wrap="square" lIns="0" tIns="0" rIns="0" bIns="0" rtlCol="0" anchor="t"/>
          <a:lstStyle/>
          <a:p>
            <a:pPr indent="0" marL="0">
              <a:buNone/>
            </a:pPr>
            <a:r>
              <a:rPr lang="en-US" sz="1400" dirty="0">
                <a:solidFill>
                  <a:schemeClr val="tx2"/>
                </a:solidFill>
              </a:rPr>
              <a:t>How we assess clients and matters</a:t>
            </a:r>
            <a:endParaRPr lang="en-US" sz="1400" dirty="0"/>
          </a:p>
        </p:txBody>
      </p:sp>
      <p:sp>
        <p:nvSpPr>
          <p:cNvPr id="17" name="Agenda item"/>
          <p:cNvSpPr/>
          <p:nvPr/>
        </p:nvSpPr>
        <p:spPr>
          <a:xfrm>
            <a:off x="6245352" y="3264408"/>
            <a:ext cx="5257800" cy="1188720"/>
          </a:xfrm>
          <a:prstGeom prst="roundRect">
            <a:avLst>
              <a:gd name="adj" fmla="val 9231"/>
            </a:avLst>
          </a:prstGeom>
          <a:solidFill>
            <a:schemeClr val="bg2"/>
          </a:solidFill>
          <a:ln/>
        </p:spPr>
      </p:sp>
      <p:sp>
        <p:nvSpPr>
          <p:cNvPr id="18" name="Text 15"/>
          <p:cNvSpPr txBox="1"/>
          <p:nvPr/>
        </p:nvSpPr>
        <p:spPr>
          <a:xfrm>
            <a:off x="6565392" y="3502152"/>
            <a:ext cx="1005840" cy="731520"/>
          </a:xfrm>
          <a:prstGeom prst="rect">
            <a:avLst/>
          </a:prstGeom>
          <a:noFill/>
          <a:ln/>
        </p:spPr>
        <p:txBody>
          <a:bodyPr wrap="square" lIns="0" tIns="0" rIns="0" bIns="0" rtlCol="0" anchor="t"/>
          <a:lstStyle/>
          <a:p>
            <a:pPr indent="0" marL="0">
              <a:buNone/>
            </a:pPr>
            <a:r>
              <a:rPr lang="en-US" sz="3600" dirty="0">
                <a:solidFill>
                  <a:schemeClr val="accent1"/>
                </a:solidFill>
                <a:latin typeface="Cambria" pitchFamily="34" charset="0"/>
                <a:ea typeface="Cambria" pitchFamily="34" charset="-122"/>
                <a:cs typeface="Cambria" pitchFamily="34" charset="-120"/>
              </a:rPr>
              <a:t>04</a:t>
            </a:r>
            <a:endParaRPr lang="en-US" sz="3600" dirty="0"/>
          </a:p>
        </p:txBody>
      </p:sp>
      <p:sp>
        <p:nvSpPr>
          <p:cNvPr id="19" name="Text 16"/>
          <p:cNvSpPr txBox="1"/>
          <p:nvPr/>
        </p:nvSpPr>
        <p:spPr>
          <a:xfrm>
            <a:off x="7571232" y="3511296"/>
            <a:ext cx="365760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Due diligence</a:t>
            </a:r>
            <a:endParaRPr lang="en-US" sz="1900" dirty="0"/>
          </a:p>
        </p:txBody>
      </p:sp>
      <p:sp>
        <p:nvSpPr>
          <p:cNvPr id="20" name="Text 17"/>
          <p:cNvSpPr txBox="1"/>
          <p:nvPr/>
        </p:nvSpPr>
        <p:spPr>
          <a:xfrm>
            <a:off x="7571232" y="3904488"/>
            <a:ext cx="3657600" cy="365760"/>
          </a:xfrm>
          <a:prstGeom prst="rect">
            <a:avLst/>
          </a:prstGeom>
          <a:noFill/>
          <a:ln/>
        </p:spPr>
        <p:txBody>
          <a:bodyPr wrap="square" lIns="0" tIns="0" rIns="0" bIns="0" rtlCol="0" anchor="t"/>
          <a:lstStyle/>
          <a:p>
            <a:pPr indent="0" marL="0">
              <a:buNone/>
            </a:pPr>
            <a:r>
              <a:rPr lang="en-US" sz="1400" dirty="0">
                <a:solidFill>
                  <a:schemeClr val="tx2"/>
                </a:solidFill>
              </a:rPr>
              <a:t>Knowing who we act for, and where the money comes from</a:t>
            </a:r>
            <a:endParaRPr lang="en-US" sz="1400" dirty="0"/>
          </a:p>
        </p:txBody>
      </p:sp>
      <p:sp>
        <p:nvSpPr>
          <p:cNvPr id="21" name="Agenda item"/>
          <p:cNvSpPr/>
          <p:nvPr/>
        </p:nvSpPr>
        <p:spPr>
          <a:xfrm>
            <a:off x="685800" y="4654296"/>
            <a:ext cx="5257800" cy="1188720"/>
          </a:xfrm>
          <a:prstGeom prst="roundRect">
            <a:avLst>
              <a:gd name="adj" fmla="val 9231"/>
            </a:avLst>
          </a:prstGeom>
          <a:solidFill>
            <a:schemeClr val="bg2"/>
          </a:solidFill>
          <a:ln/>
        </p:spPr>
      </p:sp>
      <p:sp>
        <p:nvSpPr>
          <p:cNvPr id="22" name="Text 19"/>
          <p:cNvSpPr txBox="1"/>
          <p:nvPr/>
        </p:nvSpPr>
        <p:spPr>
          <a:xfrm>
            <a:off x="1005840" y="4892040"/>
            <a:ext cx="1005840" cy="731520"/>
          </a:xfrm>
          <a:prstGeom prst="rect">
            <a:avLst/>
          </a:prstGeom>
          <a:noFill/>
          <a:ln/>
        </p:spPr>
        <p:txBody>
          <a:bodyPr wrap="square" lIns="0" tIns="0" rIns="0" bIns="0" rtlCol="0" anchor="t"/>
          <a:lstStyle/>
          <a:p>
            <a:pPr indent="0" marL="0">
              <a:buNone/>
            </a:pPr>
            <a:r>
              <a:rPr lang="en-US" sz="3600" dirty="0">
                <a:solidFill>
                  <a:schemeClr val="accent1"/>
                </a:solidFill>
                <a:latin typeface="Cambria" pitchFamily="34" charset="0"/>
                <a:ea typeface="Cambria" pitchFamily="34" charset="-122"/>
                <a:cs typeface="Cambria" pitchFamily="34" charset="-120"/>
              </a:rPr>
              <a:t>05</a:t>
            </a:r>
            <a:endParaRPr lang="en-US" sz="3600" dirty="0"/>
          </a:p>
        </p:txBody>
      </p:sp>
      <p:sp>
        <p:nvSpPr>
          <p:cNvPr id="23" name="Text 20"/>
          <p:cNvSpPr txBox="1"/>
          <p:nvPr/>
        </p:nvSpPr>
        <p:spPr>
          <a:xfrm>
            <a:off x="2011680" y="4901184"/>
            <a:ext cx="365760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Red flags</a:t>
            </a:r>
            <a:endParaRPr lang="en-US" sz="1900" dirty="0"/>
          </a:p>
        </p:txBody>
      </p:sp>
      <p:sp>
        <p:nvSpPr>
          <p:cNvPr id="24" name="Text 21"/>
          <p:cNvSpPr txBox="1"/>
          <p:nvPr/>
        </p:nvSpPr>
        <p:spPr>
          <a:xfrm>
            <a:off x="2011680" y="5294376"/>
            <a:ext cx="3657600" cy="365760"/>
          </a:xfrm>
          <a:prstGeom prst="rect">
            <a:avLst/>
          </a:prstGeom>
          <a:noFill/>
          <a:ln/>
        </p:spPr>
        <p:txBody>
          <a:bodyPr wrap="square" lIns="0" tIns="0" rIns="0" bIns="0" rtlCol="0" anchor="t"/>
          <a:lstStyle/>
          <a:p>
            <a:pPr indent="0" marL="0">
              <a:buNone/>
            </a:pPr>
            <a:r>
              <a:rPr lang="en-US" sz="1400" dirty="0">
                <a:solidFill>
                  <a:schemeClr val="tx2"/>
                </a:solidFill>
              </a:rPr>
              <a:t>Warning signs in our practice areas</a:t>
            </a:r>
            <a:endParaRPr lang="en-US" sz="1400" dirty="0"/>
          </a:p>
        </p:txBody>
      </p:sp>
      <p:sp>
        <p:nvSpPr>
          <p:cNvPr id="25" name="Agenda item"/>
          <p:cNvSpPr/>
          <p:nvPr/>
        </p:nvSpPr>
        <p:spPr>
          <a:xfrm>
            <a:off x="6245352" y="4654296"/>
            <a:ext cx="5257800" cy="1188720"/>
          </a:xfrm>
          <a:prstGeom prst="roundRect">
            <a:avLst>
              <a:gd name="adj" fmla="val 9231"/>
            </a:avLst>
          </a:prstGeom>
          <a:solidFill>
            <a:schemeClr val="bg2"/>
          </a:solidFill>
          <a:ln/>
        </p:spPr>
      </p:sp>
      <p:sp>
        <p:nvSpPr>
          <p:cNvPr id="26" name="Text 23"/>
          <p:cNvSpPr txBox="1"/>
          <p:nvPr/>
        </p:nvSpPr>
        <p:spPr>
          <a:xfrm>
            <a:off x="6565392" y="4892040"/>
            <a:ext cx="1005840" cy="731520"/>
          </a:xfrm>
          <a:prstGeom prst="rect">
            <a:avLst/>
          </a:prstGeom>
          <a:noFill/>
          <a:ln/>
        </p:spPr>
        <p:txBody>
          <a:bodyPr wrap="square" lIns="0" tIns="0" rIns="0" bIns="0" rtlCol="0" anchor="t"/>
          <a:lstStyle/>
          <a:p>
            <a:pPr indent="0" marL="0">
              <a:buNone/>
            </a:pPr>
            <a:r>
              <a:rPr lang="en-US" sz="3600" dirty="0">
                <a:solidFill>
                  <a:schemeClr val="accent1"/>
                </a:solidFill>
                <a:latin typeface="Cambria" pitchFamily="34" charset="0"/>
                <a:ea typeface="Cambria" pitchFamily="34" charset="-122"/>
                <a:cs typeface="Cambria" pitchFamily="34" charset="-120"/>
              </a:rPr>
              <a:t>06</a:t>
            </a:r>
            <a:endParaRPr lang="en-US" sz="3600" dirty="0"/>
          </a:p>
        </p:txBody>
      </p:sp>
      <p:sp>
        <p:nvSpPr>
          <p:cNvPr id="27" name="Text 24"/>
          <p:cNvSpPr txBox="1"/>
          <p:nvPr/>
        </p:nvSpPr>
        <p:spPr>
          <a:xfrm>
            <a:off x="7571232" y="4901184"/>
            <a:ext cx="365760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Speaking up</a:t>
            </a:r>
            <a:endParaRPr lang="en-US" sz="1900" dirty="0"/>
          </a:p>
        </p:txBody>
      </p:sp>
      <p:sp>
        <p:nvSpPr>
          <p:cNvPr id="28" name="Text 25"/>
          <p:cNvSpPr txBox="1"/>
          <p:nvPr/>
        </p:nvSpPr>
        <p:spPr>
          <a:xfrm>
            <a:off x="7571232" y="5294376"/>
            <a:ext cx="3657600" cy="365760"/>
          </a:xfrm>
          <a:prstGeom prst="rect">
            <a:avLst/>
          </a:prstGeom>
          <a:noFill/>
          <a:ln/>
        </p:spPr>
        <p:txBody>
          <a:bodyPr wrap="square" lIns="0" tIns="0" rIns="0" bIns="0" rtlCol="0" anchor="t"/>
          <a:lstStyle/>
          <a:p>
            <a:pPr indent="0" marL="0">
              <a:buNone/>
            </a:pPr>
            <a:r>
              <a:rPr lang="en-US" sz="1400" dirty="0">
                <a:solidFill>
                  <a:schemeClr val="tx2"/>
                </a:solidFill>
              </a:rPr>
              <a:t>Internal reporting, tipping off and record keeping</a:t>
            </a:r>
            <a:endParaRPr lang="en-US" sz="1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685800" y="1097280"/>
            <a:ext cx="3657600" cy="1645920"/>
          </a:xfrm>
          <a:prstGeom prst="rect">
            <a:avLst/>
          </a:prstGeom>
          <a:noFill/>
          <a:ln/>
        </p:spPr>
        <p:txBody>
          <a:bodyPr wrap="square" lIns="0" tIns="0" rIns="0" bIns="0" rtlCol="0" anchor="b"/>
          <a:lstStyle/>
          <a:p>
            <a:pPr algn="l" indent="0" marL="0">
              <a:buNone/>
            </a:pPr>
            <a:r>
              <a:rPr lang="en-US" sz="11000" dirty="0">
                <a:solidFill>
                  <a:schemeClr val="accent1"/>
                </a:solidFill>
                <a:latin typeface="Cambria" pitchFamily="34" charset="0"/>
                <a:ea typeface="Cambria" pitchFamily="34" charset="-122"/>
                <a:cs typeface="Cambria" pitchFamily="34" charset="-120"/>
              </a:rPr>
              <a:t>01</a:t>
            </a:r>
            <a:endParaRPr lang="en-US" sz="11000" dirty="0"/>
          </a:p>
        </p:txBody>
      </p:sp>
      <p:sp>
        <p:nvSpPr>
          <p:cNvPr id="3" name="Text 2"/>
          <p:cNvSpPr/>
          <p:nvPr>
            <p:ph idx="103" type="title" hasCustomPrompt="1"/>
          </p:nvPr>
        </p:nvSpPr>
        <p:spPr>
          <a:xfrm>
            <a:off x="685800" y="2880360"/>
            <a:ext cx="8229600" cy="1188720"/>
          </a:xfrm>
          <a:prstGeom prst="rect">
            <a:avLst/>
          </a:prstGeom>
          <a:noFill/>
          <a:ln/>
        </p:spPr>
        <p:txBody>
          <a:bodyPr wrap="square" lIns="0" tIns="0" rIns="0" bIns="0" rtlCol="0" anchor="t"/>
          <a:lstStyle/>
          <a:p>
            <a:pPr algn="l" indent="0" marL="0">
              <a:buNone/>
            </a:pPr>
            <a:r>
              <a:rPr lang="en-US" sz="4400" dirty="0">
                <a:solidFill>
                  <a:schemeClr val="bg1"/>
                </a:solidFill>
                <a:latin typeface="Cambria" pitchFamily="34" charset="0"/>
                <a:ea typeface="Cambria" pitchFamily="34" charset="-122"/>
                <a:cs typeface="Cambria" pitchFamily="34" charset="-120"/>
              </a:rPr>
              <a:t>The threat</a:t>
            </a:r>
            <a:endParaRPr lang="en-US" sz="4400" dirty="0"/>
          </a:p>
        </p:txBody>
      </p:sp>
      <p:sp>
        <p:nvSpPr>
          <p:cNvPr id="4" name="Text 2"/>
          <p:cNvSpPr/>
          <p:nvPr>
            <p:ph idx="104" type="body" hasCustomPrompt="1"/>
          </p:nvPr>
        </p:nvSpPr>
        <p:spPr>
          <a:xfrm>
            <a:off x="685800" y="4160520"/>
            <a:ext cx="6583680" cy="1097280"/>
          </a:xfrm>
          <a:prstGeom prst="rect">
            <a:avLst/>
          </a:prstGeom>
          <a:noFill/>
          <a:ln/>
        </p:spPr>
        <p:txBody>
          <a:bodyPr wrap="square" lIns="0" tIns="0" rIns="0" bIns="0" rtlCol="0" anchor="t"/>
          <a:lstStyle/>
          <a:p>
            <a:pPr algn="l" indent="0" marL="0">
              <a:buNone/>
            </a:pPr>
            <a:r>
              <a:rPr lang="en-US" sz="1800" dirty="0">
                <a:solidFill>
                  <a:schemeClr val="accent6"/>
                </a:solidFill>
              </a:rPr>
              <a:t>What money laundering, terrorist financing and proliferation financing look like, and why criminals come to firms like ours</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01 · THE THREAT</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Money laundering happens in three stages</a:t>
            </a:r>
            <a:endParaRPr lang="en-US" sz="3400" dirty="0"/>
          </a:p>
        </p:txBody>
      </p:sp>
      <p:sp>
        <p:nvSpPr>
          <p:cNvPr id="5" name="Stage card"/>
          <p:cNvSpPr/>
          <p:nvPr/>
        </p:nvSpPr>
        <p:spPr>
          <a:xfrm>
            <a:off x="685800" y="1920240"/>
            <a:ext cx="3310128" cy="3977640"/>
          </a:xfrm>
          <a:prstGeom prst="roundRect">
            <a:avLst>
              <a:gd name="adj" fmla="val 3315"/>
            </a:avLst>
          </a:prstGeom>
          <a:solidFill>
            <a:schemeClr val="bg1"/>
          </a:solidFill>
          <a:ln/>
          <a:effectLst>
            <a:outerShdw sx="100000" sy="100000" kx="0" ky="0" algn="bl" rotWithShape="0" blurRad="177800" dist="38100" dir="5400000">
              <a:srgbClr val="0B1F2A">
                <a:alpha val="10000"/>
              </a:srgbClr>
            </a:outerShdw>
          </a:effectLst>
        </p:spPr>
      </p:sp>
      <p:sp>
        <p:nvSpPr>
          <p:cNvPr id="6" name="Icon disc"/>
          <p:cNvSpPr/>
          <p:nvPr/>
        </p:nvSpPr>
        <p:spPr>
          <a:xfrm>
            <a:off x="1033272" y="2286000"/>
            <a:ext cx="658368" cy="658368"/>
          </a:xfrm>
          <a:prstGeom prst="ellipse">
            <a:avLst/>
          </a:prstGeom>
          <a:solidFill>
            <a:schemeClr val="accent1"/>
          </a:solidFill>
          <a:ln/>
        </p:spPr>
      </p:sp>
      <p:pic>
        <p:nvPicPr>
          <p:cNvPr id="7" name="Image 0" descr="Coins icon">    </p:cNvPr>
          <p:cNvPicPr>
            <a:picLocks noChangeAspect="1"/>
          </p:cNvPicPr>
          <p:nvPr/>
        </p:nvPicPr>
        <p:blipFill>
          <a:blip r:embed="rId1"/>
          <a:stretch>
            <a:fillRect/>
          </a:stretch>
        </p:blipFill>
        <p:spPr>
          <a:xfrm>
            <a:off x="1197864" y="2450592"/>
            <a:ext cx="329184" cy="329184"/>
          </a:xfrm>
          <a:prstGeom prst="rect">
            <a:avLst/>
          </a:prstGeom>
        </p:spPr>
      </p:pic>
      <p:sp>
        <p:nvSpPr>
          <p:cNvPr id="8" name="Text 4"/>
          <p:cNvSpPr txBox="1"/>
          <p:nvPr/>
        </p:nvSpPr>
        <p:spPr>
          <a:xfrm>
            <a:off x="1874520" y="2377440"/>
            <a:ext cx="1828800" cy="228600"/>
          </a:xfrm>
          <a:prstGeom prst="rect">
            <a:avLst/>
          </a:prstGeom>
          <a:noFill/>
          <a:ln/>
        </p:spPr>
        <p:txBody>
          <a:bodyPr wrap="square" lIns="0" tIns="0" rIns="0" bIns="0" rtlCol="0" anchor="t"/>
          <a:lstStyle/>
          <a:p>
            <a:pPr indent="0" marL="0">
              <a:buNone/>
            </a:pPr>
            <a:r>
              <a:rPr lang="en-US" sz="1000" b="1" spc="300" kern="0" dirty="0">
                <a:solidFill>
                  <a:schemeClr val="accent1"/>
                </a:solidFill>
              </a:rPr>
              <a:t>STAGE 1</a:t>
            </a:r>
            <a:endParaRPr lang="en-US" sz="1000" dirty="0"/>
          </a:p>
        </p:txBody>
      </p:sp>
      <p:sp>
        <p:nvSpPr>
          <p:cNvPr id="9" name="Text 5"/>
          <p:cNvSpPr txBox="1"/>
          <p:nvPr/>
        </p:nvSpPr>
        <p:spPr>
          <a:xfrm>
            <a:off x="1874520" y="2596896"/>
            <a:ext cx="201168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Placement</a:t>
            </a:r>
            <a:endParaRPr lang="en-US" sz="2200" dirty="0"/>
          </a:p>
        </p:txBody>
      </p:sp>
      <p:sp>
        <p:nvSpPr>
          <p:cNvPr id="10" name="Text 6"/>
          <p:cNvSpPr txBox="1"/>
          <p:nvPr/>
        </p:nvSpPr>
        <p:spPr>
          <a:xfrm>
            <a:off x="1033272" y="3200400"/>
            <a:ext cx="2615184" cy="868680"/>
          </a:xfrm>
          <a:prstGeom prst="rect">
            <a:avLst/>
          </a:prstGeom>
          <a:noFill/>
          <a:ln/>
        </p:spPr>
        <p:txBody>
          <a:bodyPr wrap="square" lIns="0" tIns="0" rIns="0" bIns="0" rtlCol="0" anchor="t"/>
          <a:lstStyle/>
          <a:p>
            <a:pPr indent="0" marL="0">
              <a:buNone/>
            </a:pPr>
            <a:r>
              <a:rPr lang="en-US" sz="1400" dirty="0">
                <a:solidFill>
                  <a:schemeClr val="tx2"/>
                </a:solidFill>
              </a:rPr>
              <a:t>Criminal cash or funds first enter the financial system.</a:t>
            </a:r>
            <a:endParaRPr lang="en-US" sz="1400" dirty="0"/>
          </a:p>
        </p:txBody>
      </p:sp>
      <p:sp>
        <p:nvSpPr>
          <p:cNvPr id="11" name="Example panel"/>
          <p:cNvSpPr/>
          <p:nvPr/>
        </p:nvSpPr>
        <p:spPr>
          <a:xfrm>
            <a:off x="914400" y="4251960"/>
            <a:ext cx="2852928" cy="1417320"/>
          </a:xfrm>
          <a:prstGeom prst="roundRect">
            <a:avLst>
              <a:gd name="adj" fmla="val 5161"/>
            </a:avLst>
          </a:prstGeom>
          <a:solidFill>
            <a:schemeClr val="bg2"/>
          </a:solidFill>
          <a:ln/>
        </p:spPr>
      </p:sp>
      <p:sp>
        <p:nvSpPr>
          <p:cNvPr id="12" name="Text 8"/>
          <p:cNvSpPr txBox="1"/>
          <p:nvPr/>
        </p:nvSpPr>
        <p:spPr>
          <a:xfrm>
            <a:off x="1097280" y="4389120"/>
            <a:ext cx="2743200" cy="228600"/>
          </a:xfrm>
          <a:prstGeom prst="rect">
            <a:avLst/>
          </a:prstGeom>
          <a:noFill/>
          <a:ln/>
        </p:spPr>
        <p:txBody>
          <a:bodyPr wrap="square" lIns="0" tIns="0" rIns="0" bIns="0" rtlCol="0" anchor="t"/>
          <a:lstStyle/>
          <a:p>
            <a:pPr indent="0" marL="0">
              <a:buNone/>
            </a:pPr>
            <a:r>
              <a:rPr lang="en-US" sz="900" b="1" spc="300" kern="0" dirty="0">
                <a:solidFill>
                  <a:schemeClr val="accent4"/>
                </a:solidFill>
              </a:rPr>
              <a:t>IN OUR PRACTICE</a:t>
            </a:r>
            <a:endParaRPr lang="en-US" sz="900" dirty="0"/>
          </a:p>
        </p:txBody>
      </p:sp>
      <p:sp>
        <p:nvSpPr>
          <p:cNvPr id="13" name="Text 9"/>
          <p:cNvSpPr txBox="1"/>
          <p:nvPr/>
        </p:nvSpPr>
        <p:spPr>
          <a:xfrm>
            <a:off x="1097280" y="4636008"/>
            <a:ext cx="2487168" cy="960120"/>
          </a:xfrm>
          <a:prstGeom prst="rect">
            <a:avLst/>
          </a:prstGeom>
          <a:noFill/>
          <a:ln/>
        </p:spPr>
        <p:txBody>
          <a:bodyPr wrap="square" lIns="0" tIns="0" rIns="0" bIns="0" rtlCol="0" anchor="t"/>
          <a:lstStyle/>
          <a:p>
            <a:pPr indent="0" marL="0">
              <a:buNone/>
            </a:pPr>
            <a:r>
              <a:rPr lang="en-US" sz="1300" i="1" dirty="0">
                <a:solidFill>
                  <a:schemeClr val="tx1"/>
                </a:solidFill>
              </a:rPr>
              <a:t>Funds paid into our client account with no matter to justify them, or a deposit later 'refunded' to a third party.</a:t>
            </a:r>
            <a:endParaRPr lang="en-US" sz="1300" dirty="0"/>
          </a:p>
        </p:txBody>
      </p:sp>
      <p:pic>
        <p:nvPicPr>
          <p:cNvPr id="14" name="Image 1" descr="arrow">    </p:cNvPr>
          <p:cNvPicPr>
            <a:picLocks noChangeAspect="1"/>
          </p:cNvPicPr>
          <p:nvPr/>
        </p:nvPicPr>
        <p:blipFill>
          <a:blip r:embed="rId2"/>
          <a:stretch>
            <a:fillRect/>
          </a:stretch>
        </p:blipFill>
        <p:spPr>
          <a:xfrm>
            <a:off x="4059936" y="2468880"/>
            <a:ext cx="310896" cy="310896"/>
          </a:xfrm>
          <a:prstGeom prst="rect">
            <a:avLst/>
          </a:prstGeom>
        </p:spPr>
      </p:pic>
      <p:sp>
        <p:nvSpPr>
          <p:cNvPr id="15" name="Stage card"/>
          <p:cNvSpPr/>
          <p:nvPr/>
        </p:nvSpPr>
        <p:spPr>
          <a:xfrm>
            <a:off x="4434840" y="1920240"/>
            <a:ext cx="3310128" cy="3977640"/>
          </a:xfrm>
          <a:prstGeom prst="roundRect">
            <a:avLst>
              <a:gd name="adj" fmla="val 3315"/>
            </a:avLst>
          </a:prstGeom>
          <a:solidFill>
            <a:schemeClr val="bg1"/>
          </a:solidFill>
          <a:ln/>
          <a:effectLst>
            <a:outerShdw sx="100000" sy="100000" kx="0" ky="0" algn="bl" rotWithShape="0" blurRad="177800" dist="38100" dir="5400000">
              <a:srgbClr val="0B1F2A">
                <a:alpha val="10000"/>
              </a:srgbClr>
            </a:outerShdw>
          </a:effectLst>
        </p:spPr>
      </p:sp>
      <p:sp>
        <p:nvSpPr>
          <p:cNvPr id="16" name="Icon disc"/>
          <p:cNvSpPr/>
          <p:nvPr/>
        </p:nvSpPr>
        <p:spPr>
          <a:xfrm>
            <a:off x="4782312" y="2286000"/>
            <a:ext cx="658368" cy="658368"/>
          </a:xfrm>
          <a:prstGeom prst="ellipse">
            <a:avLst/>
          </a:prstGeom>
          <a:solidFill>
            <a:schemeClr val="accent1"/>
          </a:solidFill>
          <a:ln/>
        </p:spPr>
      </p:sp>
      <p:pic>
        <p:nvPicPr>
          <p:cNvPr id="17" name="Image 2" descr="Layers icon">    </p:cNvPr>
          <p:cNvPicPr>
            <a:picLocks noChangeAspect="1"/>
          </p:cNvPicPr>
          <p:nvPr/>
        </p:nvPicPr>
        <p:blipFill>
          <a:blip r:embed="rId3"/>
          <a:stretch>
            <a:fillRect/>
          </a:stretch>
        </p:blipFill>
        <p:spPr>
          <a:xfrm>
            <a:off x="4946904" y="2450592"/>
            <a:ext cx="329184" cy="329184"/>
          </a:xfrm>
          <a:prstGeom prst="rect">
            <a:avLst/>
          </a:prstGeom>
        </p:spPr>
      </p:pic>
      <p:sp>
        <p:nvSpPr>
          <p:cNvPr id="18" name="Text 12"/>
          <p:cNvSpPr txBox="1"/>
          <p:nvPr/>
        </p:nvSpPr>
        <p:spPr>
          <a:xfrm>
            <a:off x="5623560" y="2377440"/>
            <a:ext cx="1828800" cy="228600"/>
          </a:xfrm>
          <a:prstGeom prst="rect">
            <a:avLst/>
          </a:prstGeom>
          <a:noFill/>
          <a:ln/>
        </p:spPr>
        <p:txBody>
          <a:bodyPr wrap="square" lIns="0" tIns="0" rIns="0" bIns="0" rtlCol="0" anchor="t"/>
          <a:lstStyle/>
          <a:p>
            <a:pPr indent="0" marL="0">
              <a:buNone/>
            </a:pPr>
            <a:r>
              <a:rPr lang="en-US" sz="1000" b="1" spc="300" kern="0" dirty="0">
                <a:solidFill>
                  <a:schemeClr val="accent1"/>
                </a:solidFill>
              </a:rPr>
              <a:t>STAGE 2</a:t>
            </a:r>
            <a:endParaRPr lang="en-US" sz="1000" dirty="0"/>
          </a:p>
        </p:txBody>
      </p:sp>
      <p:sp>
        <p:nvSpPr>
          <p:cNvPr id="19" name="Text 13"/>
          <p:cNvSpPr txBox="1"/>
          <p:nvPr/>
        </p:nvSpPr>
        <p:spPr>
          <a:xfrm>
            <a:off x="5623560" y="2596896"/>
            <a:ext cx="201168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Layering</a:t>
            </a:r>
            <a:endParaRPr lang="en-US" sz="2200" dirty="0"/>
          </a:p>
        </p:txBody>
      </p:sp>
      <p:sp>
        <p:nvSpPr>
          <p:cNvPr id="20" name="Text 14"/>
          <p:cNvSpPr txBox="1"/>
          <p:nvPr/>
        </p:nvSpPr>
        <p:spPr>
          <a:xfrm>
            <a:off x="4782312" y="3200400"/>
            <a:ext cx="2615184" cy="868680"/>
          </a:xfrm>
          <a:prstGeom prst="rect">
            <a:avLst/>
          </a:prstGeom>
          <a:noFill/>
          <a:ln/>
        </p:spPr>
        <p:txBody>
          <a:bodyPr wrap="square" lIns="0" tIns="0" rIns="0" bIns="0" rtlCol="0" anchor="t"/>
          <a:lstStyle/>
          <a:p>
            <a:pPr indent="0" marL="0">
              <a:buNone/>
            </a:pPr>
            <a:r>
              <a:rPr lang="en-US" sz="1400" dirty="0">
                <a:solidFill>
                  <a:schemeClr val="tx2"/>
                </a:solidFill>
              </a:rPr>
              <a:t>Funds move through transactions and structures to hide where they came from.</a:t>
            </a:r>
            <a:endParaRPr lang="en-US" sz="1400" dirty="0"/>
          </a:p>
        </p:txBody>
      </p:sp>
      <p:sp>
        <p:nvSpPr>
          <p:cNvPr id="21" name="Example panel"/>
          <p:cNvSpPr/>
          <p:nvPr/>
        </p:nvSpPr>
        <p:spPr>
          <a:xfrm>
            <a:off x="4663440" y="4251960"/>
            <a:ext cx="2852928" cy="1417320"/>
          </a:xfrm>
          <a:prstGeom prst="roundRect">
            <a:avLst>
              <a:gd name="adj" fmla="val 5161"/>
            </a:avLst>
          </a:prstGeom>
          <a:solidFill>
            <a:schemeClr val="bg2"/>
          </a:solidFill>
          <a:ln/>
        </p:spPr>
      </p:sp>
      <p:sp>
        <p:nvSpPr>
          <p:cNvPr id="22" name="Text 16"/>
          <p:cNvSpPr txBox="1"/>
          <p:nvPr/>
        </p:nvSpPr>
        <p:spPr>
          <a:xfrm>
            <a:off x="4846320" y="4389120"/>
            <a:ext cx="2743200" cy="228600"/>
          </a:xfrm>
          <a:prstGeom prst="rect">
            <a:avLst/>
          </a:prstGeom>
          <a:noFill/>
          <a:ln/>
        </p:spPr>
        <p:txBody>
          <a:bodyPr wrap="square" lIns="0" tIns="0" rIns="0" bIns="0" rtlCol="0" anchor="t"/>
          <a:lstStyle/>
          <a:p>
            <a:pPr indent="0" marL="0">
              <a:buNone/>
            </a:pPr>
            <a:r>
              <a:rPr lang="en-US" sz="900" b="1" spc="300" kern="0" dirty="0">
                <a:solidFill>
                  <a:schemeClr val="accent4"/>
                </a:solidFill>
              </a:rPr>
              <a:t>IN OUR PRACTICE</a:t>
            </a:r>
            <a:endParaRPr lang="en-US" sz="900" dirty="0"/>
          </a:p>
        </p:txBody>
      </p:sp>
      <p:sp>
        <p:nvSpPr>
          <p:cNvPr id="23" name="Text 17"/>
          <p:cNvSpPr txBox="1"/>
          <p:nvPr/>
        </p:nvSpPr>
        <p:spPr>
          <a:xfrm>
            <a:off x="4846320" y="4636008"/>
            <a:ext cx="2487168" cy="960120"/>
          </a:xfrm>
          <a:prstGeom prst="rect">
            <a:avLst/>
          </a:prstGeom>
          <a:noFill/>
          <a:ln/>
        </p:spPr>
        <p:txBody>
          <a:bodyPr wrap="square" lIns="0" tIns="0" rIns="0" bIns="0" rtlCol="0" anchor="t"/>
          <a:lstStyle/>
          <a:p>
            <a:pPr indent="0" marL="0">
              <a:buNone/>
            </a:pPr>
            <a:r>
              <a:rPr lang="en-US" sz="1300" i="1" dirty="0">
                <a:solidFill>
                  <a:schemeClr val="tx1"/>
                </a:solidFill>
              </a:rPr>
              <a:t>A chain of companies and trusts across several jurisdictions, with nominee directors and frequent transfers.</a:t>
            </a:r>
            <a:endParaRPr lang="en-US" sz="1300" dirty="0"/>
          </a:p>
        </p:txBody>
      </p:sp>
      <p:pic>
        <p:nvPicPr>
          <p:cNvPr id="24" name="Image 3" descr="arrow">    </p:cNvPr>
          <p:cNvPicPr>
            <a:picLocks noChangeAspect="1"/>
          </p:cNvPicPr>
          <p:nvPr/>
        </p:nvPicPr>
        <p:blipFill>
          <a:blip r:embed="rId4"/>
          <a:stretch>
            <a:fillRect/>
          </a:stretch>
        </p:blipFill>
        <p:spPr>
          <a:xfrm>
            <a:off x="7808976" y="2468880"/>
            <a:ext cx="310896" cy="310896"/>
          </a:xfrm>
          <a:prstGeom prst="rect">
            <a:avLst/>
          </a:prstGeom>
        </p:spPr>
      </p:pic>
      <p:sp>
        <p:nvSpPr>
          <p:cNvPr id="25" name="Stage card"/>
          <p:cNvSpPr/>
          <p:nvPr/>
        </p:nvSpPr>
        <p:spPr>
          <a:xfrm>
            <a:off x="8183880" y="1920240"/>
            <a:ext cx="3310128" cy="3977640"/>
          </a:xfrm>
          <a:prstGeom prst="roundRect">
            <a:avLst>
              <a:gd name="adj" fmla="val 3315"/>
            </a:avLst>
          </a:prstGeom>
          <a:solidFill>
            <a:schemeClr val="bg1"/>
          </a:solidFill>
          <a:ln/>
          <a:effectLst>
            <a:outerShdw sx="100000" sy="100000" kx="0" ky="0" algn="bl" rotWithShape="0" blurRad="177800" dist="38100" dir="5400000">
              <a:srgbClr val="0B1F2A">
                <a:alpha val="10000"/>
              </a:srgbClr>
            </a:outerShdw>
          </a:effectLst>
        </p:spPr>
      </p:sp>
      <p:sp>
        <p:nvSpPr>
          <p:cNvPr id="26" name="Icon disc"/>
          <p:cNvSpPr/>
          <p:nvPr/>
        </p:nvSpPr>
        <p:spPr>
          <a:xfrm>
            <a:off x="8531352" y="2286000"/>
            <a:ext cx="658368" cy="658368"/>
          </a:xfrm>
          <a:prstGeom prst="ellipse">
            <a:avLst/>
          </a:prstGeom>
          <a:solidFill>
            <a:schemeClr val="accent1"/>
          </a:solidFill>
          <a:ln/>
        </p:spPr>
      </p:sp>
      <p:pic>
        <p:nvPicPr>
          <p:cNvPr id="27" name="Image 4" descr="House icon">    </p:cNvPr>
          <p:cNvPicPr>
            <a:picLocks noChangeAspect="1"/>
          </p:cNvPicPr>
          <p:nvPr/>
        </p:nvPicPr>
        <p:blipFill>
          <a:blip r:embed="rId5"/>
          <a:stretch>
            <a:fillRect/>
          </a:stretch>
        </p:blipFill>
        <p:spPr>
          <a:xfrm>
            <a:off x="8695944" y="2450592"/>
            <a:ext cx="329184" cy="329184"/>
          </a:xfrm>
          <a:prstGeom prst="rect">
            <a:avLst/>
          </a:prstGeom>
        </p:spPr>
      </p:pic>
      <p:sp>
        <p:nvSpPr>
          <p:cNvPr id="28" name="Text 20"/>
          <p:cNvSpPr txBox="1"/>
          <p:nvPr/>
        </p:nvSpPr>
        <p:spPr>
          <a:xfrm>
            <a:off x="9372600" y="2377440"/>
            <a:ext cx="1828800" cy="228600"/>
          </a:xfrm>
          <a:prstGeom prst="rect">
            <a:avLst/>
          </a:prstGeom>
          <a:noFill/>
          <a:ln/>
        </p:spPr>
        <p:txBody>
          <a:bodyPr wrap="square" lIns="0" tIns="0" rIns="0" bIns="0" rtlCol="0" anchor="t"/>
          <a:lstStyle/>
          <a:p>
            <a:pPr indent="0" marL="0">
              <a:buNone/>
            </a:pPr>
            <a:r>
              <a:rPr lang="en-US" sz="1000" b="1" spc="300" kern="0" dirty="0">
                <a:solidFill>
                  <a:schemeClr val="accent1"/>
                </a:solidFill>
              </a:rPr>
              <a:t>STAGE 3</a:t>
            </a:r>
            <a:endParaRPr lang="en-US" sz="1000" dirty="0"/>
          </a:p>
        </p:txBody>
      </p:sp>
      <p:sp>
        <p:nvSpPr>
          <p:cNvPr id="29" name="Text 21"/>
          <p:cNvSpPr txBox="1"/>
          <p:nvPr/>
        </p:nvSpPr>
        <p:spPr>
          <a:xfrm>
            <a:off x="9372600" y="2596896"/>
            <a:ext cx="201168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Integration</a:t>
            </a:r>
            <a:endParaRPr lang="en-US" sz="2200" dirty="0"/>
          </a:p>
        </p:txBody>
      </p:sp>
      <p:sp>
        <p:nvSpPr>
          <p:cNvPr id="30" name="Text 22"/>
          <p:cNvSpPr txBox="1"/>
          <p:nvPr/>
        </p:nvSpPr>
        <p:spPr>
          <a:xfrm>
            <a:off x="8531352" y="3200400"/>
            <a:ext cx="2615184" cy="868680"/>
          </a:xfrm>
          <a:prstGeom prst="rect">
            <a:avLst/>
          </a:prstGeom>
          <a:noFill/>
          <a:ln/>
        </p:spPr>
        <p:txBody>
          <a:bodyPr wrap="square" lIns="0" tIns="0" rIns="0" bIns="0" rtlCol="0" anchor="t"/>
          <a:lstStyle/>
          <a:p>
            <a:pPr indent="0" marL="0">
              <a:buNone/>
            </a:pPr>
            <a:r>
              <a:rPr lang="en-US" sz="1400" dirty="0">
                <a:solidFill>
                  <a:schemeClr val="tx2"/>
                </a:solidFill>
              </a:rPr>
              <a:t>The money comes back as apparently legitimate wealth.</a:t>
            </a:r>
            <a:endParaRPr lang="en-US" sz="1400" dirty="0"/>
          </a:p>
        </p:txBody>
      </p:sp>
      <p:sp>
        <p:nvSpPr>
          <p:cNvPr id="31" name="Example panel"/>
          <p:cNvSpPr/>
          <p:nvPr/>
        </p:nvSpPr>
        <p:spPr>
          <a:xfrm>
            <a:off x="8412480" y="4251960"/>
            <a:ext cx="2852928" cy="1417320"/>
          </a:xfrm>
          <a:prstGeom prst="roundRect">
            <a:avLst>
              <a:gd name="adj" fmla="val 5161"/>
            </a:avLst>
          </a:prstGeom>
          <a:solidFill>
            <a:schemeClr val="bg2"/>
          </a:solidFill>
          <a:ln/>
        </p:spPr>
      </p:sp>
      <p:sp>
        <p:nvSpPr>
          <p:cNvPr id="32" name="Text 24"/>
          <p:cNvSpPr txBox="1"/>
          <p:nvPr/>
        </p:nvSpPr>
        <p:spPr>
          <a:xfrm>
            <a:off x="8595360" y="4389120"/>
            <a:ext cx="2743200" cy="228600"/>
          </a:xfrm>
          <a:prstGeom prst="rect">
            <a:avLst/>
          </a:prstGeom>
          <a:noFill/>
          <a:ln/>
        </p:spPr>
        <p:txBody>
          <a:bodyPr wrap="square" lIns="0" tIns="0" rIns="0" bIns="0" rtlCol="0" anchor="t"/>
          <a:lstStyle/>
          <a:p>
            <a:pPr indent="0" marL="0">
              <a:buNone/>
            </a:pPr>
            <a:r>
              <a:rPr lang="en-US" sz="900" b="1" spc="300" kern="0" dirty="0">
                <a:solidFill>
                  <a:schemeClr val="accent4"/>
                </a:solidFill>
              </a:rPr>
              <a:t>IN OUR PRACTICE</a:t>
            </a:r>
            <a:endParaRPr lang="en-US" sz="900" dirty="0"/>
          </a:p>
        </p:txBody>
      </p:sp>
      <p:sp>
        <p:nvSpPr>
          <p:cNvPr id="33" name="Text 25"/>
          <p:cNvSpPr txBox="1"/>
          <p:nvPr/>
        </p:nvSpPr>
        <p:spPr>
          <a:xfrm>
            <a:off x="8595360" y="4636008"/>
            <a:ext cx="2487168" cy="960120"/>
          </a:xfrm>
          <a:prstGeom prst="rect">
            <a:avLst/>
          </a:prstGeom>
          <a:noFill/>
          <a:ln/>
        </p:spPr>
        <p:txBody>
          <a:bodyPr wrap="square" lIns="0" tIns="0" rIns="0" bIns="0" rtlCol="0" anchor="t"/>
          <a:lstStyle/>
          <a:p>
            <a:pPr indent="0" marL="0">
              <a:buNone/>
            </a:pPr>
            <a:r>
              <a:rPr lang="en-US" sz="1300" i="1" dirty="0">
                <a:solidFill>
                  <a:schemeClr val="tx1"/>
                </a:solidFill>
              </a:rPr>
              <a:t>Buying a beachfront villa in Providenciales, then renting it out or selling it to 'clean' the proceeds.</a:t>
            </a:r>
            <a:endParaRPr lang="en-US" sz="13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01 · THE THREAT</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Terrorist and proliferation financing work differently</a:t>
            </a:r>
            <a:endParaRPr lang="en-US" sz="3400" dirty="0"/>
          </a:p>
        </p:txBody>
      </p:sp>
      <p:sp>
        <p:nvSpPr>
          <p:cNvPr id="5" name="Definition card"/>
          <p:cNvSpPr/>
          <p:nvPr/>
        </p:nvSpPr>
        <p:spPr>
          <a:xfrm>
            <a:off x="685800" y="1920240"/>
            <a:ext cx="5257800" cy="3931920"/>
          </a:xfrm>
          <a:prstGeom prst="roundRect">
            <a:avLst>
              <a:gd name="adj" fmla="val 2791"/>
            </a:avLst>
          </a:prstGeom>
          <a:solidFill>
            <a:schemeClr val="tx1"/>
          </a:solidFill>
          <a:ln/>
          <a:effectLst>
            <a:outerShdw sx="100000" sy="100000" kx="0" ky="0" algn="bl" rotWithShape="0" blurRad="177800" dist="38100" dir="5400000">
              <a:srgbClr val="0B1F2A">
                <a:alpha val="10000"/>
              </a:srgbClr>
            </a:outerShdw>
          </a:effectLst>
        </p:spPr>
      </p:sp>
      <p:sp>
        <p:nvSpPr>
          <p:cNvPr id="6" name="Icon disc"/>
          <p:cNvSpPr/>
          <p:nvPr/>
        </p:nvSpPr>
        <p:spPr>
          <a:xfrm>
            <a:off x="1097280" y="2331720"/>
            <a:ext cx="676656" cy="676656"/>
          </a:xfrm>
          <a:prstGeom prst="ellipse">
            <a:avLst/>
          </a:prstGeom>
          <a:solidFill>
            <a:schemeClr val="accent2"/>
          </a:solidFill>
          <a:ln/>
        </p:spPr>
      </p:sp>
      <p:pic>
        <p:nvPicPr>
          <p:cNvPr id="7" name="Image 0" descr="TriangleAlert icon">    </p:cNvPr>
          <p:cNvPicPr>
            <a:picLocks noChangeAspect="1"/>
          </p:cNvPicPr>
          <p:nvPr/>
        </p:nvPicPr>
        <p:blipFill>
          <a:blip r:embed="rId1"/>
          <a:stretch>
            <a:fillRect/>
          </a:stretch>
        </p:blipFill>
        <p:spPr>
          <a:xfrm>
            <a:off x="1266444" y="2500884"/>
            <a:ext cx="338328" cy="338328"/>
          </a:xfrm>
          <a:prstGeom prst="rect">
            <a:avLst/>
          </a:prstGeom>
        </p:spPr>
      </p:pic>
      <p:sp>
        <p:nvSpPr>
          <p:cNvPr id="8" name="Text 4"/>
          <p:cNvSpPr txBox="1"/>
          <p:nvPr/>
        </p:nvSpPr>
        <p:spPr>
          <a:xfrm>
            <a:off x="1965960" y="2423160"/>
            <a:ext cx="3611880" cy="50292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Terrorist financing</a:t>
            </a:r>
            <a:endParaRPr lang="en-US" sz="2400" dirty="0"/>
          </a:p>
        </p:txBody>
      </p:sp>
      <p:sp>
        <p:nvSpPr>
          <p:cNvPr id="9" name="Text 5"/>
          <p:cNvSpPr txBox="1"/>
          <p:nvPr/>
        </p:nvSpPr>
        <p:spPr>
          <a:xfrm>
            <a:off x="1097280" y="3246120"/>
            <a:ext cx="4434840" cy="548640"/>
          </a:xfrm>
          <a:prstGeom prst="rect">
            <a:avLst/>
          </a:prstGeom>
          <a:noFill/>
          <a:ln/>
        </p:spPr>
        <p:txBody>
          <a:bodyPr wrap="square" lIns="0" tIns="0" rIns="0" bIns="0" rtlCol="0" anchor="t"/>
          <a:lstStyle/>
          <a:p>
            <a:pPr indent="0" marL="0">
              <a:buNone/>
            </a:pPr>
            <a:r>
              <a:rPr lang="en-US" sz="1500" i="1" dirty="0">
                <a:solidFill>
                  <a:schemeClr val="accent5"/>
                </a:solidFill>
              </a:rPr>
              <a:t>Funding terrorist acts, organisations or individuals.</a:t>
            </a:r>
            <a:endParaRPr lang="en-US" sz="1500" dirty="0"/>
          </a:p>
        </p:txBody>
      </p:sp>
      <p:sp>
        <p:nvSpPr>
          <p:cNvPr id="10" name="Text 6"/>
          <p:cNvSpPr txBox="1"/>
          <p:nvPr/>
        </p:nvSpPr>
        <p:spPr>
          <a:xfrm>
            <a:off x="1097280" y="3931920"/>
            <a:ext cx="4434840" cy="17373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bg1"/>
                </a:solidFill>
              </a:rPr>
              <a:t>Funds can be entirely clean in origin</a:t>
            </a:r>
            <a:endParaRPr lang="en-US" sz="1500" dirty="0"/>
          </a:p>
          <a:p>
            <a:pPr marL="203200" indent="-203200">
              <a:spcAft>
                <a:spcPts val="800"/>
              </a:spcAft>
              <a:buSzPct val="100000"/>
              <a:buChar char="•"/>
            </a:pPr>
            <a:r>
              <a:rPr lang="en-US" sz="1500" dirty="0">
                <a:solidFill>
                  <a:schemeClr val="bg1"/>
                </a:solidFill>
              </a:rPr>
              <a:t>Amounts can be small and look routine</a:t>
            </a:r>
            <a:endParaRPr lang="en-US" sz="1500" dirty="0"/>
          </a:p>
          <a:p>
            <a:pPr marL="203200" indent="-203200">
              <a:spcAft>
                <a:spcPts val="800"/>
              </a:spcAft>
              <a:buSzPct val="100000"/>
              <a:buChar char="•"/>
            </a:pPr>
            <a:r>
              <a:rPr lang="en-US" sz="1500" dirty="0">
                <a:solidFill>
                  <a:schemeClr val="bg1"/>
                </a:solidFill>
              </a:rPr>
              <a:t>Watch for links to high-risk regions, charities used as fronts, and sanctioned names</a:t>
            </a:r>
            <a:endParaRPr lang="en-US" sz="1500" dirty="0"/>
          </a:p>
        </p:txBody>
      </p:sp>
      <p:sp>
        <p:nvSpPr>
          <p:cNvPr id="11" name="Definition card"/>
          <p:cNvSpPr/>
          <p:nvPr/>
        </p:nvSpPr>
        <p:spPr>
          <a:xfrm>
            <a:off x="6245352" y="1920240"/>
            <a:ext cx="5257800" cy="3931920"/>
          </a:xfrm>
          <a:prstGeom prst="roundRect">
            <a:avLst>
              <a:gd name="adj" fmla="val 2791"/>
            </a:avLst>
          </a:prstGeom>
          <a:solidFill>
            <a:schemeClr val="tx2"/>
          </a:solidFill>
          <a:ln/>
          <a:effectLst>
            <a:outerShdw sx="100000" sy="100000" kx="0" ky="0" algn="bl" rotWithShape="0" blurRad="177800" dist="38100" dir="5400000">
              <a:srgbClr val="0B1F2A">
                <a:alpha val="10000"/>
              </a:srgbClr>
            </a:outerShdw>
          </a:effectLst>
        </p:spPr>
      </p:sp>
      <p:sp>
        <p:nvSpPr>
          <p:cNvPr id="12" name="Icon disc"/>
          <p:cNvSpPr/>
          <p:nvPr/>
        </p:nvSpPr>
        <p:spPr>
          <a:xfrm>
            <a:off x="6656832" y="2331720"/>
            <a:ext cx="676656" cy="676656"/>
          </a:xfrm>
          <a:prstGeom prst="ellipse">
            <a:avLst/>
          </a:prstGeom>
          <a:solidFill>
            <a:schemeClr val="accent1"/>
          </a:solidFill>
          <a:ln/>
        </p:spPr>
      </p:sp>
      <p:pic>
        <p:nvPicPr>
          <p:cNvPr id="13" name="Image 1" descr="Globe icon">    </p:cNvPr>
          <p:cNvPicPr>
            <a:picLocks noChangeAspect="1"/>
          </p:cNvPicPr>
          <p:nvPr/>
        </p:nvPicPr>
        <p:blipFill>
          <a:blip r:embed="rId2"/>
          <a:stretch>
            <a:fillRect/>
          </a:stretch>
        </p:blipFill>
        <p:spPr>
          <a:xfrm>
            <a:off x="6825996" y="2500884"/>
            <a:ext cx="338328" cy="338328"/>
          </a:xfrm>
          <a:prstGeom prst="rect">
            <a:avLst/>
          </a:prstGeom>
        </p:spPr>
      </p:pic>
      <p:sp>
        <p:nvSpPr>
          <p:cNvPr id="14" name="Text 9"/>
          <p:cNvSpPr txBox="1"/>
          <p:nvPr/>
        </p:nvSpPr>
        <p:spPr>
          <a:xfrm>
            <a:off x="7525512" y="2423160"/>
            <a:ext cx="3611880" cy="50292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Proliferation financing</a:t>
            </a:r>
            <a:endParaRPr lang="en-US" sz="2400" dirty="0"/>
          </a:p>
        </p:txBody>
      </p:sp>
      <p:sp>
        <p:nvSpPr>
          <p:cNvPr id="15" name="Text 10"/>
          <p:cNvSpPr txBox="1"/>
          <p:nvPr/>
        </p:nvSpPr>
        <p:spPr>
          <a:xfrm>
            <a:off x="6656832" y="3246120"/>
            <a:ext cx="4434840" cy="548640"/>
          </a:xfrm>
          <a:prstGeom prst="rect">
            <a:avLst/>
          </a:prstGeom>
          <a:noFill/>
          <a:ln/>
        </p:spPr>
        <p:txBody>
          <a:bodyPr wrap="square" lIns="0" tIns="0" rIns="0" bIns="0" rtlCol="0" anchor="t"/>
          <a:lstStyle/>
          <a:p>
            <a:pPr indent="0" marL="0">
              <a:buNone/>
            </a:pPr>
            <a:r>
              <a:rPr lang="en-US" sz="1500" i="1" dirty="0">
                <a:solidFill>
                  <a:schemeClr val="accent5"/>
                </a:solidFill>
              </a:rPr>
              <a:t>Funding weapons of mass destruction and their delivery systems.</a:t>
            </a:r>
            <a:endParaRPr lang="en-US" sz="1500" dirty="0"/>
          </a:p>
        </p:txBody>
      </p:sp>
      <p:sp>
        <p:nvSpPr>
          <p:cNvPr id="16" name="Text 11"/>
          <p:cNvSpPr txBox="1"/>
          <p:nvPr/>
        </p:nvSpPr>
        <p:spPr>
          <a:xfrm>
            <a:off x="6656832" y="3931920"/>
            <a:ext cx="4434840" cy="17373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bg1"/>
                </a:solidFill>
              </a:rPr>
              <a:t>Closely linked to sanctions evasion</a:t>
            </a:r>
            <a:endParaRPr lang="en-US" sz="1500" dirty="0"/>
          </a:p>
          <a:p>
            <a:pPr marL="203200" indent="-203200">
              <a:spcAft>
                <a:spcPts val="800"/>
              </a:spcAft>
              <a:buSzPct val="100000"/>
              <a:buChar char="•"/>
            </a:pPr>
            <a:r>
              <a:rPr lang="en-US" sz="1500" dirty="0">
                <a:solidFill>
                  <a:schemeClr val="bg1"/>
                </a:solidFill>
              </a:rPr>
              <a:t>Uses front companies, shipping and dual-use goods</a:t>
            </a:r>
            <a:endParaRPr lang="en-US" sz="1500" dirty="0"/>
          </a:p>
          <a:p>
            <a:pPr marL="203200" indent="-203200">
              <a:spcAft>
                <a:spcPts val="800"/>
              </a:spcAft>
              <a:buSzPct val="100000"/>
              <a:buChar char="•"/>
            </a:pPr>
            <a:r>
              <a:rPr lang="en-US" sz="1500" dirty="0">
                <a:solidFill>
                  <a:schemeClr val="bg1"/>
                </a:solidFill>
              </a:rPr>
              <a:t>Watch for opaque ownership tracing back to sanctioned states or persons</a:t>
            </a:r>
            <a:endParaRPr lang="en-US" sz="15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01 · THE THREAT</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Why criminals look for firms like ours</a:t>
            </a:r>
            <a:endParaRPr lang="en-US" sz="3400" dirty="0"/>
          </a:p>
        </p:txBody>
      </p:sp>
      <p:sp>
        <p:nvSpPr>
          <p:cNvPr id="5" name="Text 2"/>
          <p:cNvSpPr txBox="1"/>
          <p:nvPr/>
        </p:nvSpPr>
        <p:spPr>
          <a:xfrm>
            <a:off x="685800" y="1874520"/>
            <a:ext cx="4754880" cy="868680"/>
          </a:xfrm>
          <a:prstGeom prst="rect">
            <a:avLst/>
          </a:prstGeom>
          <a:noFill/>
          <a:ln/>
        </p:spPr>
        <p:txBody>
          <a:bodyPr wrap="square" lIns="0" tIns="0" rIns="0" bIns="0" rtlCol="0" anchor="t"/>
          <a:lstStyle/>
          <a:p>
            <a:pPr indent="0" marL="0">
              <a:buNone/>
            </a:pPr>
            <a:r>
              <a:rPr lang="en-US" sz="4600" dirty="0">
                <a:solidFill>
                  <a:schemeClr val="accent2"/>
                </a:solidFill>
                <a:latin typeface="Cambria" pitchFamily="34" charset="0"/>
                <a:ea typeface="Cambria" pitchFamily="34" charset="-122"/>
                <a:cs typeface="Cambria" pitchFamily="34" charset="-120"/>
              </a:rPr>
              <a:t>Medium-High</a:t>
            </a:r>
            <a:endParaRPr lang="en-US" sz="4600" dirty="0"/>
          </a:p>
        </p:txBody>
      </p:sp>
      <p:sp>
        <p:nvSpPr>
          <p:cNvPr id="6" name="Text 3"/>
          <p:cNvSpPr txBox="1"/>
          <p:nvPr/>
        </p:nvSpPr>
        <p:spPr>
          <a:xfrm>
            <a:off x="685800" y="2770632"/>
            <a:ext cx="4389120" cy="731520"/>
          </a:xfrm>
          <a:prstGeom prst="rect">
            <a:avLst/>
          </a:prstGeom>
          <a:noFill/>
          <a:ln/>
        </p:spPr>
        <p:txBody>
          <a:bodyPr wrap="square" lIns="0" tIns="0" rIns="0" bIns="0" rtlCol="0" anchor="t"/>
          <a:lstStyle/>
          <a:p>
            <a:pPr indent="0" marL="0">
              <a:buNone/>
            </a:pPr>
            <a:r>
              <a:rPr lang="en-US" sz="1400" dirty="0">
                <a:solidFill>
                  <a:schemeClr val="tx2"/>
                </a:solidFill>
              </a:rPr>
              <a:t>Overall ML risk for the TCI</a:t>
            </a:r>
            <a:endParaRPr lang="en-US" sz="1400" dirty="0"/>
          </a:p>
          <a:p>
            <a:pPr indent="0" marL="0">
              <a:buNone/>
            </a:pPr>
            <a:r>
              <a:rPr lang="en-US" sz="1400" dirty="0">
                <a:solidFill>
                  <a:schemeClr val="tx2"/>
                </a:solidFill>
              </a:rPr>
              <a:t>2017 National Risk Assessment</a:t>
            </a:r>
            <a:endParaRPr lang="en-US" sz="1400" dirty="0"/>
          </a:p>
        </p:txBody>
      </p:sp>
      <p:sp>
        <p:nvSpPr>
          <p:cNvPr id="7" name="Text 4"/>
          <p:cNvSpPr txBox="1"/>
          <p:nvPr/>
        </p:nvSpPr>
        <p:spPr>
          <a:xfrm>
            <a:off x="685800" y="3886200"/>
            <a:ext cx="4754880" cy="868680"/>
          </a:xfrm>
          <a:prstGeom prst="rect">
            <a:avLst/>
          </a:prstGeom>
          <a:noFill/>
          <a:ln/>
        </p:spPr>
        <p:txBody>
          <a:bodyPr wrap="square" lIns="0" tIns="0" rIns="0" bIns="0" rtlCol="0" anchor="t"/>
          <a:lstStyle/>
          <a:p>
            <a:pPr indent="0" marL="0">
              <a:buNone/>
            </a:pPr>
            <a:r>
              <a:rPr lang="en-US" sz="4600" dirty="0">
                <a:solidFill>
                  <a:schemeClr val="accent1"/>
                </a:solidFill>
                <a:latin typeface="Cambria" pitchFamily="34" charset="0"/>
                <a:ea typeface="Cambria" pitchFamily="34" charset="-122"/>
                <a:cs typeface="Cambria" pitchFamily="34" charset="-120"/>
              </a:rPr>
              <a:t>Medium-High</a:t>
            </a:r>
            <a:endParaRPr lang="en-US" sz="4600" dirty="0"/>
          </a:p>
        </p:txBody>
      </p:sp>
      <p:sp>
        <p:nvSpPr>
          <p:cNvPr id="8" name="Text 5"/>
          <p:cNvSpPr txBox="1"/>
          <p:nvPr/>
        </p:nvSpPr>
        <p:spPr>
          <a:xfrm>
            <a:off x="685800" y="4782312"/>
            <a:ext cx="4389120" cy="731520"/>
          </a:xfrm>
          <a:prstGeom prst="rect">
            <a:avLst/>
          </a:prstGeom>
          <a:noFill/>
          <a:ln/>
        </p:spPr>
        <p:txBody>
          <a:bodyPr wrap="square" lIns="0" tIns="0" rIns="0" bIns="0" rtlCol="0" anchor="t"/>
          <a:lstStyle/>
          <a:p>
            <a:pPr indent="0" marL="0">
              <a:buNone/>
            </a:pPr>
            <a:r>
              <a:rPr lang="en-US" sz="1400" dirty="0">
                <a:solidFill>
                  <a:schemeClr val="tx2"/>
                </a:solidFill>
              </a:rPr>
              <a:t>Rating for legal professionals and trust businesses in the same assessment</a:t>
            </a:r>
            <a:endParaRPr lang="en-US" sz="1400" dirty="0"/>
          </a:p>
        </p:txBody>
      </p:sp>
      <p:sp>
        <p:nvSpPr>
          <p:cNvPr id="9" name="Exposure row"/>
          <p:cNvSpPr/>
          <p:nvPr/>
        </p:nvSpPr>
        <p:spPr>
          <a:xfrm>
            <a:off x="5806440" y="1828800"/>
            <a:ext cx="5696712" cy="877824"/>
          </a:xfrm>
          <a:prstGeom prst="roundRect">
            <a:avLst>
              <a:gd name="adj" fmla="val 12500"/>
            </a:avLst>
          </a:prstGeom>
          <a:solidFill>
            <a:schemeClr val="bg1"/>
          </a:solidFill>
          <a:ln/>
          <a:effectLst>
            <a:outerShdw sx="100000" sy="100000" kx="0" ky="0" algn="bl" rotWithShape="0" blurRad="177800" dist="38100" dir="5400000">
              <a:srgbClr val="0B1F2A">
                <a:alpha val="10000"/>
              </a:srgbClr>
            </a:outerShdw>
          </a:effectLst>
        </p:spPr>
      </p:sp>
      <p:sp>
        <p:nvSpPr>
          <p:cNvPr id="10" name="Icon disc"/>
          <p:cNvSpPr/>
          <p:nvPr/>
        </p:nvSpPr>
        <p:spPr>
          <a:xfrm>
            <a:off x="6035040" y="1975104"/>
            <a:ext cx="585216" cy="585216"/>
          </a:xfrm>
          <a:prstGeom prst="ellipse">
            <a:avLst/>
          </a:prstGeom>
          <a:solidFill>
            <a:schemeClr val="bg2"/>
          </a:solidFill>
          <a:ln/>
        </p:spPr>
      </p:sp>
      <p:pic>
        <p:nvPicPr>
          <p:cNvPr id="11" name="Image 0" descr="Wallet icon">    </p:cNvPr>
          <p:cNvPicPr>
            <a:picLocks noChangeAspect="1"/>
          </p:cNvPicPr>
          <p:nvPr/>
        </p:nvPicPr>
        <p:blipFill>
          <a:blip r:embed="rId1"/>
          <a:stretch>
            <a:fillRect/>
          </a:stretch>
        </p:blipFill>
        <p:spPr>
          <a:xfrm>
            <a:off x="6181344" y="2121408"/>
            <a:ext cx="292608" cy="292608"/>
          </a:xfrm>
          <a:prstGeom prst="rect">
            <a:avLst/>
          </a:prstGeom>
        </p:spPr>
      </p:pic>
      <p:sp>
        <p:nvSpPr>
          <p:cNvPr id="12" name="Text 8"/>
          <p:cNvSpPr txBox="1"/>
          <p:nvPr/>
        </p:nvSpPr>
        <p:spPr>
          <a:xfrm>
            <a:off x="6812280" y="1956816"/>
            <a:ext cx="4480560" cy="320040"/>
          </a:xfrm>
          <a:prstGeom prst="rect">
            <a:avLst/>
          </a:prstGeom>
          <a:noFill/>
          <a:ln/>
        </p:spPr>
        <p:txBody>
          <a:bodyPr wrap="square" lIns="0" tIns="0" rIns="0" bIns="0" rtlCol="0" anchor="t"/>
          <a:lstStyle/>
          <a:p>
            <a:pPr indent="0" marL="0">
              <a:buNone/>
            </a:pPr>
            <a:r>
              <a:rPr lang="en-US" sz="1600" b="1" dirty="0">
                <a:solidFill>
                  <a:schemeClr val="tx1"/>
                </a:solidFill>
              </a:rPr>
              <a:t>Our client account</a:t>
            </a:r>
            <a:endParaRPr lang="en-US" sz="1600" dirty="0"/>
          </a:p>
        </p:txBody>
      </p:sp>
      <p:sp>
        <p:nvSpPr>
          <p:cNvPr id="13" name="Text 9"/>
          <p:cNvSpPr txBox="1"/>
          <p:nvPr/>
        </p:nvSpPr>
        <p:spPr>
          <a:xfrm>
            <a:off x="6812280" y="2286000"/>
            <a:ext cx="4526280" cy="320040"/>
          </a:xfrm>
          <a:prstGeom prst="rect">
            <a:avLst/>
          </a:prstGeom>
          <a:noFill/>
          <a:ln/>
        </p:spPr>
        <p:txBody>
          <a:bodyPr wrap="square" lIns="0" tIns="0" rIns="0" bIns="0" rtlCol="0" anchor="t"/>
          <a:lstStyle/>
          <a:p>
            <a:pPr indent="0" marL="0">
              <a:buNone/>
            </a:pPr>
            <a:r>
              <a:rPr lang="en-US" sz="1300" dirty="0">
                <a:solidFill>
                  <a:schemeClr val="tx2"/>
                </a:solidFill>
              </a:rPr>
              <a:t>Moves large sums with the apparent legitimacy of a law firm.</a:t>
            </a:r>
            <a:endParaRPr lang="en-US" sz="1300" dirty="0"/>
          </a:p>
        </p:txBody>
      </p:sp>
      <p:sp>
        <p:nvSpPr>
          <p:cNvPr id="14" name="Exposure row"/>
          <p:cNvSpPr/>
          <p:nvPr/>
        </p:nvSpPr>
        <p:spPr>
          <a:xfrm>
            <a:off x="5806440" y="2852928"/>
            <a:ext cx="5696712" cy="877824"/>
          </a:xfrm>
          <a:prstGeom prst="roundRect">
            <a:avLst>
              <a:gd name="adj" fmla="val 12500"/>
            </a:avLst>
          </a:prstGeom>
          <a:solidFill>
            <a:schemeClr val="bg1"/>
          </a:solidFill>
          <a:ln/>
          <a:effectLst>
            <a:outerShdw sx="100000" sy="100000" kx="0" ky="0" algn="bl" rotWithShape="0" blurRad="177800" dist="38100" dir="5400000">
              <a:srgbClr val="0B1F2A">
                <a:alpha val="10000"/>
              </a:srgbClr>
            </a:outerShdw>
          </a:effectLst>
        </p:spPr>
      </p:sp>
      <p:sp>
        <p:nvSpPr>
          <p:cNvPr id="15" name="Icon disc"/>
          <p:cNvSpPr/>
          <p:nvPr/>
        </p:nvSpPr>
        <p:spPr>
          <a:xfrm>
            <a:off x="6035040" y="2999232"/>
            <a:ext cx="585216" cy="585216"/>
          </a:xfrm>
          <a:prstGeom prst="ellipse">
            <a:avLst/>
          </a:prstGeom>
          <a:solidFill>
            <a:schemeClr val="bg2"/>
          </a:solidFill>
          <a:ln/>
        </p:spPr>
      </p:sp>
      <p:pic>
        <p:nvPicPr>
          <p:cNvPr id="16" name="Image 1" descr="Network icon">    </p:cNvPr>
          <p:cNvPicPr>
            <a:picLocks noChangeAspect="1"/>
          </p:cNvPicPr>
          <p:nvPr/>
        </p:nvPicPr>
        <p:blipFill>
          <a:blip r:embed="rId2"/>
          <a:stretch>
            <a:fillRect/>
          </a:stretch>
        </p:blipFill>
        <p:spPr>
          <a:xfrm>
            <a:off x="6181344" y="3145536"/>
            <a:ext cx="292608" cy="292608"/>
          </a:xfrm>
          <a:prstGeom prst="rect">
            <a:avLst/>
          </a:prstGeom>
        </p:spPr>
      </p:pic>
      <p:sp>
        <p:nvSpPr>
          <p:cNvPr id="17" name="Text 12"/>
          <p:cNvSpPr txBox="1"/>
          <p:nvPr/>
        </p:nvSpPr>
        <p:spPr>
          <a:xfrm>
            <a:off x="6812280" y="2980944"/>
            <a:ext cx="4480560" cy="320040"/>
          </a:xfrm>
          <a:prstGeom prst="rect">
            <a:avLst/>
          </a:prstGeom>
          <a:noFill/>
          <a:ln/>
        </p:spPr>
        <p:txBody>
          <a:bodyPr wrap="square" lIns="0" tIns="0" rIns="0" bIns="0" rtlCol="0" anchor="t"/>
          <a:lstStyle/>
          <a:p>
            <a:pPr indent="0" marL="0">
              <a:buNone/>
            </a:pPr>
            <a:r>
              <a:rPr lang="en-US" sz="1600" b="1" dirty="0">
                <a:solidFill>
                  <a:schemeClr val="tx1"/>
                </a:solidFill>
              </a:rPr>
              <a:t>Trusts and companies</a:t>
            </a:r>
            <a:endParaRPr lang="en-US" sz="1600" dirty="0"/>
          </a:p>
        </p:txBody>
      </p:sp>
      <p:sp>
        <p:nvSpPr>
          <p:cNvPr id="18" name="Text 13"/>
          <p:cNvSpPr txBox="1"/>
          <p:nvPr/>
        </p:nvSpPr>
        <p:spPr>
          <a:xfrm>
            <a:off x="6812280" y="3310128"/>
            <a:ext cx="4526280" cy="320040"/>
          </a:xfrm>
          <a:prstGeom prst="rect">
            <a:avLst/>
          </a:prstGeom>
          <a:noFill/>
          <a:ln/>
        </p:spPr>
        <p:txBody>
          <a:bodyPr wrap="square" lIns="0" tIns="0" rIns="0" bIns="0" rtlCol="0" anchor="t"/>
          <a:lstStyle/>
          <a:p>
            <a:pPr indent="0" marL="0">
              <a:buNone/>
            </a:pPr>
            <a:r>
              <a:rPr lang="en-US" sz="1300" dirty="0">
                <a:solidFill>
                  <a:schemeClr val="tx2"/>
                </a:solidFill>
              </a:rPr>
              <a:t>Can separate legal ownership from real control and benefit.</a:t>
            </a:r>
            <a:endParaRPr lang="en-US" sz="1300" dirty="0"/>
          </a:p>
        </p:txBody>
      </p:sp>
      <p:sp>
        <p:nvSpPr>
          <p:cNvPr id="19" name="Exposure row"/>
          <p:cNvSpPr/>
          <p:nvPr/>
        </p:nvSpPr>
        <p:spPr>
          <a:xfrm>
            <a:off x="5806440" y="3877056"/>
            <a:ext cx="5696712" cy="877824"/>
          </a:xfrm>
          <a:prstGeom prst="roundRect">
            <a:avLst>
              <a:gd name="adj" fmla="val 12500"/>
            </a:avLst>
          </a:prstGeom>
          <a:solidFill>
            <a:schemeClr val="bg1"/>
          </a:solidFill>
          <a:ln/>
          <a:effectLst>
            <a:outerShdw sx="100000" sy="100000" kx="0" ky="0" algn="bl" rotWithShape="0" blurRad="177800" dist="38100" dir="5400000">
              <a:srgbClr val="0B1F2A">
                <a:alpha val="10000"/>
              </a:srgbClr>
            </a:outerShdw>
          </a:effectLst>
        </p:spPr>
      </p:sp>
      <p:sp>
        <p:nvSpPr>
          <p:cNvPr id="20" name="Icon disc"/>
          <p:cNvSpPr/>
          <p:nvPr/>
        </p:nvSpPr>
        <p:spPr>
          <a:xfrm>
            <a:off x="6035040" y="4023360"/>
            <a:ext cx="585216" cy="585216"/>
          </a:xfrm>
          <a:prstGeom prst="ellipse">
            <a:avLst/>
          </a:prstGeom>
          <a:solidFill>
            <a:schemeClr val="bg2"/>
          </a:solidFill>
          <a:ln/>
        </p:spPr>
      </p:sp>
      <p:pic>
        <p:nvPicPr>
          <p:cNvPr id="21" name="Image 2" descr="House icon">    </p:cNvPr>
          <p:cNvPicPr>
            <a:picLocks noChangeAspect="1"/>
          </p:cNvPicPr>
          <p:nvPr/>
        </p:nvPicPr>
        <p:blipFill>
          <a:blip r:embed="rId3"/>
          <a:stretch>
            <a:fillRect/>
          </a:stretch>
        </p:blipFill>
        <p:spPr>
          <a:xfrm>
            <a:off x="6181344" y="4169664"/>
            <a:ext cx="292608" cy="292608"/>
          </a:xfrm>
          <a:prstGeom prst="rect">
            <a:avLst/>
          </a:prstGeom>
        </p:spPr>
      </p:pic>
      <p:sp>
        <p:nvSpPr>
          <p:cNvPr id="22" name="Text 16"/>
          <p:cNvSpPr txBox="1"/>
          <p:nvPr/>
        </p:nvSpPr>
        <p:spPr>
          <a:xfrm>
            <a:off x="6812280" y="4005072"/>
            <a:ext cx="4480560" cy="320040"/>
          </a:xfrm>
          <a:prstGeom prst="rect">
            <a:avLst/>
          </a:prstGeom>
          <a:noFill/>
          <a:ln/>
        </p:spPr>
        <p:txBody>
          <a:bodyPr wrap="square" lIns="0" tIns="0" rIns="0" bIns="0" rtlCol="0" anchor="t"/>
          <a:lstStyle/>
          <a:p>
            <a:pPr indent="0" marL="0">
              <a:buNone/>
            </a:pPr>
            <a:r>
              <a:rPr lang="en-US" sz="1600" b="1" dirty="0">
                <a:solidFill>
                  <a:schemeClr val="tx1"/>
                </a:solidFill>
              </a:rPr>
              <a:t>Real estate</a:t>
            </a:r>
            <a:endParaRPr lang="en-US" sz="1600" dirty="0"/>
          </a:p>
        </p:txBody>
      </p:sp>
      <p:sp>
        <p:nvSpPr>
          <p:cNvPr id="23" name="Text 17"/>
          <p:cNvSpPr txBox="1"/>
          <p:nvPr/>
        </p:nvSpPr>
        <p:spPr>
          <a:xfrm>
            <a:off x="6812280" y="4334256"/>
            <a:ext cx="4526280" cy="320040"/>
          </a:xfrm>
          <a:prstGeom prst="rect">
            <a:avLst/>
          </a:prstGeom>
          <a:noFill/>
          <a:ln/>
        </p:spPr>
        <p:txBody>
          <a:bodyPr wrap="square" lIns="0" tIns="0" rIns="0" bIns="0" rtlCol="0" anchor="t"/>
          <a:lstStyle/>
          <a:p>
            <a:pPr indent="0" marL="0">
              <a:buNone/>
            </a:pPr>
            <a:r>
              <a:rPr lang="en-US" sz="1300" dirty="0">
                <a:solidFill>
                  <a:schemeClr val="tx2"/>
                </a:solidFill>
              </a:rPr>
              <a:t>High-value, stable assets that hold criminal wealth for years.</a:t>
            </a:r>
            <a:endParaRPr lang="en-US" sz="1300" dirty="0"/>
          </a:p>
        </p:txBody>
      </p:sp>
      <p:sp>
        <p:nvSpPr>
          <p:cNvPr id="24" name="Exposure row"/>
          <p:cNvSpPr/>
          <p:nvPr/>
        </p:nvSpPr>
        <p:spPr>
          <a:xfrm>
            <a:off x="5806440" y="4901184"/>
            <a:ext cx="5696712" cy="877824"/>
          </a:xfrm>
          <a:prstGeom prst="roundRect">
            <a:avLst>
              <a:gd name="adj" fmla="val 12500"/>
            </a:avLst>
          </a:prstGeom>
          <a:solidFill>
            <a:schemeClr val="bg1"/>
          </a:solidFill>
          <a:ln/>
          <a:effectLst>
            <a:outerShdw sx="100000" sy="100000" kx="0" ky="0" algn="bl" rotWithShape="0" blurRad="177800" dist="38100" dir="5400000">
              <a:srgbClr val="0B1F2A">
                <a:alpha val="10000"/>
              </a:srgbClr>
            </a:outerShdw>
          </a:effectLst>
        </p:spPr>
      </p:sp>
      <p:sp>
        <p:nvSpPr>
          <p:cNvPr id="25" name="Icon disc"/>
          <p:cNvSpPr/>
          <p:nvPr/>
        </p:nvSpPr>
        <p:spPr>
          <a:xfrm>
            <a:off x="6035040" y="5047488"/>
            <a:ext cx="585216" cy="585216"/>
          </a:xfrm>
          <a:prstGeom prst="ellipse">
            <a:avLst/>
          </a:prstGeom>
          <a:solidFill>
            <a:schemeClr val="bg2"/>
          </a:solidFill>
          <a:ln/>
        </p:spPr>
      </p:sp>
      <p:pic>
        <p:nvPicPr>
          <p:cNvPr id="26" name="Image 3" descr="BadgeCheck icon">    </p:cNvPr>
          <p:cNvPicPr>
            <a:picLocks noChangeAspect="1"/>
          </p:cNvPicPr>
          <p:nvPr/>
        </p:nvPicPr>
        <p:blipFill>
          <a:blip r:embed="rId4"/>
          <a:stretch>
            <a:fillRect/>
          </a:stretch>
        </p:blipFill>
        <p:spPr>
          <a:xfrm>
            <a:off x="6181344" y="5193792"/>
            <a:ext cx="292608" cy="292608"/>
          </a:xfrm>
          <a:prstGeom prst="rect">
            <a:avLst/>
          </a:prstGeom>
        </p:spPr>
      </p:pic>
      <p:sp>
        <p:nvSpPr>
          <p:cNvPr id="27" name="Text 20"/>
          <p:cNvSpPr txBox="1"/>
          <p:nvPr/>
        </p:nvSpPr>
        <p:spPr>
          <a:xfrm>
            <a:off x="6812280" y="5029200"/>
            <a:ext cx="4480560" cy="320040"/>
          </a:xfrm>
          <a:prstGeom prst="rect">
            <a:avLst/>
          </a:prstGeom>
          <a:noFill/>
          <a:ln/>
        </p:spPr>
        <p:txBody>
          <a:bodyPr wrap="square" lIns="0" tIns="0" rIns="0" bIns="0" rtlCol="0" anchor="t"/>
          <a:lstStyle/>
          <a:p>
            <a:pPr indent="0" marL="0">
              <a:buNone/>
            </a:pPr>
            <a:r>
              <a:rPr lang="en-US" sz="1600" b="1" dirty="0">
                <a:solidFill>
                  <a:schemeClr val="tx1"/>
                </a:solidFill>
              </a:rPr>
              <a:t>Our reputation</a:t>
            </a:r>
            <a:endParaRPr lang="en-US" sz="1600" dirty="0"/>
          </a:p>
        </p:txBody>
      </p:sp>
      <p:sp>
        <p:nvSpPr>
          <p:cNvPr id="28" name="Text 21"/>
          <p:cNvSpPr txBox="1"/>
          <p:nvPr/>
        </p:nvSpPr>
        <p:spPr>
          <a:xfrm>
            <a:off x="6812280" y="5358384"/>
            <a:ext cx="4526280" cy="320040"/>
          </a:xfrm>
          <a:prstGeom prst="rect">
            <a:avLst/>
          </a:prstGeom>
          <a:noFill/>
          <a:ln/>
        </p:spPr>
        <p:txBody>
          <a:bodyPr wrap="square" lIns="0" tIns="0" rIns="0" bIns="0" rtlCol="0" anchor="t"/>
          <a:lstStyle/>
          <a:p>
            <a:pPr indent="0" marL="0">
              <a:buNone/>
            </a:pPr>
            <a:r>
              <a:rPr lang="en-US" sz="1300" dirty="0">
                <a:solidFill>
                  <a:schemeClr val="tx2"/>
                </a:solidFill>
              </a:rPr>
              <a:t>Our name on a transaction makes it look respectable.</a:t>
            </a:r>
            <a:endParaRPr lang="en-US" sz="13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685800" y="1097280"/>
            <a:ext cx="3657600" cy="1645920"/>
          </a:xfrm>
          <a:prstGeom prst="rect">
            <a:avLst/>
          </a:prstGeom>
          <a:noFill/>
          <a:ln/>
        </p:spPr>
        <p:txBody>
          <a:bodyPr wrap="square" lIns="0" tIns="0" rIns="0" bIns="0" rtlCol="0" anchor="b"/>
          <a:lstStyle/>
          <a:p>
            <a:pPr algn="l" indent="0" marL="0">
              <a:buNone/>
            </a:pPr>
            <a:r>
              <a:rPr lang="en-US" sz="11000" dirty="0">
                <a:solidFill>
                  <a:schemeClr val="accent1"/>
                </a:solidFill>
                <a:latin typeface="Cambria" pitchFamily="34" charset="0"/>
                <a:ea typeface="Cambria" pitchFamily="34" charset="-122"/>
                <a:cs typeface="Cambria" pitchFamily="34" charset="-120"/>
              </a:rPr>
              <a:t>02</a:t>
            </a:r>
            <a:endParaRPr lang="en-US" sz="11000" dirty="0"/>
          </a:p>
        </p:txBody>
      </p:sp>
      <p:sp>
        <p:nvSpPr>
          <p:cNvPr id="3" name="Text 2"/>
          <p:cNvSpPr/>
          <p:nvPr>
            <p:ph idx="103" type="title" hasCustomPrompt="1"/>
          </p:nvPr>
        </p:nvSpPr>
        <p:spPr>
          <a:xfrm>
            <a:off x="685800" y="2880360"/>
            <a:ext cx="8229600" cy="1188720"/>
          </a:xfrm>
          <a:prstGeom prst="rect">
            <a:avLst/>
          </a:prstGeom>
          <a:noFill/>
          <a:ln/>
        </p:spPr>
        <p:txBody>
          <a:bodyPr wrap="square" lIns="0" tIns="0" rIns="0" bIns="0" rtlCol="0" anchor="t"/>
          <a:lstStyle/>
          <a:p>
            <a:pPr algn="l" indent="0" marL="0">
              <a:buNone/>
            </a:pPr>
            <a:r>
              <a:rPr lang="en-US" sz="4400" dirty="0">
                <a:solidFill>
                  <a:schemeClr val="bg1"/>
                </a:solidFill>
                <a:latin typeface="Cambria" pitchFamily="34" charset="0"/>
                <a:ea typeface="Cambria" pitchFamily="34" charset="-122"/>
                <a:cs typeface="Cambria" pitchFamily="34" charset="-120"/>
              </a:rPr>
              <a:t>The law</a:t>
            </a:r>
            <a:endParaRPr lang="en-US" sz="4400" dirty="0"/>
          </a:p>
        </p:txBody>
      </p:sp>
      <p:sp>
        <p:nvSpPr>
          <p:cNvPr id="4" name="Text 2"/>
          <p:cNvSpPr/>
          <p:nvPr>
            <p:ph idx="104" type="body" hasCustomPrompt="1"/>
          </p:nvPr>
        </p:nvSpPr>
        <p:spPr>
          <a:xfrm>
            <a:off x="685800" y="4160520"/>
            <a:ext cx="6583680" cy="1097280"/>
          </a:xfrm>
          <a:prstGeom prst="rect">
            <a:avLst/>
          </a:prstGeom>
          <a:noFill/>
          <a:ln/>
        </p:spPr>
        <p:txBody>
          <a:bodyPr wrap="square" lIns="0" tIns="0" rIns="0" bIns="0" rtlCol="0" anchor="t"/>
          <a:lstStyle/>
          <a:p>
            <a:pPr algn="l" indent="0" marL="0">
              <a:buNone/>
            </a:pPr>
            <a:r>
              <a:rPr lang="en-US" sz="1800" dirty="0">
                <a:solidFill>
                  <a:schemeClr val="accent6"/>
                </a:solidFill>
              </a:rPr>
              <a:t>The Turks and Caicos framework in plain English, and the offences that apply to you personally</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02 · THE LAW</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The TCI framework at a glance</a:t>
            </a:r>
            <a:endParaRPr lang="en-US" sz="3400" dirty="0"/>
          </a:p>
        </p:txBody>
      </p:sp>
      <p:sp>
        <p:nvSpPr>
          <p:cNvPr id="5" name="Instrument card"/>
          <p:cNvSpPr/>
          <p:nvPr/>
        </p:nvSpPr>
        <p:spPr>
          <a:xfrm>
            <a:off x="685800" y="1874520"/>
            <a:ext cx="1993392" cy="3017520"/>
          </a:xfrm>
          <a:prstGeom prst="roundRect">
            <a:avLst>
              <a:gd name="adj" fmla="val 5505"/>
            </a:avLst>
          </a:prstGeom>
          <a:solidFill>
            <a:schemeClr val="bg1"/>
          </a:solidFill>
          <a:ln/>
          <a:effectLst>
            <a:outerShdw sx="100000" sy="100000" kx="0" ky="0" algn="bl" rotWithShape="0" blurRad="177800" dist="38100" dir="5400000">
              <a:srgbClr val="0B1F2A">
                <a:alpha val="10000"/>
              </a:srgbClr>
            </a:outerShdw>
          </a:effectLst>
        </p:spPr>
      </p:sp>
      <p:sp>
        <p:nvSpPr>
          <p:cNvPr id="6" name="Icon disc"/>
          <p:cNvSpPr/>
          <p:nvPr/>
        </p:nvSpPr>
        <p:spPr>
          <a:xfrm>
            <a:off x="941832" y="2148840"/>
            <a:ext cx="566928" cy="566928"/>
          </a:xfrm>
          <a:prstGeom prst="ellipse">
            <a:avLst/>
          </a:prstGeom>
          <a:solidFill>
            <a:schemeClr val="accent1"/>
          </a:solidFill>
          <a:ln/>
        </p:spPr>
      </p:sp>
      <p:pic>
        <p:nvPicPr>
          <p:cNvPr id="7" name="Image 0" descr="Gavel icon">    </p:cNvPr>
          <p:cNvPicPr>
            <a:picLocks noChangeAspect="1"/>
          </p:cNvPicPr>
          <p:nvPr/>
        </p:nvPicPr>
        <p:blipFill>
          <a:blip r:embed="rId1"/>
          <a:stretch>
            <a:fillRect/>
          </a:stretch>
        </p:blipFill>
        <p:spPr>
          <a:xfrm>
            <a:off x="1083564" y="2290572"/>
            <a:ext cx="283464" cy="283464"/>
          </a:xfrm>
          <a:prstGeom prst="rect">
            <a:avLst/>
          </a:prstGeom>
        </p:spPr>
      </p:pic>
      <p:sp>
        <p:nvSpPr>
          <p:cNvPr id="8" name="Text 4"/>
          <p:cNvSpPr txBox="1"/>
          <p:nvPr/>
        </p:nvSpPr>
        <p:spPr>
          <a:xfrm>
            <a:off x="941832" y="2852928"/>
            <a:ext cx="1536192" cy="68580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Proceeds of Crime Ordinance</a:t>
            </a:r>
            <a:endParaRPr lang="en-US" sz="1500" dirty="0"/>
          </a:p>
        </p:txBody>
      </p:sp>
      <p:sp>
        <p:nvSpPr>
          <p:cNvPr id="9" name="Text 5"/>
          <p:cNvSpPr txBox="1"/>
          <p:nvPr/>
        </p:nvSpPr>
        <p:spPr>
          <a:xfrm>
            <a:off x="941832" y="3538728"/>
            <a:ext cx="1536192" cy="256032"/>
          </a:xfrm>
          <a:prstGeom prst="rect">
            <a:avLst/>
          </a:prstGeom>
          <a:noFill/>
          <a:ln/>
        </p:spPr>
        <p:txBody>
          <a:bodyPr wrap="square" lIns="0" tIns="0" rIns="0" bIns="0" rtlCol="0" anchor="t"/>
          <a:lstStyle/>
          <a:p>
            <a:pPr indent="0" marL="0">
              <a:buNone/>
            </a:pPr>
            <a:r>
              <a:rPr lang="en-US" sz="1000" b="1" dirty="0">
                <a:solidFill>
                  <a:schemeClr val="accent1"/>
                </a:solidFill>
              </a:rPr>
              <a:t>Cap. 3.15</a:t>
            </a:r>
            <a:endParaRPr lang="en-US" sz="1000" dirty="0"/>
          </a:p>
        </p:txBody>
      </p:sp>
      <p:sp>
        <p:nvSpPr>
          <p:cNvPr id="10" name="Text 6"/>
          <p:cNvSpPr txBox="1"/>
          <p:nvPr/>
        </p:nvSpPr>
        <p:spPr>
          <a:xfrm>
            <a:off x="941832" y="3840480"/>
            <a:ext cx="1536192" cy="960120"/>
          </a:xfrm>
          <a:prstGeom prst="rect">
            <a:avLst/>
          </a:prstGeom>
          <a:noFill/>
          <a:ln/>
        </p:spPr>
        <p:txBody>
          <a:bodyPr wrap="square" lIns="0" tIns="0" rIns="0" bIns="0" rtlCol="0" anchor="t"/>
          <a:lstStyle/>
          <a:p>
            <a:pPr indent="0" marL="0">
              <a:buNone/>
            </a:pPr>
            <a:r>
              <a:rPr lang="en-US" sz="1200" dirty="0">
                <a:solidFill>
                  <a:schemeClr val="tx2"/>
                </a:solidFill>
              </a:rPr>
              <a:t>Creates the money laundering offences, the duty to disclose, and tipping off.</a:t>
            </a:r>
            <a:endParaRPr lang="en-US" sz="1200" dirty="0"/>
          </a:p>
        </p:txBody>
      </p:sp>
      <p:sp>
        <p:nvSpPr>
          <p:cNvPr id="11" name="Instrument card"/>
          <p:cNvSpPr/>
          <p:nvPr/>
        </p:nvSpPr>
        <p:spPr>
          <a:xfrm>
            <a:off x="2894076" y="1874520"/>
            <a:ext cx="1993392" cy="3017520"/>
          </a:xfrm>
          <a:prstGeom prst="roundRect">
            <a:avLst>
              <a:gd name="adj" fmla="val 5505"/>
            </a:avLst>
          </a:prstGeom>
          <a:solidFill>
            <a:schemeClr val="bg1"/>
          </a:solidFill>
          <a:ln/>
          <a:effectLst>
            <a:outerShdw sx="100000" sy="100000" kx="0" ky="0" algn="bl" rotWithShape="0" blurRad="177800" dist="38100" dir="5400000">
              <a:srgbClr val="0B1F2A">
                <a:alpha val="10000"/>
              </a:srgbClr>
            </a:outerShdw>
          </a:effectLst>
        </p:spPr>
      </p:sp>
      <p:sp>
        <p:nvSpPr>
          <p:cNvPr id="12" name="Icon disc"/>
          <p:cNvSpPr/>
          <p:nvPr/>
        </p:nvSpPr>
        <p:spPr>
          <a:xfrm>
            <a:off x="3150108" y="2148840"/>
            <a:ext cx="566928" cy="566928"/>
          </a:xfrm>
          <a:prstGeom prst="ellipse">
            <a:avLst/>
          </a:prstGeom>
          <a:solidFill>
            <a:schemeClr val="accent1"/>
          </a:solidFill>
          <a:ln/>
        </p:spPr>
      </p:sp>
      <p:pic>
        <p:nvPicPr>
          <p:cNvPr id="13" name="Image 1" descr="FileText icon">    </p:cNvPr>
          <p:cNvPicPr>
            <a:picLocks noChangeAspect="1"/>
          </p:cNvPicPr>
          <p:nvPr/>
        </p:nvPicPr>
        <p:blipFill>
          <a:blip r:embed="rId2"/>
          <a:stretch>
            <a:fillRect/>
          </a:stretch>
        </p:blipFill>
        <p:spPr>
          <a:xfrm>
            <a:off x="3291840" y="2290572"/>
            <a:ext cx="283464" cy="283464"/>
          </a:xfrm>
          <a:prstGeom prst="rect">
            <a:avLst/>
          </a:prstGeom>
        </p:spPr>
      </p:pic>
      <p:sp>
        <p:nvSpPr>
          <p:cNvPr id="14" name="Text 9"/>
          <p:cNvSpPr txBox="1"/>
          <p:nvPr/>
        </p:nvSpPr>
        <p:spPr>
          <a:xfrm>
            <a:off x="3150108" y="2852928"/>
            <a:ext cx="1536192" cy="68580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AML/PTF Regulations</a:t>
            </a:r>
            <a:endParaRPr lang="en-US" sz="1500" dirty="0"/>
          </a:p>
        </p:txBody>
      </p:sp>
      <p:sp>
        <p:nvSpPr>
          <p:cNvPr id="15" name="Text 10"/>
          <p:cNvSpPr txBox="1"/>
          <p:nvPr/>
        </p:nvSpPr>
        <p:spPr>
          <a:xfrm>
            <a:off x="3150108" y="3538728"/>
            <a:ext cx="1536192" cy="256032"/>
          </a:xfrm>
          <a:prstGeom prst="rect">
            <a:avLst/>
          </a:prstGeom>
          <a:noFill/>
          <a:ln/>
        </p:spPr>
        <p:txBody>
          <a:bodyPr wrap="square" lIns="0" tIns="0" rIns="0" bIns="0" rtlCol="0" anchor="t"/>
          <a:lstStyle/>
          <a:p>
            <a:pPr indent="0" marL="0">
              <a:buNone/>
            </a:pPr>
            <a:r>
              <a:rPr lang="en-US" sz="1000" b="1" dirty="0">
                <a:solidFill>
                  <a:schemeClr val="accent1"/>
                </a:solidFill>
              </a:rPr>
              <a:t>As amended, incl. 2024</a:t>
            </a:r>
            <a:endParaRPr lang="en-US" sz="1000" dirty="0"/>
          </a:p>
        </p:txBody>
      </p:sp>
      <p:sp>
        <p:nvSpPr>
          <p:cNvPr id="16" name="Text 11"/>
          <p:cNvSpPr txBox="1"/>
          <p:nvPr/>
        </p:nvSpPr>
        <p:spPr>
          <a:xfrm>
            <a:off x="3150108" y="3840480"/>
            <a:ext cx="1536192" cy="960120"/>
          </a:xfrm>
          <a:prstGeom prst="rect">
            <a:avLst/>
          </a:prstGeom>
          <a:noFill/>
          <a:ln/>
        </p:spPr>
        <p:txBody>
          <a:bodyPr wrap="square" lIns="0" tIns="0" rIns="0" bIns="0" rtlCol="0" anchor="t"/>
          <a:lstStyle/>
          <a:p>
            <a:pPr indent="0" marL="0">
              <a:buNone/>
            </a:pPr>
            <a:r>
              <a:rPr lang="en-US" sz="1200" dirty="0">
                <a:solidFill>
                  <a:schemeClr val="tx2"/>
                </a:solidFill>
              </a:rPr>
              <a:t>The firm's duties: CDD, records, training, and appointing an MLRO and MLCO.</a:t>
            </a:r>
            <a:endParaRPr lang="en-US" sz="1200" dirty="0"/>
          </a:p>
        </p:txBody>
      </p:sp>
      <p:sp>
        <p:nvSpPr>
          <p:cNvPr id="17" name="Instrument card"/>
          <p:cNvSpPr/>
          <p:nvPr/>
        </p:nvSpPr>
        <p:spPr>
          <a:xfrm>
            <a:off x="5102352" y="1874520"/>
            <a:ext cx="1993392" cy="3017520"/>
          </a:xfrm>
          <a:prstGeom prst="roundRect">
            <a:avLst>
              <a:gd name="adj" fmla="val 5505"/>
            </a:avLst>
          </a:prstGeom>
          <a:solidFill>
            <a:schemeClr val="bg1"/>
          </a:solidFill>
          <a:ln/>
          <a:effectLst>
            <a:outerShdw sx="100000" sy="100000" kx="0" ky="0" algn="bl" rotWithShape="0" blurRad="177800" dist="38100" dir="5400000">
              <a:srgbClr val="0B1F2A">
                <a:alpha val="10000"/>
              </a:srgbClr>
            </a:outerShdw>
          </a:effectLst>
        </p:spPr>
      </p:sp>
      <p:sp>
        <p:nvSpPr>
          <p:cNvPr id="18" name="Icon disc"/>
          <p:cNvSpPr/>
          <p:nvPr/>
        </p:nvSpPr>
        <p:spPr>
          <a:xfrm>
            <a:off x="5358384" y="2148840"/>
            <a:ext cx="566928" cy="566928"/>
          </a:xfrm>
          <a:prstGeom prst="ellipse">
            <a:avLst/>
          </a:prstGeom>
          <a:solidFill>
            <a:schemeClr val="accent1"/>
          </a:solidFill>
          <a:ln/>
        </p:spPr>
      </p:sp>
      <p:pic>
        <p:nvPicPr>
          <p:cNvPr id="19" name="Image 2" descr="BookOpen icon">    </p:cNvPr>
          <p:cNvPicPr>
            <a:picLocks noChangeAspect="1"/>
          </p:cNvPicPr>
          <p:nvPr/>
        </p:nvPicPr>
        <p:blipFill>
          <a:blip r:embed="rId3"/>
          <a:stretch>
            <a:fillRect/>
          </a:stretch>
        </p:blipFill>
        <p:spPr>
          <a:xfrm>
            <a:off x="5500116" y="2290572"/>
            <a:ext cx="283464" cy="283464"/>
          </a:xfrm>
          <a:prstGeom prst="rect">
            <a:avLst/>
          </a:prstGeom>
        </p:spPr>
      </p:pic>
      <p:sp>
        <p:nvSpPr>
          <p:cNvPr id="20" name="Text 14"/>
          <p:cNvSpPr txBox="1"/>
          <p:nvPr/>
        </p:nvSpPr>
        <p:spPr>
          <a:xfrm>
            <a:off x="5358384" y="2852928"/>
            <a:ext cx="1536192" cy="68580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AML/PTF Code</a:t>
            </a:r>
            <a:endParaRPr lang="en-US" sz="1500" dirty="0"/>
          </a:p>
        </p:txBody>
      </p:sp>
      <p:sp>
        <p:nvSpPr>
          <p:cNvPr id="21" name="Text 15"/>
          <p:cNvSpPr txBox="1"/>
          <p:nvPr/>
        </p:nvSpPr>
        <p:spPr>
          <a:xfrm>
            <a:off x="5358384" y="3538728"/>
            <a:ext cx="1536192" cy="256032"/>
          </a:xfrm>
          <a:prstGeom prst="rect">
            <a:avLst/>
          </a:prstGeom>
          <a:noFill/>
          <a:ln/>
        </p:spPr>
        <p:txBody>
          <a:bodyPr wrap="square" lIns="0" tIns="0" rIns="0" bIns="0" rtlCol="0" anchor="t"/>
          <a:lstStyle/>
          <a:p>
            <a:pPr indent="0" marL="0">
              <a:buNone/>
            </a:pPr>
            <a:r>
              <a:rPr lang="en-US" sz="1000" b="1" dirty="0">
                <a:solidFill>
                  <a:schemeClr val="accent1"/>
                </a:solidFill>
              </a:rPr>
              <a:t>Issued by the FSC</a:t>
            </a:r>
            <a:endParaRPr lang="en-US" sz="1000" dirty="0"/>
          </a:p>
        </p:txBody>
      </p:sp>
      <p:sp>
        <p:nvSpPr>
          <p:cNvPr id="22" name="Text 16"/>
          <p:cNvSpPr txBox="1"/>
          <p:nvPr/>
        </p:nvSpPr>
        <p:spPr>
          <a:xfrm>
            <a:off x="5358384" y="3840480"/>
            <a:ext cx="1536192" cy="960120"/>
          </a:xfrm>
          <a:prstGeom prst="rect">
            <a:avLst/>
          </a:prstGeom>
          <a:noFill/>
          <a:ln/>
        </p:spPr>
        <p:txBody>
          <a:bodyPr wrap="square" lIns="0" tIns="0" rIns="0" bIns="0" rtlCol="0" anchor="t"/>
          <a:lstStyle/>
          <a:p>
            <a:pPr indent="0" marL="0">
              <a:buNone/>
            </a:pPr>
            <a:r>
              <a:rPr lang="en-US" sz="1200" dirty="0">
                <a:solidFill>
                  <a:schemeClr val="tx2"/>
                </a:solidFill>
              </a:rPr>
              <a:t>How to comply in practice: risk assessment, verification, monitoring.</a:t>
            </a:r>
            <a:endParaRPr lang="en-US" sz="1200" dirty="0"/>
          </a:p>
        </p:txBody>
      </p:sp>
      <p:sp>
        <p:nvSpPr>
          <p:cNvPr id="23" name="Instrument card"/>
          <p:cNvSpPr/>
          <p:nvPr/>
        </p:nvSpPr>
        <p:spPr>
          <a:xfrm>
            <a:off x="7310628" y="1874520"/>
            <a:ext cx="1993392" cy="3017520"/>
          </a:xfrm>
          <a:prstGeom prst="roundRect">
            <a:avLst>
              <a:gd name="adj" fmla="val 5505"/>
            </a:avLst>
          </a:prstGeom>
          <a:solidFill>
            <a:schemeClr val="bg1"/>
          </a:solidFill>
          <a:ln/>
          <a:effectLst>
            <a:outerShdw sx="100000" sy="100000" kx="0" ky="0" algn="bl" rotWithShape="0" blurRad="177800" dist="38100" dir="5400000">
              <a:srgbClr val="0B1F2A">
                <a:alpha val="10000"/>
              </a:srgbClr>
            </a:outerShdw>
          </a:effectLst>
        </p:spPr>
      </p:sp>
      <p:sp>
        <p:nvSpPr>
          <p:cNvPr id="24" name="Icon disc"/>
          <p:cNvSpPr/>
          <p:nvPr/>
        </p:nvSpPr>
        <p:spPr>
          <a:xfrm>
            <a:off x="7566660" y="2148840"/>
            <a:ext cx="566928" cy="566928"/>
          </a:xfrm>
          <a:prstGeom prst="ellipse">
            <a:avLst/>
          </a:prstGeom>
          <a:solidFill>
            <a:schemeClr val="accent1"/>
          </a:solidFill>
          <a:ln/>
        </p:spPr>
      </p:sp>
      <p:pic>
        <p:nvPicPr>
          <p:cNvPr id="25" name="Image 3" descr="Search icon">    </p:cNvPr>
          <p:cNvPicPr>
            <a:picLocks noChangeAspect="1"/>
          </p:cNvPicPr>
          <p:nvPr/>
        </p:nvPicPr>
        <p:blipFill>
          <a:blip r:embed="rId4"/>
          <a:stretch>
            <a:fillRect/>
          </a:stretch>
        </p:blipFill>
        <p:spPr>
          <a:xfrm>
            <a:off x="7708392" y="2290572"/>
            <a:ext cx="283464" cy="283464"/>
          </a:xfrm>
          <a:prstGeom prst="rect">
            <a:avLst/>
          </a:prstGeom>
        </p:spPr>
      </p:pic>
      <p:sp>
        <p:nvSpPr>
          <p:cNvPr id="26" name="Text 19"/>
          <p:cNvSpPr txBox="1"/>
          <p:nvPr/>
        </p:nvSpPr>
        <p:spPr>
          <a:xfrm>
            <a:off x="7566660" y="2852928"/>
            <a:ext cx="1536192" cy="68580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FIA Ordinance</a:t>
            </a:r>
            <a:endParaRPr lang="en-US" sz="1500" dirty="0"/>
          </a:p>
        </p:txBody>
      </p:sp>
      <p:sp>
        <p:nvSpPr>
          <p:cNvPr id="27" name="Text 20"/>
          <p:cNvSpPr txBox="1"/>
          <p:nvPr/>
        </p:nvSpPr>
        <p:spPr>
          <a:xfrm>
            <a:off x="7566660" y="3538728"/>
            <a:ext cx="1536192" cy="256032"/>
          </a:xfrm>
          <a:prstGeom prst="rect">
            <a:avLst/>
          </a:prstGeom>
          <a:noFill/>
          <a:ln/>
        </p:spPr>
        <p:txBody>
          <a:bodyPr wrap="square" lIns="0" tIns="0" rIns="0" bIns="0" rtlCol="0" anchor="t"/>
          <a:lstStyle/>
          <a:p>
            <a:pPr indent="0" marL="0">
              <a:buNone/>
            </a:pPr>
            <a:r>
              <a:rPr lang="en-US" sz="1000" b="1" dirty="0">
                <a:solidFill>
                  <a:schemeClr val="accent1"/>
                </a:solidFill>
              </a:rPr>
              <a:t>Cap. 3.20</a:t>
            </a:r>
            <a:endParaRPr lang="en-US" sz="1000" dirty="0"/>
          </a:p>
        </p:txBody>
      </p:sp>
      <p:sp>
        <p:nvSpPr>
          <p:cNvPr id="28" name="Text 21"/>
          <p:cNvSpPr txBox="1"/>
          <p:nvPr/>
        </p:nvSpPr>
        <p:spPr>
          <a:xfrm>
            <a:off x="7566660" y="3840480"/>
            <a:ext cx="1536192" cy="960120"/>
          </a:xfrm>
          <a:prstGeom prst="rect">
            <a:avLst/>
          </a:prstGeom>
          <a:noFill/>
          <a:ln/>
        </p:spPr>
        <p:txBody>
          <a:bodyPr wrap="square" lIns="0" tIns="0" rIns="0" bIns="0" rtlCol="0" anchor="t"/>
          <a:lstStyle/>
          <a:p>
            <a:pPr indent="0" marL="0">
              <a:buNone/>
            </a:pPr>
            <a:r>
              <a:rPr lang="en-US" sz="1200" dirty="0">
                <a:solidFill>
                  <a:schemeClr val="tx2"/>
                </a:solidFill>
              </a:rPr>
              <a:t>Sets up the FIA, which receives and analyses suspicious activity reports.</a:t>
            </a:r>
            <a:endParaRPr lang="en-US" sz="1200" dirty="0"/>
          </a:p>
        </p:txBody>
      </p:sp>
      <p:sp>
        <p:nvSpPr>
          <p:cNvPr id="29" name="Instrument card"/>
          <p:cNvSpPr/>
          <p:nvPr/>
        </p:nvSpPr>
        <p:spPr>
          <a:xfrm>
            <a:off x="9518904" y="1874520"/>
            <a:ext cx="1993392" cy="3017520"/>
          </a:xfrm>
          <a:prstGeom prst="roundRect">
            <a:avLst>
              <a:gd name="adj" fmla="val 5505"/>
            </a:avLst>
          </a:prstGeom>
          <a:solidFill>
            <a:schemeClr val="bg1"/>
          </a:solidFill>
          <a:ln/>
          <a:effectLst>
            <a:outerShdw sx="100000" sy="100000" kx="0" ky="0" algn="bl" rotWithShape="0" blurRad="177800" dist="38100" dir="5400000">
              <a:srgbClr val="0B1F2A">
                <a:alpha val="10000"/>
              </a:srgbClr>
            </a:outerShdw>
          </a:effectLst>
        </p:spPr>
      </p:sp>
      <p:sp>
        <p:nvSpPr>
          <p:cNvPr id="30" name="Icon disc"/>
          <p:cNvSpPr/>
          <p:nvPr/>
        </p:nvSpPr>
        <p:spPr>
          <a:xfrm>
            <a:off x="9774936" y="2148840"/>
            <a:ext cx="566928" cy="566928"/>
          </a:xfrm>
          <a:prstGeom prst="ellipse">
            <a:avLst/>
          </a:prstGeom>
          <a:solidFill>
            <a:schemeClr val="accent1"/>
          </a:solidFill>
          <a:ln/>
        </p:spPr>
      </p:sp>
      <p:pic>
        <p:nvPicPr>
          <p:cNvPr id="31" name="Image 4" descr="Ban icon">    </p:cNvPr>
          <p:cNvPicPr>
            <a:picLocks noChangeAspect="1"/>
          </p:cNvPicPr>
          <p:nvPr/>
        </p:nvPicPr>
        <p:blipFill>
          <a:blip r:embed="rId5"/>
          <a:stretch>
            <a:fillRect/>
          </a:stretch>
        </p:blipFill>
        <p:spPr>
          <a:xfrm>
            <a:off x="9916668" y="2290572"/>
            <a:ext cx="283464" cy="283464"/>
          </a:xfrm>
          <a:prstGeom prst="rect">
            <a:avLst/>
          </a:prstGeom>
        </p:spPr>
      </p:pic>
      <p:sp>
        <p:nvSpPr>
          <p:cNvPr id="32" name="Text 24"/>
          <p:cNvSpPr txBox="1"/>
          <p:nvPr/>
        </p:nvSpPr>
        <p:spPr>
          <a:xfrm>
            <a:off x="9774936" y="2852928"/>
            <a:ext cx="1536192" cy="68580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Sanctions Orders</a:t>
            </a:r>
            <a:endParaRPr lang="en-US" sz="1500" dirty="0"/>
          </a:p>
        </p:txBody>
      </p:sp>
      <p:sp>
        <p:nvSpPr>
          <p:cNvPr id="33" name="Text 25"/>
          <p:cNvSpPr txBox="1"/>
          <p:nvPr/>
        </p:nvSpPr>
        <p:spPr>
          <a:xfrm>
            <a:off x="9774936" y="3538728"/>
            <a:ext cx="1536192" cy="256032"/>
          </a:xfrm>
          <a:prstGeom prst="rect">
            <a:avLst/>
          </a:prstGeom>
          <a:noFill/>
          <a:ln/>
        </p:spPr>
        <p:txBody>
          <a:bodyPr wrap="square" lIns="0" tIns="0" rIns="0" bIns="0" rtlCol="0" anchor="t"/>
          <a:lstStyle/>
          <a:p>
            <a:pPr indent="0" marL="0">
              <a:buNone/>
            </a:pPr>
            <a:r>
              <a:rPr lang="en-US" sz="1000" b="1" dirty="0">
                <a:solidFill>
                  <a:schemeClr val="accent1"/>
                </a:solidFill>
              </a:rPr>
              <a:t>UK regimes extended to the TCI</a:t>
            </a:r>
            <a:endParaRPr lang="en-US" sz="1000" dirty="0"/>
          </a:p>
        </p:txBody>
      </p:sp>
      <p:sp>
        <p:nvSpPr>
          <p:cNvPr id="34" name="Text 26"/>
          <p:cNvSpPr txBox="1"/>
          <p:nvPr/>
        </p:nvSpPr>
        <p:spPr>
          <a:xfrm>
            <a:off x="9774936" y="3840480"/>
            <a:ext cx="1536192" cy="960120"/>
          </a:xfrm>
          <a:prstGeom prst="rect">
            <a:avLst/>
          </a:prstGeom>
          <a:noFill/>
          <a:ln/>
        </p:spPr>
        <p:txBody>
          <a:bodyPr wrap="square" lIns="0" tIns="0" rIns="0" bIns="0" rtlCol="0" anchor="t"/>
          <a:lstStyle/>
          <a:p>
            <a:pPr indent="0" marL="0">
              <a:buNone/>
            </a:pPr>
            <a:r>
              <a:rPr lang="en-US" sz="1200" dirty="0">
                <a:solidFill>
                  <a:schemeClr val="tx2"/>
                </a:solidFill>
              </a:rPr>
              <a:t>Asset freezes and prohibitions that apply here as they do in the UK.</a:t>
            </a:r>
            <a:endParaRPr lang="en-US" sz="1200" dirty="0"/>
          </a:p>
        </p:txBody>
      </p:sp>
      <p:sp>
        <p:nvSpPr>
          <p:cNvPr id="35" name="Supervisor panel"/>
          <p:cNvSpPr/>
          <p:nvPr/>
        </p:nvSpPr>
        <p:spPr>
          <a:xfrm>
            <a:off x="685800" y="5138928"/>
            <a:ext cx="10817352" cy="896112"/>
          </a:xfrm>
          <a:prstGeom prst="roundRect">
            <a:avLst>
              <a:gd name="adj" fmla="val 12245"/>
            </a:avLst>
          </a:prstGeom>
          <a:solidFill>
            <a:schemeClr val="tx1"/>
          </a:solidFill>
          <a:ln/>
          <a:effectLst>
            <a:outerShdw sx="100000" sy="100000" kx="0" ky="0" algn="bl" rotWithShape="0" blurRad="177800" dist="38100" dir="5400000">
              <a:srgbClr val="0B1F2A">
                <a:alpha val="10000"/>
              </a:srgbClr>
            </a:outerShdw>
          </a:effectLst>
        </p:spPr>
      </p:sp>
      <p:sp>
        <p:nvSpPr>
          <p:cNvPr id="36" name="Icon disc"/>
          <p:cNvSpPr/>
          <p:nvPr/>
        </p:nvSpPr>
        <p:spPr>
          <a:xfrm>
            <a:off x="960120" y="5285232"/>
            <a:ext cx="603504" cy="603504"/>
          </a:xfrm>
          <a:prstGeom prst="ellipse">
            <a:avLst/>
          </a:prstGeom>
          <a:solidFill>
            <a:schemeClr val="accent1"/>
          </a:solidFill>
          <a:ln/>
        </p:spPr>
      </p:sp>
      <p:pic>
        <p:nvPicPr>
          <p:cNvPr id="37" name="Image 5" descr="Landmark icon">    </p:cNvPr>
          <p:cNvPicPr>
            <a:picLocks noChangeAspect="1"/>
          </p:cNvPicPr>
          <p:nvPr/>
        </p:nvPicPr>
        <p:blipFill>
          <a:blip r:embed="rId6"/>
          <a:stretch>
            <a:fillRect/>
          </a:stretch>
        </p:blipFill>
        <p:spPr>
          <a:xfrm>
            <a:off x="1110996" y="5436108"/>
            <a:ext cx="301752" cy="301752"/>
          </a:xfrm>
          <a:prstGeom prst="rect">
            <a:avLst/>
          </a:prstGeom>
        </p:spPr>
      </p:pic>
      <p:sp>
        <p:nvSpPr>
          <p:cNvPr id="38" name="Text 29"/>
          <p:cNvSpPr txBox="1"/>
          <p:nvPr/>
        </p:nvSpPr>
        <p:spPr>
          <a:xfrm>
            <a:off x="1783080" y="5303520"/>
            <a:ext cx="9509760" cy="594360"/>
          </a:xfrm>
          <a:prstGeom prst="rect">
            <a:avLst/>
          </a:prstGeom>
          <a:noFill/>
          <a:ln/>
        </p:spPr>
        <p:txBody>
          <a:bodyPr wrap="square" lIns="0" tIns="0" rIns="0" bIns="0" rtlCol="0" anchor="ctr"/>
          <a:lstStyle/>
          <a:p>
            <a:pPr indent="0" marL="0">
              <a:buNone/>
            </a:pPr>
            <a:r>
              <a:rPr lang="en-US" sz="1400" b="1" dirty="0">
                <a:solidFill>
                  <a:schemeClr val="bg1"/>
                </a:solidFill>
                <a:latin typeface="Cambria" pitchFamily="34" charset="0"/>
                <a:ea typeface="Cambria" pitchFamily="34" charset="-122"/>
                <a:cs typeface="Cambria" pitchFamily="34" charset="-120"/>
              </a:rPr>
              <a:t>Supervised by the Financial Services Commission  </a:t>
            </a:r>
            <a:pPr indent="0" marL="0">
              <a:buNone/>
            </a:pPr>
            <a:r>
              <a:rPr lang="en-US" sz="1400" dirty="0">
                <a:solidFill>
                  <a:schemeClr val="accent6"/>
                </a:solidFill>
              </a:rPr>
              <a:t>The FSC is the sole AML/CFT supervisor for lawyers, real estate agents and other DNFBPs. It registers, inspects, and can fine.</a:t>
            </a:r>
            <a:endParaRPr lang="en-US" sz="1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02 · THE LAW</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Six offences you must know</a:t>
            </a:r>
            <a:endParaRPr lang="en-US" sz="3400" dirty="0"/>
          </a:p>
        </p:txBody>
      </p:sp>
      <p:sp>
        <p:nvSpPr>
          <p:cNvPr id="5" name="Offence card"/>
          <p:cNvSpPr/>
          <p:nvPr/>
        </p:nvSpPr>
        <p:spPr>
          <a:xfrm>
            <a:off x="685800" y="1828800"/>
            <a:ext cx="3456432" cy="1901952"/>
          </a:xfrm>
          <a:prstGeom prst="roundRect">
            <a:avLst>
              <a:gd name="adj" fmla="val 5769"/>
            </a:avLst>
          </a:prstGeom>
          <a:solidFill>
            <a:schemeClr val="bg2"/>
          </a:solidFill>
          <a:ln/>
        </p:spPr>
      </p:sp>
      <p:sp>
        <p:nvSpPr>
          <p:cNvPr id="6" name="Text 3"/>
          <p:cNvSpPr txBox="1"/>
          <p:nvPr/>
        </p:nvSpPr>
        <p:spPr>
          <a:xfrm>
            <a:off x="960120" y="2029968"/>
            <a:ext cx="1828800" cy="228600"/>
          </a:xfrm>
          <a:prstGeom prst="rect">
            <a:avLst/>
          </a:prstGeom>
          <a:noFill/>
          <a:ln/>
        </p:spPr>
        <p:txBody>
          <a:bodyPr wrap="square" lIns="0" tIns="0" rIns="0" bIns="0" rtlCol="0" anchor="t"/>
          <a:lstStyle/>
          <a:p>
            <a:pPr indent="0" marL="0">
              <a:buNone/>
            </a:pPr>
            <a:r>
              <a:rPr lang="en-US" sz="1000" b="1" spc="300" kern="0" dirty="0">
                <a:solidFill>
                  <a:schemeClr val="accent1"/>
                </a:solidFill>
              </a:rPr>
              <a:t>OFFENCE 01</a:t>
            </a:r>
            <a:endParaRPr lang="en-US" sz="1000" dirty="0"/>
          </a:p>
        </p:txBody>
      </p:sp>
      <p:sp>
        <p:nvSpPr>
          <p:cNvPr id="7" name="Text 4"/>
          <p:cNvSpPr txBox="1"/>
          <p:nvPr/>
        </p:nvSpPr>
        <p:spPr>
          <a:xfrm>
            <a:off x="960120" y="2286000"/>
            <a:ext cx="2907792"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Concealing</a:t>
            </a:r>
            <a:endParaRPr lang="en-US" sz="1700" dirty="0"/>
          </a:p>
        </p:txBody>
      </p:sp>
      <p:sp>
        <p:nvSpPr>
          <p:cNvPr id="8" name="Text 5"/>
          <p:cNvSpPr txBox="1"/>
          <p:nvPr/>
        </p:nvSpPr>
        <p:spPr>
          <a:xfrm>
            <a:off x="960120" y="2715768"/>
            <a:ext cx="2907792" cy="914400"/>
          </a:xfrm>
          <a:prstGeom prst="rect">
            <a:avLst/>
          </a:prstGeom>
          <a:noFill/>
          <a:ln/>
        </p:spPr>
        <p:txBody>
          <a:bodyPr wrap="square" lIns="0" tIns="0" rIns="0" bIns="0" rtlCol="0" anchor="t"/>
          <a:lstStyle/>
          <a:p>
            <a:pPr indent="0" marL="0">
              <a:buNone/>
            </a:pPr>
            <a:r>
              <a:rPr lang="en-US" sz="1300" dirty="0">
                <a:solidFill>
                  <a:schemeClr val="tx2"/>
                </a:solidFill>
              </a:rPr>
              <a:t>Concealing, disguising, converting or transferring criminal property, or removing it from the Islands.</a:t>
            </a:r>
            <a:endParaRPr lang="en-US" sz="1300" dirty="0"/>
          </a:p>
        </p:txBody>
      </p:sp>
      <p:sp>
        <p:nvSpPr>
          <p:cNvPr id="9" name="Offence card"/>
          <p:cNvSpPr/>
          <p:nvPr/>
        </p:nvSpPr>
        <p:spPr>
          <a:xfrm>
            <a:off x="4366260" y="1828800"/>
            <a:ext cx="3456432" cy="1901952"/>
          </a:xfrm>
          <a:prstGeom prst="roundRect">
            <a:avLst>
              <a:gd name="adj" fmla="val 5769"/>
            </a:avLst>
          </a:prstGeom>
          <a:solidFill>
            <a:schemeClr val="bg2"/>
          </a:solidFill>
          <a:ln/>
        </p:spPr>
      </p:sp>
      <p:sp>
        <p:nvSpPr>
          <p:cNvPr id="10" name="Text 7"/>
          <p:cNvSpPr txBox="1"/>
          <p:nvPr/>
        </p:nvSpPr>
        <p:spPr>
          <a:xfrm>
            <a:off x="4640580" y="2029968"/>
            <a:ext cx="1828800" cy="228600"/>
          </a:xfrm>
          <a:prstGeom prst="rect">
            <a:avLst/>
          </a:prstGeom>
          <a:noFill/>
          <a:ln/>
        </p:spPr>
        <p:txBody>
          <a:bodyPr wrap="square" lIns="0" tIns="0" rIns="0" bIns="0" rtlCol="0" anchor="t"/>
          <a:lstStyle/>
          <a:p>
            <a:pPr indent="0" marL="0">
              <a:buNone/>
            </a:pPr>
            <a:r>
              <a:rPr lang="en-US" sz="1000" b="1" spc="300" kern="0" dirty="0">
                <a:solidFill>
                  <a:schemeClr val="accent1"/>
                </a:solidFill>
              </a:rPr>
              <a:t>OFFENCE 02</a:t>
            </a:r>
            <a:endParaRPr lang="en-US" sz="1000" dirty="0"/>
          </a:p>
        </p:txBody>
      </p:sp>
      <p:sp>
        <p:nvSpPr>
          <p:cNvPr id="11" name="Text 8"/>
          <p:cNvSpPr txBox="1"/>
          <p:nvPr/>
        </p:nvSpPr>
        <p:spPr>
          <a:xfrm>
            <a:off x="4640580" y="2286000"/>
            <a:ext cx="2907792"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Arrangements</a:t>
            </a:r>
            <a:endParaRPr lang="en-US" sz="1700" dirty="0"/>
          </a:p>
        </p:txBody>
      </p:sp>
      <p:sp>
        <p:nvSpPr>
          <p:cNvPr id="12" name="Text 9"/>
          <p:cNvSpPr txBox="1"/>
          <p:nvPr/>
        </p:nvSpPr>
        <p:spPr>
          <a:xfrm>
            <a:off x="4640580" y="2715768"/>
            <a:ext cx="2907792" cy="914400"/>
          </a:xfrm>
          <a:prstGeom prst="rect">
            <a:avLst/>
          </a:prstGeom>
          <a:noFill/>
          <a:ln/>
        </p:spPr>
        <p:txBody>
          <a:bodyPr wrap="square" lIns="0" tIns="0" rIns="0" bIns="0" rtlCol="0" anchor="t"/>
          <a:lstStyle/>
          <a:p>
            <a:pPr indent="0" marL="0">
              <a:buNone/>
            </a:pPr>
            <a:r>
              <a:rPr lang="en-US" sz="1300" dirty="0">
                <a:solidFill>
                  <a:schemeClr val="tx2"/>
                </a:solidFill>
              </a:rPr>
              <a:t>Becoming involved in an arrangement you know or suspect helps another person acquire, keep, use or control criminal property.</a:t>
            </a:r>
            <a:endParaRPr lang="en-US" sz="1300" dirty="0"/>
          </a:p>
        </p:txBody>
      </p:sp>
      <p:sp>
        <p:nvSpPr>
          <p:cNvPr id="13" name="Offence card"/>
          <p:cNvSpPr/>
          <p:nvPr/>
        </p:nvSpPr>
        <p:spPr>
          <a:xfrm>
            <a:off x="8046720" y="1828800"/>
            <a:ext cx="3456432" cy="1901952"/>
          </a:xfrm>
          <a:prstGeom prst="roundRect">
            <a:avLst>
              <a:gd name="adj" fmla="val 5769"/>
            </a:avLst>
          </a:prstGeom>
          <a:solidFill>
            <a:schemeClr val="bg2"/>
          </a:solidFill>
          <a:ln/>
        </p:spPr>
      </p:sp>
      <p:sp>
        <p:nvSpPr>
          <p:cNvPr id="14" name="Text 11"/>
          <p:cNvSpPr txBox="1"/>
          <p:nvPr/>
        </p:nvSpPr>
        <p:spPr>
          <a:xfrm>
            <a:off x="8321040" y="2029968"/>
            <a:ext cx="1828800" cy="228600"/>
          </a:xfrm>
          <a:prstGeom prst="rect">
            <a:avLst/>
          </a:prstGeom>
          <a:noFill/>
          <a:ln/>
        </p:spPr>
        <p:txBody>
          <a:bodyPr wrap="square" lIns="0" tIns="0" rIns="0" bIns="0" rtlCol="0" anchor="t"/>
          <a:lstStyle/>
          <a:p>
            <a:pPr indent="0" marL="0">
              <a:buNone/>
            </a:pPr>
            <a:r>
              <a:rPr lang="en-US" sz="1000" b="1" spc="300" kern="0" dirty="0">
                <a:solidFill>
                  <a:schemeClr val="accent1"/>
                </a:solidFill>
              </a:rPr>
              <a:t>OFFENCE 03</a:t>
            </a:r>
            <a:endParaRPr lang="en-US" sz="1000" dirty="0"/>
          </a:p>
        </p:txBody>
      </p:sp>
      <p:sp>
        <p:nvSpPr>
          <p:cNvPr id="15" name="Text 12"/>
          <p:cNvSpPr txBox="1"/>
          <p:nvPr/>
        </p:nvSpPr>
        <p:spPr>
          <a:xfrm>
            <a:off x="8321040" y="2286000"/>
            <a:ext cx="2907792"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Acquire, use or possess</a:t>
            </a:r>
            <a:endParaRPr lang="en-US" sz="1700" dirty="0"/>
          </a:p>
        </p:txBody>
      </p:sp>
      <p:sp>
        <p:nvSpPr>
          <p:cNvPr id="16" name="Text 13"/>
          <p:cNvSpPr txBox="1"/>
          <p:nvPr/>
        </p:nvSpPr>
        <p:spPr>
          <a:xfrm>
            <a:off x="8321040" y="2715768"/>
            <a:ext cx="2907792" cy="914400"/>
          </a:xfrm>
          <a:prstGeom prst="rect">
            <a:avLst/>
          </a:prstGeom>
          <a:noFill/>
          <a:ln/>
        </p:spPr>
        <p:txBody>
          <a:bodyPr wrap="square" lIns="0" tIns="0" rIns="0" bIns="0" rtlCol="0" anchor="t"/>
          <a:lstStyle/>
          <a:p>
            <a:pPr indent="0" marL="0">
              <a:buNone/>
            </a:pPr>
            <a:r>
              <a:rPr lang="en-US" sz="1300" dirty="0">
                <a:solidFill>
                  <a:schemeClr val="tx2"/>
                </a:solidFill>
              </a:rPr>
              <a:t>Acquiring, using or holding criminal property, including fees knowingly paid from it.</a:t>
            </a:r>
            <a:endParaRPr lang="en-US" sz="1300" dirty="0"/>
          </a:p>
        </p:txBody>
      </p:sp>
      <p:sp>
        <p:nvSpPr>
          <p:cNvPr id="17" name="Offence card"/>
          <p:cNvSpPr/>
          <p:nvPr/>
        </p:nvSpPr>
        <p:spPr>
          <a:xfrm>
            <a:off x="685800" y="3959352"/>
            <a:ext cx="3456432" cy="1901952"/>
          </a:xfrm>
          <a:prstGeom prst="roundRect">
            <a:avLst>
              <a:gd name="adj" fmla="val 5769"/>
            </a:avLst>
          </a:prstGeom>
          <a:solidFill>
            <a:schemeClr val="tx1"/>
          </a:solidFill>
          <a:ln/>
          <a:effectLst>
            <a:outerShdw sx="100000" sy="100000" kx="0" ky="0" algn="bl" rotWithShape="0" blurRad="177800" dist="38100" dir="5400000">
              <a:srgbClr val="0B1F2A">
                <a:alpha val="10000"/>
              </a:srgbClr>
            </a:outerShdw>
          </a:effectLst>
        </p:spPr>
      </p:sp>
      <p:sp>
        <p:nvSpPr>
          <p:cNvPr id="18" name="Text 15"/>
          <p:cNvSpPr txBox="1"/>
          <p:nvPr/>
        </p:nvSpPr>
        <p:spPr>
          <a:xfrm>
            <a:off x="960120" y="4160520"/>
            <a:ext cx="1828800" cy="228600"/>
          </a:xfrm>
          <a:prstGeom prst="rect">
            <a:avLst/>
          </a:prstGeom>
          <a:noFill/>
          <a:ln/>
        </p:spPr>
        <p:txBody>
          <a:bodyPr wrap="square" lIns="0" tIns="0" rIns="0" bIns="0" rtlCol="0" anchor="t"/>
          <a:lstStyle/>
          <a:p>
            <a:pPr indent="0" marL="0">
              <a:buNone/>
            </a:pPr>
            <a:r>
              <a:rPr lang="en-US" sz="1000" b="1" spc="300" kern="0" dirty="0">
                <a:solidFill>
                  <a:schemeClr val="accent2"/>
                </a:solidFill>
              </a:rPr>
              <a:t>OFFENCE 04</a:t>
            </a:r>
            <a:endParaRPr lang="en-US" sz="1000" dirty="0"/>
          </a:p>
        </p:txBody>
      </p:sp>
      <p:sp>
        <p:nvSpPr>
          <p:cNvPr id="19" name="Text 16"/>
          <p:cNvSpPr txBox="1"/>
          <p:nvPr/>
        </p:nvSpPr>
        <p:spPr>
          <a:xfrm>
            <a:off x="960120" y="4416552"/>
            <a:ext cx="2907792" cy="36576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Failure to disclose</a:t>
            </a:r>
            <a:endParaRPr lang="en-US" sz="1700" dirty="0"/>
          </a:p>
        </p:txBody>
      </p:sp>
      <p:sp>
        <p:nvSpPr>
          <p:cNvPr id="20" name="Text 17"/>
          <p:cNvSpPr txBox="1"/>
          <p:nvPr/>
        </p:nvSpPr>
        <p:spPr>
          <a:xfrm>
            <a:off x="960120" y="4846320"/>
            <a:ext cx="2907792" cy="914400"/>
          </a:xfrm>
          <a:prstGeom prst="rect">
            <a:avLst/>
          </a:prstGeom>
          <a:noFill/>
          <a:ln/>
        </p:spPr>
        <p:txBody>
          <a:bodyPr wrap="square" lIns="0" tIns="0" rIns="0" bIns="0" rtlCol="0" anchor="t"/>
          <a:lstStyle/>
          <a:p>
            <a:pPr indent="0" marL="0">
              <a:buNone/>
            </a:pPr>
            <a:r>
              <a:rPr lang="en-US" sz="1300" dirty="0">
                <a:solidFill>
                  <a:schemeClr val="accent6"/>
                </a:solidFill>
              </a:rPr>
              <a:t>Not reporting knowledge or suspicion, or reasonable grounds for either, to the MLRO as soon as practicable.</a:t>
            </a:r>
            <a:endParaRPr lang="en-US" sz="1300" dirty="0"/>
          </a:p>
        </p:txBody>
      </p:sp>
      <p:sp>
        <p:nvSpPr>
          <p:cNvPr id="21" name="Offence card"/>
          <p:cNvSpPr/>
          <p:nvPr/>
        </p:nvSpPr>
        <p:spPr>
          <a:xfrm>
            <a:off x="4366260" y="3959352"/>
            <a:ext cx="3456432" cy="1901952"/>
          </a:xfrm>
          <a:prstGeom prst="roundRect">
            <a:avLst>
              <a:gd name="adj" fmla="val 5769"/>
            </a:avLst>
          </a:prstGeom>
          <a:solidFill>
            <a:schemeClr val="tx1"/>
          </a:solidFill>
          <a:ln/>
          <a:effectLst>
            <a:outerShdw sx="100000" sy="100000" kx="0" ky="0" algn="bl" rotWithShape="0" blurRad="177800" dist="38100" dir="5400000">
              <a:srgbClr val="0B1F2A">
                <a:alpha val="10000"/>
              </a:srgbClr>
            </a:outerShdw>
          </a:effectLst>
        </p:spPr>
      </p:sp>
      <p:sp>
        <p:nvSpPr>
          <p:cNvPr id="22" name="Text 19"/>
          <p:cNvSpPr txBox="1"/>
          <p:nvPr/>
        </p:nvSpPr>
        <p:spPr>
          <a:xfrm>
            <a:off x="4640580" y="4160520"/>
            <a:ext cx="1828800" cy="228600"/>
          </a:xfrm>
          <a:prstGeom prst="rect">
            <a:avLst/>
          </a:prstGeom>
          <a:noFill/>
          <a:ln/>
        </p:spPr>
        <p:txBody>
          <a:bodyPr wrap="square" lIns="0" tIns="0" rIns="0" bIns="0" rtlCol="0" anchor="t"/>
          <a:lstStyle/>
          <a:p>
            <a:pPr indent="0" marL="0">
              <a:buNone/>
            </a:pPr>
            <a:r>
              <a:rPr lang="en-US" sz="1000" b="1" spc="300" kern="0" dirty="0">
                <a:solidFill>
                  <a:schemeClr val="accent2"/>
                </a:solidFill>
              </a:rPr>
              <a:t>OFFENCE 05</a:t>
            </a:r>
            <a:endParaRPr lang="en-US" sz="1000" dirty="0"/>
          </a:p>
        </p:txBody>
      </p:sp>
      <p:sp>
        <p:nvSpPr>
          <p:cNvPr id="23" name="Text 20"/>
          <p:cNvSpPr txBox="1"/>
          <p:nvPr/>
        </p:nvSpPr>
        <p:spPr>
          <a:xfrm>
            <a:off x="4640580" y="4416552"/>
            <a:ext cx="2907792" cy="36576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Tipping off</a:t>
            </a:r>
            <a:endParaRPr lang="en-US" sz="1700" dirty="0"/>
          </a:p>
        </p:txBody>
      </p:sp>
      <p:sp>
        <p:nvSpPr>
          <p:cNvPr id="24" name="Text 21"/>
          <p:cNvSpPr txBox="1"/>
          <p:nvPr/>
        </p:nvSpPr>
        <p:spPr>
          <a:xfrm>
            <a:off x="4640580" y="4846320"/>
            <a:ext cx="2907792" cy="914400"/>
          </a:xfrm>
          <a:prstGeom prst="rect">
            <a:avLst/>
          </a:prstGeom>
          <a:noFill/>
          <a:ln/>
        </p:spPr>
        <p:txBody>
          <a:bodyPr wrap="square" lIns="0" tIns="0" rIns="0" bIns="0" rtlCol="0" anchor="t"/>
          <a:lstStyle/>
          <a:p>
            <a:pPr indent="0" marL="0">
              <a:buNone/>
            </a:pPr>
            <a:r>
              <a:rPr lang="en-US" sz="1300" dirty="0">
                <a:solidFill>
                  <a:schemeClr val="accent6"/>
                </a:solidFill>
              </a:rPr>
              <a:t>Telling anyone anything likely to prejudice an investigation once a report has been made or is being considered.</a:t>
            </a:r>
            <a:endParaRPr lang="en-US" sz="1300" dirty="0"/>
          </a:p>
        </p:txBody>
      </p:sp>
      <p:sp>
        <p:nvSpPr>
          <p:cNvPr id="25" name="Offence card"/>
          <p:cNvSpPr/>
          <p:nvPr/>
        </p:nvSpPr>
        <p:spPr>
          <a:xfrm>
            <a:off x="8046720" y="3959352"/>
            <a:ext cx="3456432" cy="1901952"/>
          </a:xfrm>
          <a:prstGeom prst="roundRect">
            <a:avLst>
              <a:gd name="adj" fmla="val 5769"/>
            </a:avLst>
          </a:prstGeom>
          <a:solidFill>
            <a:schemeClr val="tx1"/>
          </a:solidFill>
          <a:ln/>
          <a:effectLst>
            <a:outerShdw sx="100000" sy="100000" kx="0" ky="0" algn="bl" rotWithShape="0" blurRad="177800" dist="38100" dir="5400000">
              <a:srgbClr val="0B1F2A">
                <a:alpha val="10000"/>
              </a:srgbClr>
            </a:outerShdw>
          </a:effectLst>
        </p:spPr>
      </p:sp>
      <p:sp>
        <p:nvSpPr>
          <p:cNvPr id="26" name="Text 23"/>
          <p:cNvSpPr txBox="1"/>
          <p:nvPr/>
        </p:nvSpPr>
        <p:spPr>
          <a:xfrm>
            <a:off x="8321040" y="4160520"/>
            <a:ext cx="1828800" cy="228600"/>
          </a:xfrm>
          <a:prstGeom prst="rect">
            <a:avLst/>
          </a:prstGeom>
          <a:noFill/>
          <a:ln/>
        </p:spPr>
        <p:txBody>
          <a:bodyPr wrap="square" lIns="0" tIns="0" rIns="0" bIns="0" rtlCol="0" anchor="t"/>
          <a:lstStyle/>
          <a:p>
            <a:pPr indent="0" marL="0">
              <a:buNone/>
            </a:pPr>
            <a:r>
              <a:rPr lang="en-US" sz="1000" b="1" spc="300" kern="0" dirty="0">
                <a:solidFill>
                  <a:schemeClr val="accent2"/>
                </a:solidFill>
              </a:rPr>
              <a:t>OFFENCE 06</a:t>
            </a:r>
            <a:endParaRPr lang="en-US" sz="1000" dirty="0"/>
          </a:p>
        </p:txBody>
      </p:sp>
      <p:sp>
        <p:nvSpPr>
          <p:cNvPr id="27" name="Text 24"/>
          <p:cNvSpPr txBox="1"/>
          <p:nvPr/>
        </p:nvSpPr>
        <p:spPr>
          <a:xfrm>
            <a:off x="8321040" y="4416552"/>
            <a:ext cx="2907792" cy="36576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Prejudicing an investigation</a:t>
            </a:r>
            <a:endParaRPr lang="en-US" sz="1700" dirty="0"/>
          </a:p>
        </p:txBody>
      </p:sp>
      <p:sp>
        <p:nvSpPr>
          <p:cNvPr id="28" name="Text 25"/>
          <p:cNvSpPr txBox="1"/>
          <p:nvPr/>
        </p:nvSpPr>
        <p:spPr>
          <a:xfrm>
            <a:off x="8321040" y="4846320"/>
            <a:ext cx="2907792" cy="914400"/>
          </a:xfrm>
          <a:prstGeom prst="rect">
            <a:avLst/>
          </a:prstGeom>
          <a:noFill/>
          <a:ln/>
        </p:spPr>
        <p:txBody>
          <a:bodyPr wrap="square" lIns="0" tIns="0" rIns="0" bIns="0" rtlCol="0" anchor="t"/>
          <a:lstStyle/>
          <a:p>
            <a:pPr indent="0" marL="0">
              <a:buNone/>
            </a:pPr>
            <a:r>
              <a:rPr lang="en-US" sz="1300" dirty="0">
                <a:solidFill>
                  <a:schemeClr val="accent6"/>
                </a:solidFill>
              </a:rPr>
              <a:t>Falsifying, concealing or destroying documents relevant to an investigation.</a:t>
            </a:r>
            <a:endParaRPr lang="en-US" sz="1300" dirty="0"/>
          </a:p>
        </p:txBody>
      </p:sp>
      <p:sp>
        <p:nvSpPr>
          <p:cNvPr id="29" name="Text 26"/>
          <p:cNvSpPr txBox="1"/>
          <p:nvPr/>
        </p:nvSpPr>
        <p:spPr>
          <a:xfrm>
            <a:off x="685800" y="6053328"/>
            <a:ext cx="10789920" cy="256032"/>
          </a:xfrm>
          <a:prstGeom prst="rect">
            <a:avLst/>
          </a:prstGeom>
          <a:noFill/>
          <a:ln/>
        </p:spPr>
        <p:txBody>
          <a:bodyPr wrap="square" lIns="0" tIns="0" rIns="0" bIns="0" rtlCol="0" anchor="t"/>
          <a:lstStyle/>
          <a:p>
            <a:pPr indent="0" marL="0">
              <a:buNone/>
            </a:pPr>
            <a:r>
              <a:rPr lang="en-US" sz="1100" i="1" dirty="0">
                <a:solidFill>
                  <a:schemeClr val="accent4"/>
                </a:solidFill>
              </a:rPr>
              <a:t>Offences 4–6 relate directly to how you handle suspicion. The test is objective: "reasonable grounds to suspect" is enough.</a:t>
            </a:r>
            <a:endParaRPr lang="en-US" sz="11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02 · THE LAW</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Who does what</a:t>
            </a:r>
            <a:endParaRPr lang="en-US" sz="3400" dirty="0"/>
          </a:p>
        </p:txBody>
      </p:sp>
      <p:sp>
        <p:nvSpPr>
          <p:cNvPr id="5" name="Role card"/>
          <p:cNvSpPr/>
          <p:nvPr/>
        </p:nvSpPr>
        <p:spPr>
          <a:xfrm>
            <a:off x="685800" y="1920240"/>
            <a:ext cx="3291840" cy="3977640"/>
          </a:xfrm>
          <a:prstGeom prst="roundRect">
            <a:avLst>
              <a:gd name="adj" fmla="val 3333"/>
            </a:avLst>
          </a:prstGeom>
          <a:solidFill>
            <a:schemeClr val="accent1"/>
          </a:solidFill>
          <a:ln/>
          <a:effectLst>
            <a:outerShdw sx="100000" sy="100000" kx="0" ky="0" algn="bl" rotWithShape="0" blurRad="177800" dist="38100" dir="5400000">
              <a:srgbClr val="0B1F2A">
                <a:alpha val="10000"/>
              </a:srgbClr>
            </a:outerShdw>
          </a:effectLst>
        </p:spPr>
      </p:sp>
      <p:sp>
        <p:nvSpPr>
          <p:cNvPr id="6" name="Icon disc"/>
          <p:cNvSpPr/>
          <p:nvPr/>
        </p:nvSpPr>
        <p:spPr>
          <a:xfrm>
            <a:off x="1051560" y="2286000"/>
            <a:ext cx="676656" cy="676656"/>
          </a:xfrm>
          <a:prstGeom prst="ellipse">
            <a:avLst/>
          </a:prstGeom>
          <a:solidFill>
            <a:schemeClr val="bg1"/>
          </a:solidFill>
          <a:ln/>
        </p:spPr>
      </p:sp>
      <p:pic>
        <p:nvPicPr>
          <p:cNvPr id="7" name="Image 0" descr="Users icon">    </p:cNvPr>
          <p:cNvPicPr>
            <a:picLocks noChangeAspect="1"/>
          </p:cNvPicPr>
          <p:nvPr/>
        </p:nvPicPr>
        <p:blipFill>
          <a:blip r:embed="rId1"/>
          <a:stretch>
            <a:fillRect/>
          </a:stretch>
        </p:blipFill>
        <p:spPr>
          <a:xfrm>
            <a:off x="1220724" y="2455164"/>
            <a:ext cx="338328" cy="338328"/>
          </a:xfrm>
          <a:prstGeom prst="rect">
            <a:avLst/>
          </a:prstGeom>
        </p:spPr>
      </p:pic>
      <p:sp>
        <p:nvSpPr>
          <p:cNvPr id="8" name="Text 4"/>
          <p:cNvSpPr txBox="1"/>
          <p:nvPr/>
        </p:nvSpPr>
        <p:spPr>
          <a:xfrm>
            <a:off x="1892808" y="2267712"/>
            <a:ext cx="1920240" cy="45720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You</a:t>
            </a:r>
            <a:endParaRPr lang="en-US" sz="2600" dirty="0"/>
          </a:p>
        </p:txBody>
      </p:sp>
      <p:sp>
        <p:nvSpPr>
          <p:cNvPr id="9" name="Text 5"/>
          <p:cNvSpPr txBox="1"/>
          <p:nvPr/>
        </p:nvSpPr>
        <p:spPr>
          <a:xfrm>
            <a:off x="1892808" y="2706624"/>
            <a:ext cx="2011680" cy="274320"/>
          </a:xfrm>
          <a:prstGeom prst="rect">
            <a:avLst/>
          </a:prstGeom>
          <a:noFill/>
          <a:ln/>
        </p:spPr>
        <p:txBody>
          <a:bodyPr wrap="square" lIns="0" tIns="0" rIns="0" bIns="0" rtlCol="0" anchor="t"/>
          <a:lstStyle/>
          <a:p>
            <a:pPr indent="0" marL="0">
              <a:buNone/>
            </a:pPr>
            <a:r>
              <a:rPr lang="en-US" sz="1200" dirty="0">
                <a:solidFill>
                  <a:schemeClr val="bg1"/>
                </a:solidFill>
              </a:rPr>
              <a:t>Every employee</a:t>
            </a:r>
            <a:endParaRPr lang="en-US" sz="1200" dirty="0"/>
          </a:p>
        </p:txBody>
      </p:sp>
      <p:sp>
        <p:nvSpPr>
          <p:cNvPr id="10" name="Text 6"/>
          <p:cNvSpPr txBox="1"/>
          <p:nvPr/>
        </p:nvSpPr>
        <p:spPr>
          <a:xfrm>
            <a:off x="1051560" y="3337560"/>
            <a:ext cx="2560320" cy="22860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bg1"/>
                </a:solidFill>
              </a:rPr>
              <a:t>Follow CDD procedures</a:t>
            </a:r>
            <a:endParaRPr lang="en-US" sz="1500" dirty="0"/>
          </a:p>
          <a:p>
            <a:pPr marL="203200" indent="-203200">
              <a:spcAft>
                <a:spcPts val="1000"/>
              </a:spcAft>
              <a:buSzPct val="100000"/>
              <a:buChar char="•"/>
            </a:pPr>
            <a:r>
              <a:rPr lang="en-US" sz="1500" dirty="0">
                <a:solidFill>
                  <a:schemeClr val="bg1"/>
                </a:solidFill>
              </a:rPr>
              <a:t>Stay alert to red flags</a:t>
            </a:r>
            <a:endParaRPr lang="en-US" sz="1500" dirty="0"/>
          </a:p>
          <a:p>
            <a:pPr marL="203200" indent="-203200">
              <a:spcAft>
                <a:spcPts val="1000"/>
              </a:spcAft>
              <a:buSzPct val="100000"/>
              <a:buChar char="•"/>
            </a:pPr>
            <a:r>
              <a:rPr lang="en-US" sz="1500" dirty="0">
                <a:solidFill>
                  <a:schemeClr val="bg1"/>
                </a:solidFill>
              </a:rPr>
              <a:t>Report concerns to the MLRO</a:t>
            </a:r>
            <a:endParaRPr lang="en-US" sz="1500" dirty="0"/>
          </a:p>
          <a:p>
            <a:pPr marL="203200" indent="-203200">
              <a:spcAft>
                <a:spcPts val="1000"/>
              </a:spcAft>
              <a:buSzPct val="100000"/>
              <a:buChar char="•"/>
            </a:pPr>
            <a:r>
              <a:rPr lang="en-US" sz="1500" dirty="0">
                <a:solidFill>
                  <a:schemeClr val="bg1"/>
                </a:solidFill>
              </a:rPr>
              <a:t>Never tip off</a:t>
            </a:r>
            <a:endParaRPr lang="en-US" sz="1500" dirty="0"/>
          </a:p>
        </p:txBody>
      </p:sp>
      <p:pic>
        <p:nvPicPr>
          <p:cNvPr id="11" name="Image 1" descr="arrow">    </p:cNvPr>
          <p:cNvPicPr>
            <a:picLocks noChangeAspect="1"/>
          </p:cNvPicPr>
          <p:nvPr/>
        </p:nvPicPr>
        <p:blipFill>
          <a:blip r:embed="rId2"/>
          <a:stretch>
            <a:fillRect/>
          </a:stretch>
        </p:blipFill>
        <p:spPr>
          <a:xfrm>
            <a:off x="4069080" y="3749040"/>
            <a:ext cx="292608" cy="292608"/>
          </a:xfrm>
          <a:prstGeom prst="rect">
            <a:avLst/>
          </a:prstGeom>
        </p:spPr>
      </p:pic>
      <p:sp>
        <p:nvSpPr>
          <p:cNvPr id="12" name="Role card"/>
          <p:cNvSpPr/>
          <p:nvPr/>
        </p:nvSpPr>
        <p:spPr>
          <a:xfrm>
            <a:off x="4453128" y="1920240"/>
            <a:ext cx="3291840" cy="3977640"/>
          </a:xfrm>
          <a:prstGeom prst="roundRect">
            <a:avLst>
              <a:gd name="adj" fmla="val 3333"/>
            </a:avLst>
          </a:prstGeom>
          <a:solidFill>
            <a:schemeClr val="bg1"/>
          </a:solidFill>
          <a:ln/>
          <a:effectLst>
            <a:outerShdw sx="100000" sy="100000" kx="0" ky="0" algn="bl" rotWithShape="0" blurRad="177800" dist="38100" dir="5400000">
              <a:srgbClr val="0B1F2A">
                <a:alpha val="10000"/>
              </a:srgbClr>
            </a:outerShdw>
          </a:effectLst>
        </p:spPr>
      </p:sp>
      <p:sp>
        <p:nvSpPr>
          <p:cNvPr id="13" name="Icon disc"/>
          <p:cNvSpPr/>
          <p:nvPr/>
        </p:nvSpPr>
        <p:spPr>
          <a:xfrm>
            <a:off x="4818888" y="2286000"/>
            <a:ext cx="676656" cy="676656"/>
          </a:xfrm>
          <a:prstGeom prst="ellipse">
            <a:avLst/>
          </a:prstGeom>
          <a:solidFill>
            <a:schemeClr val="accent1"/>
          </a:solidFill>
          <a:ln/>
        </p:spPr>
      </p:sp>
      <p:pic>
        <p:nvPicPr>
          <p:cNvPr id="14" name="Image 2" descr="Flag icon">    </p:cNvPr>
          <p:cNvPicPr>
            <a:picLocks noChangeAspect="1"/>
          </p:cNvPicPr>
          <p:nvPr/>
        </p:nvPicPr>
        <p:blipFill>
          <a:blip r:embed="rId3"/>
          <a:stretch>
            <a:fillRect/>
          </a:stretch>
        </p:blipFill>
        <p:spPr>
          <a:xfrm>
            <a:off x="4988052" y="2455164"/>
            <a:ext cx="338328" cy="338328"/>
          </a:xfrm>
          <a:prstGeom prst="rect">
            <a:avLst/>
          </a:prstGeom>
        </p:spPr>
      </p:pic>
      <p:sp>
        <p:nvSpPr>
          <p:cNvPr id="15" name="Text 9"/>
          <p:cNvSpPr txBox="1"/>
          <p:nvPr/>
        </p:nvSpPr>
        <p:spPr>
          <a:xfrm>
            <a:off x="5660136" y="2267712"/>
            <a:ext cx="1920240" cy="45720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MLRO</a:t>
            </a:r>
            <a:endParaRPr lang="en-US" sz="2600" dirty="0"/>
          </a:p>
        </p:txBody>
      </p:sp>
      <p:sp>
        <p:nvSpPr>
          <p:cNvPr id="16" name="Text 10"/>
          <p:cNvSpPr txBox="1"/>
          <p:nvPr/>
        </p:nvSpPr>
        <p:spPr>
          <a:xfrm>
            <a:off x="5660136" y="2706624"/>
            <a:ext cx="2011680" cy="274320"/>
          </a:xfrm>
          <a:prstGeom prst="rect">
            <a:avLst/>
          </a:prstGeom>
          <a:noFill/>
          <a:ln/>
        </p:spPr>
        <p:txBody>
          <a:bodyPr wrap="square" lIns="0" tIns="0" rIns="0" bIns="0" rtlCol="0" anchor="t"/>
          <a:lstStyle/>
          <a:p>
            <a:pPr indent="0" marL="0">
              <a:buNone/>
            </a:pPr>
            <a:r>
              <a:rPr lang="en-US" sz="1200" dirty="0">
                <a:solidFill>
                  <a:schemeClr val="accent4"/>
                </a:solidFill>
              </a:rPr>
              <a:t>[Name, title]</a:t>
            </a:r>
            <a:endParaRPr lang="en-US" sz="1200" dirty="0"/>
          </a:p>
        </p:txBody>
      </p:sp>
      <p:sp>
        <p:nvSpPr>
          <p:cNvPr id="17" name="Text 11"/>
          <p:cNvSpPr txBox="1"/>
          <p:nvPr/>
        </p:nvSpPr>
        <p:spPr>
          <a:xfrm>
            <a:off x="4818888" y="3337560"/>
            <a:ext cx="2560320" cy="22860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2"/>
                </a:solidFill>
              </a:rPr>
              <a:t>Receives internal reports</a:t>
            </a:r>
            <a:endParaRPr lang="en-US" sz="1500" dirty="0"/>
          </a:p>
          <a:p>
            <a:pPr marL="203200" indent="-203200">
              <a:spcAft>
                <a:spcPts val="1000"/>
              </a:spcAft>
              <a:buSzPct val="100000"/>
              <a:buChar char="•"/>
            </a:pPr>
            <a:r>
              <a:rPr lang="en-US" sz="1500" dirty="0">
                <a:solidFill>
                  <a:schemeClr val="tx2"/>
                </a:solidFill>
              </a:rPr>
              <a:t>Decides on SARs to the FIA</a:t>
            </a:r>
            <a:endParaRPr lang="en-US" sz="1500" dirty="0"/>
          </a:p>
          <a:p>
            <a:pPr marL="203200" indent="-203200">
              <a:spcAft>
                <a:spcPts val="1000"/>
              </a:spcAft>
              <a:buSzPct val="100000"/>
              <a:buChar char="•"/>
            </a:pPr>
            <a:r>
              <a:rPr lang="en-US" sz="1500" dirty="0">
                <a:solidFill>
                  <a:schemeClr val="tx2"/>
                </a:solidFill>
              </a:rPr>
              <a:t>Point of contact for the FIA</a:t>
            </a:r>
            <a:endParaRPr lang="en-US" sz="1500" dirty="0"/>
          </a:p>
          <a:p>
            <a:pPr marL="203200" indent="-203200">
              <a:spcAft>
                <a:spcPts val="1000"/>
              </a:spcAft>
              <a:buSzPct val="100000"/>
              <a:buChar char="•"/>
            </a:pPr>
            <a:r>
              <a:rPr lang="en-US" sz="1500" dirty="0">
                <a:solidFill>
                  <a:schemeClr val="tx2"/>
                </a:solidFill>
              </a:rPr>
              <a:t>Keeps the reporting register</a:t>
            </a:r>
            <a:endParaRPr lang="en-US" sz="1500" dirty="0"/>
          </a:p>
        </p:txBody>
      </p:sp>
      <p:pic>
        <p:nvPicPr>
          <p:cNvPr id="18" name="Image 3" descr="arrow">    </p:cNvPr>
          <p:cNvPicPr>
            <a:picLocks noChangeAspect="1"/>
          </p:cNvPicPr>
          <p:nvPr/>
        </p:nvPicPr>
        <p:blipFill>
          <a:blip r:embed="rId4"/>
          <a:stretch>
            <a:fillRect/>
          </a:stretch>
        </p:blipFill>
        <p:spPr>
          <a:xfrm>
            <a:off x="7836408" y="3749040"/>
            <a:ext cx="292608" cy="292608"/>
          </a:xfrm>
          <a:prstGeom prst="rect">
            <a:avLst/>
          </a:prstGeom>
        </p:spPr>
      </p:pic>
      <p:sp>
        <p:nvSpPr>
          <p:cNvPr id="19" name="Role card"/>
          <p:cNvSpPr/>
          <p:nvPr/>
        </p:nvSpPr>
        <p:spPr>
          <a:xfrm>
            <a:off x="8220456" y="1920240"/>
            <a:ext cx="3291840" cy="3977640"/>
          </a:xfrm>
          <a:prstGeom prst="roundRect">
            <a:avLst>
              <a:gd name="adj" fmla="val 3333"/>
            </a:avLst>
          </a:prstGeom>
          <a:solidFill>
            <a:schemeClr val="bg1"/>
          </a:solidFill>
          <a:ln/>
          <a:effectLst>
            <a:outerShdw sx="100000" sy="100000" kx="0" ky="0" algn="bl" rotWithShape="0" blurRad="177800" dist="38100" dir="5400000">
              <a:srgbClr val="0B1F2A">
                <a:alpha val="10000"/>
              </a:srgbClr>
            </a:outerShdw>
          </a:effectLst>
        </p:spPr>
      </p:sp>
      <p:sp>
        <p:nvSpPr>
          <p:cNvPr id="20" name="Icon disc"/>
          <p:cNvSpPr/>
          <p:nvPr/>
        </p:nvSpPr>
        <p:spPr>
          <a:xfrm>
            <a:off x="8586216" y="2286000"/>
            <a:ext cx="676656" cy="676656"/>
          </a:xfrm>
          <a:prstGeom prst="ellipse">
            <a:avLst/>
          </a:prstGeom>
          <a:solidFill>
            <a:schemeClr val="accent1"/>
          </a:solidFill>
          <a:ln/>
        </p:spPr>
      </p:sp>
      <p:pic>
        <p:nvPicPr>
          <p:cNvPr id="21" name="Image 4" descr="ClipboardCheck icon">    </p:cNvPr>
          <p:cNvPicPr>
            <a:picLocks noChangeAspect="1"/>
          </p:cNvPicPr>
          <p:nvPr/>
        </p:nvPicPr>
        <p:blipFill>
          <a:blip r:embed="rId5"/>
          <a:stretch>
            <a:fillRect/>
          </a:stretch>
        </p:blipFill>
        <p:spPr>
          <a:xfrm>
            <a:off x="8755380" y="2455164"/>
            <a:ext cx="338328" cy="338328"/>
          </a:xfrm>
          <a:prstGeom prst="rect">
            <a:avLst/>
          </a:prstGeom>
        </p:spPr>
      </p:pic>
      <p:sp>
        <p:nvSpPr>
          <p:cNvPr id="22" name="Text 14"/>
          <p:cNvSpPr txBox="1"/>
          <p:nvPr/>
        </p:nvSpPr>
        <p:spPr>
          <a:xfrm>
            <a:off x="9427464" y="2267712"/>
            <a:ext cx="1920240" cy="45720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MLCO</a:t>
            </a:r>
            <a:endParaRPr lang="en-US" sz="2600" dirty="0"/>
          </a:p>
        </p:txBody>
      </p:sp>
      <p:sp>
        <p:nvSpPr>
          <p:cNvPr id="23" name="Text 15"/>
          <p:cNvSpPr txBox="1"/>
          <p:nvPr/>
        </p:nvSpPr>
        <p:spPr>
          <a:xfrm>
            <a:off x="9427464" y="2706624"/>
            <a:ext cx="2011680" cy="274320"/>
          </a:xfrm>
          <a:prstGeom prst="rect">
            <a:avLst/>
          </a:prstGeom>
          <a:noFill/>
          <a:ln/>
        </p:spPr>
        <p:txBody>
          <a:bodyPr wrap="square" lIns="0" tIns="0" rIns="0" bIns="0" rtlCol="0" anchor="t"/>
          <a:lstStyle/>
          <a:p>
            <a:pPr indent="0" marL="0">
              <a:buNone/>
            </a:pPr>
            <a:r>
              <a:rPr lang="en-US" sz="1200" dirty="0">
                <a:solidFill>
                  <a:schemeClr val="accent4"/>
                </a:solidFill>
              </a:rPr>
              <a:t>[Name, title]</a:t>
            </a:r>
            <a:endParaRPr lang="en-US" sz="1200" dirty="0"/>
          </a:p>
        </p:txBody>
      </p:sp>
      <p:sp>
        <p:nvSpPr>
          <p:cNvPr id="24" name="Text 16"/>
          <p:cNvSpPr txBox="1"/>
          <p:nvPr/>
        </p:nvSpPr>
        <p:spPr>
          <a:xfrm>
            <a:off x="8586216" y="3337560"/>
            <a:ext cx="2560320" cy="22860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2"/>
                </a:solidFill>
              </a:rPr>
              <a:t>Owns policies and risk assessment</a:t>
            </a:r>
            <a:endParaRPr lang="en-US" sz="1500" dirty="0"/>
          </a:p>
          <a:p>
            <a:pPr marL="203200" indent="-203200">
              <a:spcAft>
                <a:spcPts val="1000"/>
              </a:spcAft>
              <a:buSzPct val="100000"/>
              <a:buChar char="•"/>
            </a:pPr>
            <a:r>
              <a:rPr lang="en-US" sz="1500" dirty="0">
                <a:solidFill>
                  <a:schemeClr val="tx2"/>
                </a:solidFill>
              </a:rPr>
              <a:t>Monitors compliance and training</a:t>
            </a:r>
            <a:endParaRPr lang="en-US" sz="1500" dirty="0"/>
          </a:p>
          <a:p>
            <a:pPr marL="203200" indent="-203200">
              <a:spcAft>
                <a:spcPts val="1000"/>
              </a:spcAft>
              <a:buSzPct val="100000"/>
              <a:buChar char="•"/>
            </a:pPr>
            <a:r>
              <a:rPr lang="en-US" sz="1500" dirty="0">
                <a:solidFill>
                  <a:schemeClr val="tx2"/>
                </a:solidFill>
              </a:rPr>
              <a:t>Reports to the Partners and FSC</a:t>
            </a:r>
            <a:endParaRPr lang="en-US" sz="1500" dirty="0"/>
          </a:p>
          <a:p>
            <a:pPr marL="203200" indent="-203200">
              <a:spcAft>
                <a:spcPts val="1000"/>
              </a:spcAft>
              <a:buSzPct val="100000"/>
              <a:buChar char="•"/>
            </a:pPr>
            <a:r>
              <a:rPr lang="en-US" sz="1500" dirty="0">
                <a:solidFill>
                  <a:schemeClr val="tx2"/>
                </a:solidFill>
              </a:rPr>
              <a:t>Appointment approved by the FSC</a:t>
            </a:r>
            <a:endParaRPr lang="en-US" sz="15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685800" y="1097280"/>
            <a:ext cx="3657600" cy="1645920"/>
          </a:xfrm>
          <a:prstGeom prst="rect">
            <a:avLst/>
          </a:prstGeom>
          <a:noFill/>
          <a:ln/>
        </p:spPr>
        <p:txBody>
          <a:bodyPr wrap="square" lIns="0" tIns="0" rIns="0" bIns="0" rtlCol="0" anchor="b"/>
          <a:lstStyle/>
          <a:p>
            <a:pPr algn="l" indent="0" marL="0">
              <a:buNone/>
            </a:pPr>
            <a:r>
              <a:rPr lang="en-US" sz="11000" dirty="0">
                <a:solidFill>
                  <a:schemeClr val="accent1"/>
                </a:solidFill>
                <a:latin typeface="Cambria" pitchFamily="34" charset="0"/>
                <a:ea typeface="Cambria" pitchFamily="34" charset="-122"/>
                <a:cs typeface="Cambria" pitchFamily="34" charset="-120"/>
              </a:rPr>
              <a:t>03</a:t>
            </a:r>
            <a:endParaRPr lang="en-US" sz="11000" dirty="0"/>
          </a:p>
        </p:txBody>
      </p:sp>
      <p:sp>
        <p:nvSpPr>
          <p:cNvPr id="3" name="Text 2"/>
          <p:cNvSpPr/>
          <p:nvPr>
            <p:ph idx="103" type="title" hasCustomPrompt="1"/>
          </p:nvPr>
        </p:nvSpPr>
        <p:spPr>
          <a:xfrm>
            <a:off x="685800" y="2880360"/>
            <a:ext cx="8229600" cy="1188720"/>
          </a:xfrm>
          <a:prstGeom prst="rect">
            <a:avLst/>
          </a:prstGeom>
          <a:noFill/>
          <a:ln/>
        </p:spPr>
        <p:txBody>
          <a:bodyPr wrap="square" lIns="0" tIns="0" rIns="0" bIns="0" rtlCol="0" anchor="t"/>
          <a:lstStyle/>
          <a:p>
            <a:pPr algn="l" indent="0" marL="0">
              <a:buNone/>
            </a:pPr>
            <a:r>
              <a:rPr lang="en-US" sz="4400" dirty="0">
                <a:solidFill>
                  <a:schemeClr val="bg1"/>
                </a:solidFill>
                <a:latin typeface="Cambria" pitchFamily="34" charset="0"/>
                <a:ea typeface="Cambria" pitchFamily="34" charset="-122"/>
                <a:cs typeface="Cambria" pitchFamily="34" charset="-120"/>
              </a:rPr>
              <a:t>Our risk-based approach</a:t>
            </a:r>
            <a:endParaRPr lang="en-US" sz="4400" dirty="0"/>
          </a:p>
        </p:txBody>
      </p:sp>
      <p:sp>
        <p:nvSpPr>
          <p:cNvPr id="4" name="Text 2"/>
          <p:cNvSpPr/>
          <p:nvPr>
            <p:ph idx="104" type="body" hasCustomPrompt="1"/>
          </p:nvPr>
        </p:nvSpPr>
        <p:spPr>
          <a:xfrm>
            <a:off x="685800" y="4160520"/>
            <a:ext cx="6583680" cy="1097280"/>
          </a:xfrm>
          <a:prstGeom prst="rect">
            <a:avLst/>
          </a:prstGeom>
          <a:noFill/>
          <a:ln/>
        </p:spPr>
        <p:txBody>
          <a:bodyPr wrap="square" lIns="0" tIns="0" rIns="0" bIns="0" rtlCol="0" anchor="t"/>
          <a:lstStyle/>
          <a:p>
            <a:pPr algn="l" indent="0" marL="0">
              <a:buNone/>
            </a:pPr>
            <a:r>
              <a:rPr lang="en-US" sz="1800" dirty="0">
                <a:solidFill>
                  <a:schemeClr val="accent6"/>
                </a:solidFill>
              </a:rPr>
              <a:t>We don't treat every client the same. We match the depth of our checks to the risk.</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03 · RISK</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Four lenses on every client and matter</a:t>
            </a:r>
            <a:endParaRPr lang="en-US" sz="3400" dirty="0"/>
          </a:p>
        </p:txBody>
      </p:sp>
      <p:sp>
        <p:nvSpPr>
          <p:cNvPr id="5" name="Lens row"/>
          <p:cNvSpPr/>
          <p:nvPr/>
        </p:nvSpPr>
        <p:spPr>
          <a:xfrm>
            <a:off x="685800" y="1828800"/>
            <a:ext cx="5852160" cy="868680"/>
          </a:xfrm>
          <a:prstGeom prst="roundRect">
            <a:avLst>
              <a:gd name="adj" fmla="val 12632"/>
            </a:avLst>
          </a:prstGeom>
          <a:solidFill>
            <a:schemeClr val="bg1"/>
          </a:solidFill>
          <a:ln/>
          <a:effectLst>
            <a:outerShdw sx="100000" sy="100000" kx="0" ky="0" algn="bl" rotWithShape="0" blurRad="177800" dist="38100" dir="5400000">
              <a:srgbClr val="0B1F2A">
                <a:alpha val="10000"/>
              </a:srgbClr>
            </a:outerShdw>
          </a:effectLst>
        </p:spPr>
      </p:sp>
      <p:sp>
        <p:nvSpPr>
          <p:cNvPr id="6" name="Icon disc"/>
          <p:cNvSpPr/>
          <p:nvPr/>
        </p:nvSpPr>
        <p:spPr>
          <a:xfrm>
            <a:off x="886968" y="1965960"/>
            <a:ext cx="594360" cy="594360"/>
          </a:xfrm>
          <a:prstGeom prst="ellipse">
            <a:avLst/>
          </a:prstGeom>
          <a:solidFill>
            <a:schemeClr val="accent1"/>
          </a:solidFill>
          <a:ln/>
        </p:spPr>
      </p:sp>
      <p:pic>
        <p:nvPicPr>
          <p:cNvPr id="7" name="Image 0" descr="User icon">    </p:cNvPr>
          <p:cNvPicPr>
            <a:picLocks noChangeAspect="1"/>
          </p:cNvPicPr>
          <p:nvPr/>
        </p:nvPicPr>
        <p:blipFill>
          <a:blip r:embed="rId1"/>
          <a:stretch>
            <a:fillRect/>
          </a:stretch>
        </p:blipFill>
        <p:spPr>
          <a:xfrm>
            <a:off x="1035558" y="2114550"/>
            <a:ext cx="297180" cy="297180"/>
          </a:xfrm>
          <a:prstGeom prst="rect">
            <a:avLst/>
          </a:prstGeom>
        </p:spPr>
      </p:pic>
      <p:sp>
        <p:nvSpPr>
          <p:cNvPr id="8" name="Text 4"/>
          <p:cNvSpPr txBox="1"/>
          <p:nvPr/>
        </p:nvSpPr>
        <p:spPr>
          <a:xfrm>
            <a:off x="1691640" y="1947672"/>
            <a:ext cx="1828800" cy="3200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Client</a:t>
            </a:r>
            <a:endParaRPr lang="en-US" sz="1700" dirty="0"/>
          </a:p>
        </p:txBody>
      </p:sp>
      <p:sp>
        <p:nvSpPr>
          <p:cNvPr id="9" name="Text 5"/>
          <p:cNvSpPr txBox="1"/>
          <p:nvPr/>
        </p:nvSpPr>
        <p:spPr>
          <a:xfrm>
            <a:off x="1691640" y="2286000"/>
            <a:ext cx="4709160" cy="365760"/>
          </a:xfrm>
          <a:prstGeom prst="rect">
            <a:avLst/>
          </a:prstGeom>
          <a:noFill/>
          <a:ln/>
        </p:spPr>
        <p:txBody>
          <a:bodyPr wrap="square" lIns="0" tIns="0" rIns="0" bIns="0" rtlCol="0" anchor="t"/>
          <a:lstStyle/>
          <a:p>
            <a:pPr indent="0" marL="0">
              <a:buNone/>
            </a:pPr>
            <a:r>
              <a:rPr lang="en-US" sz="1250" dirty="0">
                <a:solidFill>
                  <a:schemeClr val="tx2"/>
                </a:solidFill>
              </a:rPr>
              <a:t>Who are they? PEP status, occupation, ownership structure, adverse media.</a:t>
            </a:r>
            <a:endParaRPr lang="en-US" sz="1250" dirty="0"/>
          </a:p>
        </p:txBody>
      </p:sp>
      <p:sp>
        <p:nvSpPr>
          <p:cNvPr id="10" name="Lens row"/>
          <p:cNvSpPr/>
          <p:nvPr/>
        </p:nvSpPr>
        <p:spPr>
          <a:xfrm>
            <a:off x="685800" y="2852928"/>
            <a:ext cx="5852160" cy="868680"/>
          </a:xfrm>
          <a:prstGeom prst="roundRect">
            <a:avLst>
              <a:gd name="adj" fmla="val 12632"/>
            </a:avLst>
          </a:prstGeom>
          <a:solidFill>
            <a:schemeClr val="bg1"/>
          </a:solidFill>
          <a:ln/>
          <a:effectLst>
            <a:outerShdw sx="100000" sy="100000" kx="0" ky="0" algn="bl" rotWithShape="0" blurRad="177800" dist="38100" dir="5400000">
              <a:srgbClr val="0B1F2A">
                <a:alpha val="10000"/>
              </a:srgbClr>
            </a:outerShdw>
          </a:effectLst>
        </p:spPr>
      </p:sp>
      <p:sp>
        <p:nvSpPr>
          <p:cNvPr id="11" name="Icon disc"/>
          <p:cNvSpPr/>
          <p:nvPr/>
        </p:nvSpPr>
        <p:spPr>
          <a:xfrm>
            <a:off x="886968" y="2990088"/>
            <a:ext cx="594360" cy="594360"/>
          </a:xfrm>
          <a:prstGeom prst="ellipse">
            <a:avLst/>
          </a:prstGeom>
          <a:solidFill>
            <a:schemeClr val="accent1"/>
          </a:solidFill>
          <a:ln/>
        </p:spPr>
      </p:sp>
      <p:pic>
        <p:nvPicPr>
          <p:cNvPr id="12" name="Image 1" descr="Globe icon">    </p:cNvPr>
          <p:cNvPicPr>
            <a:picLocks noChangeAspect="1"/>
          </p:cNvPicPr>
          <p:nvPr/>
        </p:nvPicPr>
        <p:blipFill>
          <a:blip r:embed="rId2"/>
          <a:stretch>
            <a:fillRect/>
          </a:stretch>
        </p:blipFill>
        <p:spPr>
          <a:xfrm>
            <a:off x="1035558" y="3138678"/>
            <a:ext cx="297180" cy="297180"/>
          </a:xfrm>
          <a:prstGeom prst="rect">
            <a:avLst/>
          </a:prstGeom>
        </p:spPr>
      </p:pic>
      <p:sp>
        <p:nvSpPr>
          <p:cNvPr id="13" name="Text 8"/>
          <p:cNvSpPr txBox="1"/>
          <p:nvPr/>
        </p:nvSpPr>
        <p:spPr>
          <a:xfrm>
            <a:off x="1691640" y="2971800"/>
            <a:ext cx="1828800" cy="3200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Geography</a:t>
            </a:r>
            <a:endParaRPr lang="en-US" sz="1700" dirty="0"/>
          </a:p>
        </p:txBody>
      </p:sp>
      <p:sp>
        <p:nvSpPr>
          <p:cNvPr id="14" name="Text 9"/>
          <p:cNvSpPr txBox="1"/>
          <p:nvPr/>
        </p:nvSpPr>
        <p:spPr>
          <a:xfrm>
            <a:off x="1691640" y="3310128"/>
            <a:ext cx="4709160" cy="365760"/>
          </a:xfrm>
          <a:prstGeom prst="rect">
            <a:avLst/>
          </a:prstGeom>
          <a:noFill/>
          <a:ln/>
        </p:spPr>
        <p:txBody>
          <a:bodyPr wrap="square" lIns="0" tIns="0" rIns="0" bIns="0" rtlCol="0" anchor="t"/>
          <a:lstStyle/>
          <a:p>
            <a:pPr indent="0" marL="0">
              <a:buNone/>
            </a:pPr>
            <a:r>
              <a:rPr lang="en-US" sz="1250" dirty="0">
                <a:solidFill>
                  <a:schemeClr val="tx2"/>
                </a:solidFill>
              </a:rPr>
              <a:t>Where do they live and do business? Where is the money coming from?</a:t>
            </a:r>
            <a:endParaRPr lang="en-US" sz="1250" dirty="0"/>
          </a:p>
        </p:txBody>
      </p:sp>
      <p:sp>
        <p:nvSpPr>
          <p:cNvPr id="15" name="Lens row"/>
          <p:cNvSpPr/>
          <p:nvPr/>
        </p:nvSpPr>
        <p:spPr>
          <a:xfrm>
            <a:off x="685800" y="3877056"/>
            <a:ext cx="5852160" cy="868680"/>
          </a:xfrm>
          <a:prstGeom prst="roundRect">
            <a:avLst>
              <a:gd name="adj" fmla="val 12632"/>
            </a:avLst>
          </a:prstGeom>
          <a:solidFill>
            <a:schemeClr val="bg1"/>
          </a:solidFill>
          <a:ln/>
          <a:effectLst>
            <a:outerShdw sx="100000" sy="100000" kx="0" ky="0" algn="bl" rotWithShape="0" blurRad="177800" dist="38100" dir="5400000">
              <a:srgbClr val="0B1F2A">
                <a:alpha val="10000"/>
              </a:srgbClr>
            </a:outerShdw>
          </a:effectLst>
        </p:spPr>
      </p:sp>
      <p:sp>
        <p:nvSpPr>
          <p:cNvPr id="16" name="Icon disc"/>
          <p:cNvSpPr/>
          <p:nvPr/>
        </p:nvSpPr>
        <p:spPr>
          <a:xfrm>
            <a:off x="886968" y="4014216"/>
            <a:ext cx="594360" cy="594360"/>
          </a:xfrm>
          <a:prstGeom prst="ellipse">
            <a:avLst/>
          </a:prstGeom>
          <a:solidFill>
            <a:schemeClr val="accent1"/>
          </a:solidFill>
          <a:ln/>
        </p:spPr>
      </p:sp>
      <p:pic>
        <p:nvPicPr>
          <p:cNvPr id="17" name="Image 2" descr="Briefcase icon">    </p:cNvPr>
          <p:cNvPicPr>
            <a:picLocks noChangeAspect="1"/>
          </p:cNvPicPr>
          <p:nvPr/>
        </p:nvPicPr>
        <p:blipFill>
          <a:blip r:embed="rId3"/>
          <a:stretch>
            <a:fillRect/>
          </a:stretch>
        </p:blipFill>
        <p:spPr>
          <a:xfrm>
            <a:off x="1035558" y="4162806"/>
            <a:ext cx="297180" cy="297180"/>
          </a:xfrm>
          <a:prstGeom prst="rect">
            <a:avLst/>
          </a:prstGeom>
        </p:spPr>
      </p:pic>
      <p:sp>
        <p:nvSpPr>
          <p:cNvPr id="18" name="Text 12"/>
          <p:cNvSpPr txBox="1"/>
          <p:nvPr/>
        </p:nvSpPr>
        <p:spPr>
          <a:xfrm>
            <a:off x="1691640" y="3995928"/>
            <a:ext cx="1828800" cy="3200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Service</a:t>
            </a:r>
            <a:endParaRPr lang="en-US" sz="1700" dirty="0"/>
          </a:p>
        </p:txBody>
      </p:sp>
      <p:sp>
        <p:nvSpPr>
          <p:cNvPr id="19" name="Text 13"/>
          <p:cNvSpPr txBox="1"/>
          <p:nvPr/>
        </p:nvSpPr>
        <p:spPr>
          <a:xfrm>
            <a:off x="1691640" y="4334256"/>
            <a:ext cx="4709160" cy="365760"/>
          </a:xfrm>
          <a:prstGeom prst="rect">
            <a:avLst/>
          </a:prstGeom>
          <a:noFill/>
          <a:ln/>
        </p:spPr>
        <p:txBody>
          <a:bodyPr wrap="square" lIns="0" tIns="0" rIns="0" bIns="0" rtlCol="0" anchor="t"/>
          <a:lstStyle/>
          <a:p>
            <a:pPr indent="0" marL="0">
              <a:buNone/>
            </a:pPr>
            <a:r>
              <a:rPr lang="en-US" sz="1250" dirty="0">
                <a:solidFill>
                  <a:schemeClr val="tx2"/>
                </a:solidFill>
              </a:rPr>
              <a:t>Trust formation, property purchase, investment structuring, client account use.</a:t>
            </a:r>
            <a:endParaRPr lang="en-US" sz="1250" dirty="0"/>
          </a:p>
        </p:txBody>
      </p:sp>
      <p:sp>
        <p:nvSpPr>
          <p:cNvPr id="20" name="Lens row"/>
          <p:cNvSpPr/>
          <p:nvPr/>
        </p:nvSpPr>
        <p:spPr>
          <a:xfrm>
            <a:off x="685800" y="4901184"/>
            <a:ext cx="5852160" cy="868680"/>
          </a:xfrm>
          <a:prstGeom prst="roundRect">
            <a:avLst>
              <a:gd name="adj" fmla="val 12632"/>
            </a:avLst>
          </a:prstGeom>
          <a:solidFill>
            <a:schemeClr val="bg1"/>
          </a:solidFill>
          <a:ln/>
          <a:effectLst>
            <a:outerShdw sx="100000" sy="100000" kx="0" ky="0" algn="bl" rotWithShape="0" blurRad="177800" dist="38100" dir="5400000">
              <a:srgbClr val="0B1F2A">
                <a:alpha val="10000"/>
              </a:srgbClr>
            </a:outerShdw>
          </a:effectLst>
        </p:spPr>
      </p:sp>
      <p:sp>
        <p:nvSpPr>
          <p:cNvPr id="21" name="Icon disc"/>
          <p:cNvSpPr/>
          <p:nvPr/>
        </p:nvSpPr>
        <p:spPr>
          <a:xfrm>
            <a:off x="886968" y="5038344"/>
            <a:ext cx="594360" cy="594360"/>
          </a:xfrm>
          <a:prstGeom prst="ellipse">
            <a:avLst/>
          </a:prstGeom>
          <a:solidFill>
            <a:schemeClr val="accent1"/>
          </a:solidFill>
          <a:ln/>
        </p:spPr>
      </p:sp>
      <p:pic>
        <p:nvPicPr>
          <p:cNvPr id="22" name="Image 3" descr="Route icon">    </p:cNvPr>
          <p:cNvPicPr>
            <a:picLocks noChangeAspect="1"/>
          </p:cNvPicPr>
          <p:nvPr/>
        </p:nvPicPr>
        <p:blipFill>
          <a:blip r:embed="rId4"/>
          <a:stretch>
            <a:fillRect/>
          </a:stretch>
        </p:blipFill>
        <p:spPr>
          <a:xfrm>
            <a:off x="1035558" y="5186934"/>
            <a:ext cx="297180" cy="297180"/>
          </a:xfrm>
          <a:prstGeom prst="rect">
            <a:avLst/>
          </a:prstGeom>
        </p:spPr>
      </p:pic>
      <p:sp>
        <p:nvSpPr>
          <p:cNvPr id="23" name="Text 16"/>
          <p:cNvSpPr txBox="1"/>
          <p:nvPr/>
        </p:nvSpPr>
        <p:spPr>
          <a:xfrm>
            <a:off x="1691640" y="5020056"/>
            <a:ext cx="1828800" cy="3200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Channel</a:t>
            </a:r>
            <a:endParaRPr lang="en-US" sz="1700" dirty="0"/>
          </a:p>
        </p:txBody>
      </p:sp>
      <p:sp>
        <p:nvSpPr>
          <p:cNvPr id="24" name="Text 17"/>
          <p:cNvSpPr txBox="1"/>
          <p:nvPr/>
        </p:nvSpPr>
        <p:spPr>
          <a:xfrm>
            <a:off x="1691640" y="5358384"/>
            <a:ext cx="4709160" cy="365760"/>
          </a:xfrm>
          <a:prstGeom prst="rect">
            <a:avLst/>
          </a:prstGeom>
          <a:noFill/>
          <a:ln/>
        </p:spPr>
        <p:txBody>
          <a:bodyPr wrap="square" lIns="0" tIns="0" rIns="0" bIns="0" rtlCol="0" anchor="t"/>
          <a:lstStyle/>
          <a:p>
            <a:pPr indent="0" marL="0">
              <a:buNone/>
            </a:pPr>
            <a:r>
              <a:rPr lang="en-US" sz="1250" dirty="0">
                <a:solidFill>
                  <a:schemeClr val="tx2"/>
                </a:solidFill>
              </a:rPr>
              <a:t>Met in person, remotely, or through an introducer?</a:t>
            </a:r>
            <a:endParaRPr lang="en-US" sz="1250" dirty="0"/>
          </a:p>
        </p:txBody>
      </p:sp>
      <p:sp>
        <p:nvSpPr>
          <p:cNvPr id="25" name="Text 18"/>
          <p:cNvSpPr txBox="1"/>
          <p:nvPr/>
        </p:nvSpPr>
        <p:spPr>
          <a:xfrm>
            <a:off x="6903720" y="1828800"/>
            <a:ext cx="3657600" cy="274320"/>
          </a:xfrm>
          <a:prstGeom prst="rect">
            <a:avLst/>
          </a:prstGeom>
          <a:noFill/>
          <a:ln/>
        </p:spPr>
        <p:txBody>
          <a:bodyPr wrap="square" lIns="0" tIns="0" rIns="0" bIns="0" rtlCol="0" anchor="t"/>
          <a:lstStyle/>
          <a:p>
            <a:pPr indent="0" marL="0">
              <a:buNone/>
            </a:pPr>
            <a:r>
              <a:rPr lang="en-US" sz="1000" b="1" spc="300" kern="0" dirty="0">
                <a:solidFill>
                  <a:schemeClr val="accent4"/>
                </a:solidFill>
              </a:rPr>
              <a:t>THE OUTCOME</a:t>
            </a:r>
            <a:endParaRPr lang="en-US" sz="1000" dirty="0"/>
          </a:p>
        </p:txBody>
      </p:sp>
      <p:sp>
        <p:nvSpPr>
          <p:cNvPr id="26" name="Risk level"/>
          <p:cNvSpPr/>
          <p:nvPr/>
        </p:nvSpPr>
        <p:spPr>
          <a:xfrm>
            <a:off x="6903720" y="2194560"/>
            <a:ext cx="4599432" cy="1115568"/>
          </a:xfrm>
          <a:prstGeom prst="roundRect">
            <a:avLst>
              <a:gd name="adj" fmla="val 9836"/>
            </a:avLst>
          </a:prstGeom>
          <a:solidFill>
            <a:schemeClr val="accent5"/>
          </a:solidFill>
          <a:ln/>
        </p:spPr>
      </p:sp>
      <p:sp>
        <p:nvSpPr>
          <p:cNvPr id="27" name="Text 20"/>
          <p:cNvSpPr txBox="1"/>
          <p:nvPr/>
        </p:nvSpPr>
        <p:spPr>
          <a:xfrm>
            <a:off x="7178040" y="2350008"/>
            <a:ext cx="1828800" cy="228600"/>
          </a:xfrm>
          <a:prstGeom prst="rect">
            <a:avLst/>
          </a:prstGeom>
          <a:noFill/>
          <a:ln/>
        </p:spPr>
        <p:txBody>
          <a:bodyPr wrap="square" lIns="0" tIns="0" rIns="0" bIns="0" rtlCol="0" anchor="t"/>
          <a:lstStyle/>
          <a:p>
            <a:pPr indent="0" marL="0">
              <a:buNone/>
            </a:pPr>
            <a:r>
              <a:rPr lang="en-US" sz="1000" b="1" spc="300" kern="0" dirty="0">
                <a:solidFill>
                  <a:schemeClr val="tx1"/>
                </a:solidFill>
              </a:rPr>
              <a:t>LOWER</a:t>
            </a:r>
            <a:endParaRPr lang="en-US" sz="1000" dirty="0"/>
          </a:p>
        </p:txBody>
      </p:sp>
      <p:sp>
        <p:nvSpPr>
          <p:cNvPr id="28" name="Text 21"/>
          <p:cNvSpPr txBox="1"/>
          <p:nvPr/>
        </p:nvSpPr>
        <p:spPr>
          <a:xfrm>
            <a:off x="7178040" y="2578608"/>
            <a:ext cx="4114800" cy="34747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Simplified CDD</a:t>
            </a:r>
            <a:endParaRPr lang="en-US" sz="1800" dirty="0"/>
          </a:p>
        </p:txBody>
      </p:sp>
      <p:sp>
        <p:nvSpPr>
          <p:cNvPr id="29" name="Text 22"/>
          <p:cNvSpPr txBox="1"/>
          <p:nvPr/>
        </p:nvSpPr>
        <p:spPr>
          <a:xfrm>
            <a:off x="7178040" y="2926080"/>
            <a:ext cx="4114800" cy="274320"/>
          </a:xfrm>
          <a:prstGeom prst="rect">
            <a:avLst/>
          </a:prstGeom>
          <a:noFill/>
          <a:ln/>
        </p:spPr>
        <p:txBody>
          <a:bodyPr wrap="square" lIns="0" tIns="0" rIns="0" bIns="0" rtlCol="0" anchor="t"/>
          <a:lstStyle/>
          <a:p>
            <a:pPr indent="0" marL="0">
              <a:buNone/>
            </a:pPr>
            <a:r>
              <a:rPr lang="en-US" sz="1200" dirty="0">
                <a:solidFill>
                  <a:schemeClr val="tx1"/>
                </a:solidFill>
              </a:rPr>
              <a:t>Only where permitted and lower risk is evidenced</a:t>
            </a:r>
            <a:endParaRPr lang="en-US" sz="1200" dirty="0"/>
          </a:p>
        </p:txBody>
      </p:sp>
      <p:sp>
        <p:nvSpPr>
          <p:cNvPr id="30" name="Risk level"/>
          <p:cNvSpPr/>
          <p:nvPr/>
        </p:nvSpPr>
        <p:spPr>
          <a:xfrm>
            <a:off x="6903720" y="3474720"/>
            <a:ext cx="4599432" cy="1115568"/>
          </a:xfrm>
          <a:prstGeom prst="roundRect">
            <a:avLst>
              <a:gd name="adj" fmla="val 9836"/>
            </a:avLst>
          </a:prstGeom>
          <a:solidFill>
            <a:schemeClr val="accent1"/>
          </a:solidFill>
          <a:ln/>
        </p:spPr>
      </p:sp>
      <p:sp>
        <p:nvSpPr>
          <p:cNvPr id="31" name="Text 24"/>
          <p:cNvSpPr txBox="1"/>
          <p:nvPr/>
        </p:nvSpPr>
        <p:spPr>
          <a:xfrm>
            <a:off x="7178040" y="3630168"/>
            <a:ext cx="1828800" cy="228600"/>
          </a:xfrm>
          <a:prstGeom prst="rect">
            <a:avLst/>
          </a:prstGeom>
          <a:noFill/>
          <a:ln/>
        </p:spPr>
        <p:txBody>
          <a:bodyPr wrap="square" lIns="0" tIns="0" rIns="0" bIns="0" rtlCol="0" anchor="t"/>
          <a:lstStyle/>
          <a:p>
            <a:pPr indent="0" marL="0">
              <a:buNone/>
            </a:pPr>
            <a:r>
              <a:rPr lang="en-US" sz="1000" b="1" spc="300" kern="0" dirty="0">
                <a:solidFill>
                  <a:schemeClr val="bg1"/>
                </a:solidFill>
              </a:rPr>
              <a:t>STANDARD</a:t>
            </a:r>
            <a:endParaRPr lang="en-US" sz="1000" dirty="0"/>
          </a:p>
        </p:txBody>
      </p:sp>
      <p:sp>
        <p:nvSpPr>
          <p:cNvPr id="32" name="Text 25"/>
          <p:cNvSpPr txBox="1"/>
          <p:nvPr/>
        </p:nvSpPr>
        <p:spPr>
          <a:xfrm>
            <a:off x="7178040" y="3858768"/>
            <a:ext cx="4114800" cy="347472"/>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Standard CDD</a:t>
            </a:r>
            <a:endParaRPr lang="en-US" sz="1800" dirty="0"/>
          </a:p>
        </p:txBody>
      </p:sp>
      <p:sp>
        <p:nvSpPr>
          <p:cNvPr id="33" name="Text 26"/>
          <p:cNvSpPr txBox="1"/>
          <p:nvPr/>
        </p:nvSpPr>
        <p:spPr>
          <a:xfrm>
            <a:off x="7178040" y="4206240"/>
            <a:ext cx="4114800" cy="274320"/>
          </a:xfrm>
          <a:prstGeom prst="rect">
            <a:avLst/>
          </a:prstGeom>
          <a:noFill/>
          <a:ln/>
        </p:spPr>
        <p:txBody>
          <a:bodyPr wrap="square" lIns="0" tIns="0" rIns="0" bIns="0" rtlCol="0" anchor="t"/>
          <a:lstStyle/>
          <a:p>
            <a:pPr indent="0" marL="0">
              <a:buNone/>
            </a:pPr>
            <a:r>
              <a:rPr lang="en-US" sz="1200" dirty="0">
                <a:solidFill>
                  <a:schemeClr val="bg1"/>
                </a:solidFill>
              </a:rPr>
              <a:t>Identify, verify, understand, monitor</a:t>
            </a:r>
            <a:endParaRPr lang="en-US" sz="1200" dirty="0"/>
          </a:p>
        </p:txBody>
      </p:sp>
      <p:sp>
        <p:nvSpPr>
          <p:cNvPr id="34" name="Risk level"/>
          <p:cNvSpPr/>
          <p:nvPr/>
        </p:nvSpPr>
        <p:spPr>
          <a:xfrm>
            <a:off x="6903720" y="4754880"/>
            <a:ext cx="4599432" cy="1115568"/>
          </a:xfrm>
          <a:prstGeom prst="roundRect">
            <a:avLst>
              <a:gd name="adj" fmla="val 9836"/>
            </a:avLst>
          </a:prstGeom>
          <a:solidFill>
            <a:schemeClr val="accent2"/>
          </a:solidFill>
          <a:ln/>
        </p:spPr>
      </p:sp>
      <p:sp>
        <p:nvSpPr>
          <p:cNvPr id="35" name="Text 28"/>
          <p:cNvSpPr txBox="1"/>
          <p:nvPr/>
        </p:nvSpPr>
        <p:spPr>
          <a:xfrm>
            <a:off x="7178040" y="4910328"/>
            <a:ext cx="1828800" cy="228600"/>
          </a:xfrm>
          <a:prstGeom prst="rect">
            <a:avLst/>
          </a:prstGeom>
          <a:noFill/>
          <a:ln/>
        </p:spPr>
        <p:txBody>
          <a:bodyPr wrap="square" lIns="0" tIns="0" rIns="0" bIns="0" rtlCol="0" anchor="t"/>
          <a:lstStyle/>
          <a:p>
            <a:pPr indent="0" marL="0">
              <a:buNone/>
            </a:pPr>
            <a:r>
              <a:rPr lang="en-US" sz="1000" b="1" spc="300" kern="0" dirty="0">
                <a:solidFill>
                  <a:schemeClr val="bg1"/>
                </a:solidFill>
              </a:rPr>
              <a:t>HIGHER</a:t>
            </a:r>
            <a:endParaRPr lang="en-US" sz="1000" dirty="0"/>
          </a:p>
        </p:txBody>
      </p:sp>
      <p:sp>
        <p:nvSpPr>
          <p:cNvPr id="36" name="Text 29"/>
          <p:cNvSpPr txBox="1"/>
          <p:nvPr/>
        </p:nvSpPr>
        <p:spPr>
          <a:xfrm>
            <a:off x="7178040" y="5138928"/>
            <a:ext cx="4114800" cy="347472"/>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Enhanced due diligence</a:t>
            </a:r>
            <a:endParaRPr lang="en-US" sz="1800" dirty="0"/>
          </a:p>
        </p:txBody>
      </p:sp>
      <p:sp>
        <p:nvSpPr>
          <p:cNvPr id="37" name="Text 30"/>
          <p:cNvSpPr txBox="1"/>
          <p:nvPr/>
        </p:nvSpPr>
        <p:spPr>
          <a:xfrm>
            <a:off x="7178040" y="5486400"/>
            <a:ext cx="4114800" cy="274320"/>
          </a:xfrm>
          <a:prstGeom prst="rect">
            <a:avLst/>
          </a:prstGeom>
          <a:noFill/>
          <a:ln/>
        </p:spPr>
        <p:txBody>
          <a:bodyPr wrap="square" lIns="0" tIns="0" rIns="0" bIns="0" rtlCol="0" anchor="t"/>
          <a:lstStyle/>
          <a:p>
            <a:pPr indent="0" marL="0">
              <a:buNone/>
            </a:pPr>
            <a:r>
              <a:rPr lang="en-US" sz="1200" dirty="0">
                <a:solidFill>
                  <a:schemeClr val="bg1"/>
                </a:solidFill>
              </a:rPr>
              <a:t>Partner approval, source of wealth verified, closer monitoring</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685800" y="1097280"/>
            <a:ext cx="3657600" cy="1645920"/>
          </a:xfrm>
          <a:prstGeom prst="rect">
            <a:avLst/>
          </a:prstGeom>
          <a:noFill/>
          <a:ln/>
        </p:spPr>
        <p:txBody>
          <a:bodyPr wrap="square" lIns="0" tIns="0" rIns="0" bIns="0" rtlCol="0" anchor="b"/>
          <a:lstStyle/>
          <a:p>
            <a:pPr algn="l" indent="0" marL="0">
              <a:buNone/>
            </a:pPr>
            <a:r>
              <a:rPr lang="en-US" sz="11000" dirty="0">
                <a:solidFill>
                  <a:schemeClr val="accent1"/>
                </a:solidFill>
                <a:latin typeface="Cambria" pitchFamily="34" charset="0"/>
                <a:ea typeface="Cambria" pitchFamily="34" charset="-122"/>
                <a:cs typeface="Cambria" pitchFamily="34" charset="-120"/>
              </a:rPr>
              <a:t>04</a:t>
            </a:r>
            <a:endParaRPr lang="en-US" sz="11000" dirty="0"/>
          </a:p>
        </p:txBody>
      </p:sp>
      <p:sp>
        <p:nvSpPr>
          <p:cNvPr id="3" name="Text 2"/>
          <p:cNvSpPr/>
          <p:nvPr>
            <p:ph idx="103" type="title" hasCustomPrompt="1"/>
          </p:nvPr>
        </p:nvSpPr>
        <p:spPr>
          <a:xfrm>
            <a:off x="685800" y="2880360"/>
            <a:ext cx="8229600" cy="1188720"/>
          </a:xfrm>
          <a:prstGeom prst="rect">
            <a:avLst/>
          </a:prstGeom>
          <a:noFill/>
          <a:ln/>
        </p:spPr>
        <p:txBody>
          <a:bodyPr wrap="square" lIns="0" tIns="0" rIns="0" bIns="0" rtlCol="0" anchor="t"/>
          <a:lstStyle/>
          <a:p>
            <a:pPr algn="l" indent="0" marL="0">
              <a:buNone/>
            </a:pPr>
            <a:r>
              <a:rPr lang="en-US" sz="4400" dirty="0">
                <a:solidFill>
                  <a:schemeClr val="bg1"/>
                </a:solidFill>
                <a:latin typeface="Cambria" pitchFamily="34" charset="0"/>
                <a:ea typeface="Cambria" pitchFamily="34" charset="-122"/>
                <a:cs typeface="Cambria" pitchFamily="34" charset="-120"/>
              </a:rPr>
              <a:t>Client due diligence</a:t>
            </a:r>
            <a:endParaRPr lang="en-US" sz="4400" dirty="0"/>
          </a:p>
        </p:txBody>
      </p:sp>
      <p:sp>
        <p:nvSpPr>
          <p:cNvPr id="4" name="Text 2"/>
          <p:cNvSpPr/>
          <p:nvPr>
            <p:ph idx="104" type="body" hasCustomPrompt="1"/>
          </p:nvPr>
        </p:nvSpPr>
        <p:spPr>
          <a:xfrm>
            <a:off x="685800" y="4160520"/>
            <a:ext cx="6583680" cy="1097280"/>
          </a:xfrm>
          <a:prstGeom prst="rect">
            <a:avLst/>
          </a:prstGeom>
          <a:noFill/>
          <a:ln/>
        </p:spPr>
        <p:txBody>
          <a:bodyPr wrap="square" lIns="0" tIns="0" rIns="0" bIns="0" rtlCol="0" anchor="t"/>
          <a:lstStyle/>
          <a:p>
            <a:pPr algn="l" indent="0" marL="0">
              <a:buNone/>
            </a:pPr>
            <a:r>
              <a:rPr lang="en-US" sz="1800" dirty="0">
                <a:solidFill>
                  <a:schemeClr val="accent6"/>
                </a:solidFill>
              </a:rPr>
              <a:t>Know who we act for, who is really behind them, and where the money comes from</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04 · DUE DILIGENCE</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CDD rests on four pillars</a:t>
            </a:r>
            <a:endParaRPr lang="en-US" sz="3400" dirty="0"/>
          </a:p>
        </p:txBody>
      </p:sp>
      <p:sp>
        <p:nvSpPr>
          <p:cNvPr id="5" name="Pillar card"/>
          <p:cNvSpPr/>
          <p:nvPr/>
        </p:nvSpPr>
        <p:spPr>
          <a:xfrm>
            <a:off x="685800" y="1874520"/>
            <a:ext cx="2514600" cy="3840480"/>
          </a:xfrm>
          <a:prstGeom prst="roundRect">
            <a:avLst>
              <a:gd name="adj" fmla="val 4364"/>
            </a:avLst>
          </a:prstGeom>
          <a:solidFill>
            <a:schemeClr val="bg1"/>
          </a:solidFill>
          <a:ln/>
          <a:effectLst>
            <a:outerShdw sx="100000" sy="100000" kx="0" ky="0" algn="bl" rotWithShape="0" blurRad="177800" dist="38100" dir="5400000">
              <a:srgbClr val="0B1F2A">
                <a:alpha val="10000"/>
              </a:srgbClr>
            </a:outerShdw>
          </a:effectLst>
        </p:spPr>
      </p:sp>
      <p:sp>
        <p:nvSpPr>
          <p:cNvPr id="6" name="Text 3"/>
          <p:cNvSpPr txBox="1"/>
          <p:nvPr/>
        </p:nvSpPr>
        <p:spPr>
          <a:xfrm>
            <a:off x="960120" y="2103120"/>
            <a:ext cx="914400" cy="822960"/>
          </a:xfrm>
          <a:prstGeom prst="rect">
            <a:avLst/>
          </a:prstGeom>
          <a:noFill/>
          <a:ln/>
        </p:spPr>
        <p:txBody>
          <a:bodyPr wrap="square" lIns="0" tIns="0" rIns="0" bIns="0" rtlCol="0" anchor="t"/>
          <a:lstStyle/>
          <a:p>
            <a:pPr indent="0" marL="0">
              <a:buNone/>
            </a:pPr>
            <a:r>
              <a:rPr lang="en-US" sz="5400" dirty="0">
                <a:solidFill>
                  <a:schemeClr val="accent6"/>
                </a:solidFill>
                <a:latin typeface="Cambria" pitchFamily="34" charset="0"/>
                <a:ea typeface="Cambria" pitchFamily="34" charset="-122"/>
                <a:cs typeface="Cambria" pitchFamily="34" charset="-120"/>
              </a:rPr>
              <a:t>1</a:t>
            </a:r>
            <a:endParaRPr lang="en-US" sz="5400" dirty="0"/>
          </a:p>
        </p:txBody>
      </p:sp>
      <p:sp>
        <p:nvSpPr>
          <p:cNvPr id="7" name="Icon disc"/>
          <p:cNvSpPr/>
          <p:nvPr/>
        </p:nvSpPr>
        <p:spPr>
          <a:xfrm>
            <a:off x="2286000" y="2194560"/>
            <a:ext cx="621792" cy="621792"/>
          </a:xfrm>
          <a:prstGeom prst="ellipse">
            <a:avLst/>
          </a:prstGeom>
          <a:solidFill>
            <a:schemeClr val="accent1"/>
          </a:solidFill>
          <a:ln/>
        </p:spPr>
      </p:sp>
      <p:pic>
        <p:nvPicPr>
          <p:cNvPr id="8" name="Image 0" descr="Fingerprint icon">    </p:cNvPr>
          <p:cNvPicPr>
            <a:picLocks noChangeAspect="1"/>
          </p:cNvPicPr>
          <p:nvPr/>
        </p:nvPicPr>
        <p:blipFill>
          <a:blip r:embed="rId1"/>
          <a:stretch>
            <a:fillRect/>
          </a:stretch>
        </p:blipFill>
        <p:spPr>
          <a:xfrm>
            <a:off x="2441448" y="2350008"/>
            <a:ext cx="310896" cy="310896"/>
          </a:xfrm>
          <a:prstGeom prst="rect">
            <a:avLst/>
          </a:prstGeom>
        </p:spPr>
      </p:pic>
      <p:sp>
        <p:nvSpPr>
          <p:cNvPr id="9" name="Text 5"/>
          <p:cNvSpPr txBox="1"/>
          <p:nvPr/>
        </p:nvSpPr>
        <p:spPr>
          <a:xfrm>
            <a:off x="960120" y="3108960"/>
            <a:ext cx="1965960" cy="7772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Identify and verify the client</a:t>
            </a:r>
            <a:endParaRPr lang="en-US" sz="1700" dirty="0"/>
          </a:p>
        </p:txBody>
      </p:sp>
      <p:sp>
        <p:nvSpPr>
          <p:cNvPr id="10" name="Text 6"/>
          <p:cNvSpPr txBox="1"/>
          <p:nvPr/>
        </p:nvSpPr>
        <p:spPr>
          <a:xfrm>
            <a:off x="960120" y="3977640"/>
            <a:ext cx="1965960" cy="1737360"/>
          </a:xfrm>
          <a:prstGeom prst="rect">
            <a:avLst/>
          </a:prstGeom>
          <a:noFill/>
          <a:ln/>
        </p:spPr>
        <p:txBody>
          <a:bodyPr wrap="square" lIns="0" tIns="0" rIns="0" bIns="0" rtlCol="0" anchor="t"/>
          <a:lstStyle/>
          <a:p>
            <a:pPr indent="0" marL="0">
              <a:lnSpc>
                <a:spcPct val="108000"/>
              </a:lnSpc>
              <a:buNone/>
            </a:pPr>
            <a:r>
              <a:rPr lang="en-US" sz="1350" dirty="0">
                <a:solidFill>
                  <a:schemeClr val="tx2"/>
                </a:solidFill>
              </a:rPr>
              <a:t>Full name, date of birth, address, nationality, verified from reliable, independent sources.</a:t>
            </a:r>
            <a:endParaRPr lang="en-US" sz="1350" dirty="0"/>
          </a:p>
        </p:txBody>
      </p:sp>
      <p:sp>
        <p:nvSpPr>
          <p:cNvPr id="11" name="Pillar card"/>
          <p:cNvSpPr/>
          <p:nvPr/>
        </p:nvSpPr>
        <p:spPr>
          <a:xfrm>
            <a:off x="3447288" y="1874520"/>
            <a:ext cx="2514600" cy="3840480"/>
          </a:xfrm>
          <a:prstGeom prst="roundRect">
            <a:avLst>
              <a:gd name="adj" fmla="val 4364"/>
            </a:avLst>
          </a:prstGeom>
          <a:solidFill>
            <a:schemeClr val="bg1"/>
          </a:solidFill>
          <a:ln/>
          <a:effectLst>
            <a:outerShdw sx="100000" sy="100000" kx="0" ky="0" algn="bl" rotWithShape="0" blurRad="177800" dist="38100" dir="5400000">
              <a:srgbClr val="0B1F2A">
                <a:alpha val="10000"/>
              </a:srgbClr>
            </a:outerShdw>
          </a:effectLst>
        </p:spPr>
      </p:sp>
      <p:sp>
        <p:nvSpPr>
          <p:cNvPr id="12" name="Text 8"/>
          <p:cNvSpPr txBox="1"/>
          <p:nvPr/>
        </p:nvSpPr>
        <p:spPr>
          <a:xfrm>
            <a:off x="3721608" y="2103120"/>
            <a:ext cx="914400" cy="822960"/>
          </a:xfrm>
          <a:prstGeom prst="rect">
            <a:avLst/>
          </a:prstGeom>
          <a:noFill/>
          <a:ln/>
        </p:spPr>
        <p:txBody>
          <a:bodyPr wrap="square" lIns="0" tIns="0" rIns="0" bIns="0" rtlCol="0" anchor="t"/>
          <a:lstStyle/>
          <a:p>
            <a:pPr indent="0" marL="0">
              <a:buNone/>
            </a:pPr>
            <a:r>
              <a:rPr lang="en-US" sz="5400" dirty="0">
                <a:solidFill>
                  <a:schemeClr val="accent6"/>
                </a:solidFill>
                <a:latin typeface="Cambria" pitchFamily="34" charset="0"/>
                <a:ea typeface="Cambria" pitchFamily="34" charset="-122"/>
                <a:cs typeface="Cambria" pitchFamily="34" charset="-120"/>
              </a:rPr>
              <a:t>2</a:t>
            </a:r>
            <a:endParaRPr lang="en-US" sz="5400" dirty="0"/>
          </a:p>
        </p:txBody>
      </p:sp>
      <p:sp>
        <p:nvSpPr>
          <p:cNvPr id="13" name="Icon disc"/>
          <p:cNvSpPr/>
          <p:nvPr/>
        </p:nvSpPr>
        <p:spPr>
          <a:xfrm>
            <a:off x="5047488" y="2194560"/>
            <a:ext cx="621792" cy="621792"/>
          </a:xfrm>
          <a:prstGeom prst="ellipse">
            <a:avLst/>
          </a:prstGeom>
          <a:solidFill>
            <a:schemeClr val="accent1"/>
          </a:solidFill>
          <a:ln/>
        </p:spPr>
      </p:sp>
      <p:pic>
        <p:nvPicPr>
          <p:cNvPr id="14" name="Image 1" descr="Network icon">    </p:cNvPr>
          <p:cNvPicPr>
            <a:picLocks noChangeAspect="1"/>
          </p:cNvPicPr>
          <p:nvPr/>
        </p:nvPicPr>
        <p:blipFill>
          <a:blip r:embed="rId2"/>
          <a:stretch>
            <a:fillRect/>
          </a:stretch>
        </p:blipFill>
        <p:spPr>
          <a:xfrm>
            <a:off x="5202936" y="2350008"/>
            <a:ext cx="310896" cy="310896"/>
          </a:xfrm>
          <a:prstGeom prst="rect">
            <a:avLst/>
          </a:prstGeom>
        </p:spPr>
      </p:pic>
      <p:sp>
        <p:nvSpPr>
          <p:cNvPr id="15" name="Text 10"/>
          <p:cNvSpPr txBox="1"/>
          <p:nvPr/>
        </p:nvSpPr>
        <p:spPr>
          <a:xfrm>
            <a:off x="3721608" y="3108960"/>
            <a:ext cx="1965960" cy="7772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Find the beneficial owner</a:t>
            </a:r>
            <a:endParaRPr lang="en-US" sz="1700" dirty="0"/>
          </a:p>
        </p:txBody>
      </p:sp>
      <p:sp>
        <p:nvSpPr>
          <p:cNvPr id="16" name="Text 11"/>
          <p:cNvSpPr txBox="1"/>
          <p:nvPr/>
        </p:nvSpPr>
        <p:spPr>
          <a:xfrm>
            <a:off x="3721608" y="3977640"/>
            <a:ext cx="1965960" cy="1737360"/>
          </a:xfrm>
          <a:prstGeom prst="rect">
            <a:avLst/>
          </a:prstGeom>
          <a:noFill/>
          <a:ln/>
        </p:spPr>
        <p:txBody>
          <a:bodyPr wrap="square" lIns="0" tIns="0" rIns="0" bIns="0" rtlCol="0" anchor="t"/>
          <a:lstStyle/>
          <a:p>
            <a:pPr indent="0" marL="0">
              <a:lnSpc>
                <a:spcPct val="108000"/>
              </a:lnSpc>
              <a:buNone/>
            </a:pPr>
            <a:r>
              <a:rPr lang="en-US" sz="1350" dirty="0">
                <a:solidFill>
                  <a:schemeClr val="tx2"/>
                </a:solidFill>
              </a:rPr>
              <a:t>The natural person who ultimately owns or controls. For trusts: settlor, trustees, protector, beneficiaries.</a:t>
            </a:r>
            <a:endParaRPr lang="en-US" sz="1350" dirty="0"/>
          </a:p>
        </p:txBody>
      </p:sp>
      <p:sp>
        <p:nvSpPr>
          <p:cNvPr id="17" name="Pillar card"/>
          <p:cNvSpPr/>
          <p:nvPr/>
        </p:nvSpPr>
        <p:spPr>
          <a:xfrm>
            <a:off x="6208776" y="1874520"/>
            <a:ext cx="2514600" cy="3840480"/>
          </a:xfrm>
          <a:prstGeom prst="roundRect">
            <a:avLst>
              <a:gd name="adj" fmla="val 4364"/>
            </a:avLst>
          </a:prstGeom>
          <a:solidFill>
            <a:schemeClr val="bg1"/>
          </a:solidFill>
          <a:ln/>
          <a:effectLst>
            <a:outerShdw sx="100000" sy="100000" kx="0" ky="0" algn="bl" rotWithShape="0" blurRad="177800" dist="38100" dir="5400000">
              <a:srgbClr val="0B1F2A">
                <a:alpha val="10000"/>
              </a:srgbClr>
            </a:outerShdw>
          </a:effectLst>
        </p:spPr>
      </p:sp>
      <p:sp>
        <p:nvSpPr>
          <p:cNvPr id="18" name="Text 13"/>
          <p:cNvSpPr txBox="1"/>
          <p:nvPr/>
        </p:nvSpPr>
        <p:spPr>
          <a:xfrm>
            <a:off x="6483096" y="2103120"/>
            <a:ext cx="914400" cy="822960"/>
          </a:xfrm>
          <a:prstGeom prst="rect">
            <a:avLst/>
          </a:prstGeom>
          <a:noFill/>
          <a:ln/>
        </p:spPr>
        <p:txBody>
          <a:bodyPr wrap="square" lIns="0" tIns="0" rIns="0" bIns="0" rtlCol="0" anchor="t"/>
          <a:lstStyle/>
          <a:p>
            <a:pPr indent="0" marL="0">
              <a:buNone/>
            </a:pPr>
            <a:r>
              <a:rPr lang="en-US" sz="5400" dirty="0">
                <a:solidFill>
                  <a:schemeClr val="accent6"/>
                </a:solidFill>
                <a:latin typeface="Cambria" pitchFamily="34" charset="0"/>
                <a:ea typeface="Cambria" pitchFamily="34" charset="-122"/>
                <a:cs typeface="Cambria" pitchFamily="34" charset="-120"/>
              </a:rPr>
              <a:t>3</a:t>
            </a:r>
            <a:endParaRPr lang="en-US" sz="5400" dirty="0"/>
          </a:p>
        </p:txBody>
      </p:sp>
      <p:sp>
        <p:nvSpPr>
          <p:cNvPr id="19" name="Icon disc"/>
          <p:cNvSpPr/>
          <p:nvPr/>
        </p:nvSpPr>
        <p:spPr>
          <a:xfrm>
            <a:off x="7808976" y="2194560"/>
            <a:ext cx="621792" cy="621792"/>
          </a:xfrm>
          <a:prstGeom prst="ellipse">
            <a:avLst/>
          </a:prstGeom>
          <a:solidFill>
            <a:schemeClr val="accent1"/>
          </a:solidFill>
          <a:ln/>
        </p:spPr>
      </p:sp>
      <p:pic>
        <p:nvPicPr>
          <p:cNvPr id="20" name="Image 2" descr="Lightbulb icon">    </p:cNvPr>
          <p:cNvPicPr>
            <a:picLocks noChangeAspect="1"/>
          </p:cNvPicPr>
          <p:nvPr/>
        </p:nvPicPr>
        <p:blipFill>
          <a:blip r:embed="rId3"/>
          <a:stretch>
            <a:fillRect/>
          </a:stretch>
        </p:blipFill>
        <p:spPr>
          <a:xfrm>
            <a:off x="7964424" y="2350008"/>
            <a:ext cx="310896" cy="310896"/>
          </a:xfrm>
          <a:prstGeom prst="rect">
            <a:avLst/>
          </a:prstGeom>
        </p:spPr>
      </p:pic>
      <p:sp>
        <p:nvSpPr>
          <p:cNvPr id="21" name="Text 15"/>
          <p:cNvSpPr txBox="1"/>
          <p:nvPr/>
        </p:nvSpPr>
        <p:spPr>
          <a:xfrm>
            <a:off x="6483096" y="3108960"/>
            <a:ext cx="1965960" cy="7772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Understand the purpose</a:t>
            </a:r>
            <a:endParaRPr lang="en-US" sz="1700" dirty="0"/>
          </a:p>
        </p:txBody>
      </p:sp>
      <p:sp>
        <p:nvSpPr>
          <p:cNvPr id="22" name="Text 16"/>
          <p:cNvSpPr txBox="1"/>
          <p:nvPr/>
        </p:nvSpPr>
        <p:spPr>
          <a:xfrm>
            <a:off x="6483096" y="3977640"/>
            <a:ext cx="1965960" cy="1737360"/>
          </a:xfrm>
          <a:prstGeom prst="rect">
            <a:avLst/>
          </a:prstGeom>
          <a:noFill/>
          <a:ln/>
        </p:spPr>
        <p:txBody>
          <a:bodyPr wrap="square" lIns="0" tIns="0" rIns="0" bIns="0" rtlCol="0" anchor="t"/>
          <a:lstStyle/>
          <a:p>
            <a:pPr indent="0" marL="0">
              <a:lnSpc>
                <a:spcPct val="108000"/>
              </a:lnSpc>
              <a:buNone/>
            </a:pPr>
            <a:r>
              <a:rPr lang="en-US" sz="1350" dirty="0">
                <a:solidFill>
                  <a:schemeClr val="tx2"/>
                </a:solidFill>
              </a:rPr>
              <a:t>Why this service, why here, and does the matter make commercial sense for this client?</a:t>
            </a:r>
            <a:endParaRPr lang="en-US" sz="1350" dirty="0"/>
          </a:p>
        </p:txBody>
      </p:sp>
      <p:sp>
        <p:nvSpPr>
          <p:cNvPr id="23" name="Pillar card"/>
          <p:cNvSpPr/>
          <p:nvPr/>
        </p:nvSpPr>
        <p:spPr>
          <a:xfrm>
            <a:off x="8970264" y="1874520"/>
            <a:ext cx="2514600" cy="3840480"/>
          </a:xfrm>
          <a:prstGeom prst="roundRect">
            <a:avLst>
              <a:gd name="adj" fmla="val 4364"/>
            </a:avLst>
          </a:prstGeom>
          <a:solidFill>
            <a:schemeClr val="bg1"/>
          </a:solidFill>
          <a:ln/>
          <a:effectLst>
            <a:outerShdw sx="100000" sy="100000" kx="0" ky="0" algn="bl" rotWithShape="0" blurRad="177800" dist="38100" dir="5400000">
              <a:srgbClr val="0B1F2A">
                <a:alpha val="10000"/>
              </a:srgbClr>
            </a:outerShdw>
          </a:effectLst>
        </p:spPr>
      </p:sp>
      <p:sp>
        <p:nvSpPr>
          <p:cNvPr id="24" name="Text 18"/>
          <p:cNvSpPr txBox="1"/>
          <p:nvPr/>
        </p:nvSpPr>
        <p:spPr>
          <a:xfrm>
            <a:off x="9244584" y="2103120"/>
            <a:ext cx="914400" cy="822960"/>
          </a:xfrm>
          <a:prstGeom prst="rect">
            <a:avLst/>
          </a:prstGeom>
          <a:noFill/>
          <a:ln/>
        </p:spPr>
        <p:txBody>
          <a:bodyPr wrap="square" lIns="0" tIns="0" rIns="0" bIns="0" rtlCol="0" anchor="t"/>
          <a:lstStyle/>
          <a:p>
            <a:pPr indent="0" marL="0">
              <a:buNone/>
            </a:pPr>
            <a:r>
              <a:rPr lang="en-US" sz="5400" dirty="0">
                <a:solidFill>
                  <a:schemeClr val="accent6"/>
                </a:solidFill>
                <a:latin typeface="Cambria" pitchFamily="34" charset="0"/>
                <a:ea typeface="Cambria" pitchFamily="34" charset="-122"/>
                <a:cs typeface="Cambria" pitchFamily="34" charset="-120"/>
              </a:rPr>
              <a:t>4</a:t>
            </a:r>
            <a:endParaRPr lang="en-US" sz="5400" dirty="0"/>
          </a:p>
        </p:txBody>
      </p:sp>
      <p:sp>
        <p:nvSpPr>
          <p:cNvPr id="25" name="Icon disc"/>
          <p:cNvSpPr/>
          <p:nvPr/>
        </p:nvSpPr>
        <p:spPr>
          <a:xfrm>
            <a:off x="10570464" y="2194560"/>
            <a:ext cx="621792" cy="621792"/>
          </a:xfrm>
          <a:prstGeom prst="ellipse">
            <a:avLst/>
          </a:prstGeom>
          <a:solidFill>
            <a:schemeClr val="accent1"/>
          </a:solidFill>
          <a:ln/>
        </p:spPr>
      </p:sp>
      <p:pic>
        <p:nvPicPr>
          <p:cNvPr id="26" name="Image 3" descr="Eye icon">    </p:cNvPr>
          <p:cNvPicPr>
            <a:picLocks noChangeAspect="1"/>
          </p:cNvPicPr>
          <p:nvPr/>
        </p:nvPicPr>
        <p:blipFill>
          <a:blip r:embed="rId4"/>
          <a:stretch>
            <a:fillRect/>
          </a:stretch>
        </p:blipFill>
        <p:spPr>
          <a:xfrm>
            <a:off x="10725912" y="2350008"/>
            <a:ext cx="310896" cy="310896"/>
          </a:xfrm>
          <a:prstGeom prst="rect">
            <a:avLst/>
          </a:prstGeom>
        </p:spPr>
      </p:pic>
      <p:sp>
        <p:nvSpPr>
          <p:cNvPr id="27" name="Text 20"/>
          <p:cNvSpPr txBox="1"/>
          <p:nvPr/>
        </p:nvSpPr>
        <p:spPr>
          <a:xfrm>
            <a:off x="9244584" y="3108960"/>
            <a:ext cx="1965960" cy="77724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Monitor, continuously</a:t>
            </a:r>
            <a:endParaRPr lang="en-US" sz="1700" dirty="0"/>
          </a:p>
        </p:txBody>
      </p:sp>
      <p:sp>
        <p:nvSpPr>
          <p:cNvPr id="28" name="Text 21"/>
          <p:cNvSpPr txBox="1"/>
          <p:nvPr/>
        </p:nvSpPr>
        <p:spPr>
          <a:xfrm>
            <a:off x="9244584" y="3977640"/>
            <a:ext cx="1965960" cy="1737360"/>
          </a:xfrm>
          <a:prstGeom prst="rect">
            <a:avLst/>
          </a:prstGeom>
          <a:noFill/>
          <a:ln/>
        </p:spPr>
        <p:txBody>
          <a:bodyPr wrap="square" lIns="0" tIns="0" rIns="0" bIns="0" rtlCol="0" anchor="t"/>
          <a:lstStyle/>
          <a:p>
            <a:pPr indent="0" marL="0">
              <a:lnSpc>
                <a:spcPct val="108000"/>
              </a:lnSpc>
              <a:buNone/>
            </a:pPr>
            <a:r>
              <a:rPr lang="en-US" sz="1350" dirty="0">
                <a:solidFill>
                  <a:schemeClr val="tx2"/>
                </a:solidFill>
              </a:rPr>
              <a:t>Activity matches the profile. Documents stay current. Changes trigger a fresh look.</a:t>
            </a:r>
            <a:endParaRPr lang="en-US" sz="13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04 · DUE DILIGENCE</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When we must carry out CDD</a:t>
            </a:r>
            <a:endParaRPr lang="en-US" sz="3400" dirty="0"/>
          </a:p>
        </p:txBody>
      </p:sp>
      <p:sp>
        <p:nvSpPr>
          <p:cNvPr id="5" name="Icon disc"/>
          <p:cNvSpPr/>
          <p:nvPr/>
        </p:nvSpPr>
        <p:spPr>
          <a:xfrm>
            <a:off x="685800" y="1810512"/>
            <a:ext cx="566928" cy="566928"/>
          </a:xfrm>
          <a:prstGeom prst="ellipse">
            <a:avLst/>
          </a:prstGeom>
          <a:solidFill>
            <a:schemeClr val="bg2"/>
          </a:solidFill>
          <a:ln/>
        </p:spPr>
      </p:sp>
      <p:pic>
        <p:nvPicPr>
          <p:cNvPr id="6" name="Image 0" descr="Handshake icon">    </p:cNvPr>
          <p:cNvPicPr>
            <a:picLocks noChangeAspect="1"/>
          </p:cNvPicPr>
          <p:nvPr/>
        </p:nvPicPr>
        <p:blipFill>
          <a:blip r:embed="rId1"/>
          <a:stretch>
            <a:fillRect/>
          </a:stretch>
        </p:blipFill>
        <p:spPr>
          <a:xfrm>
            <a:off x="827532" y="1952244"/>
            <a:ext cx="283464" cy="283464"/>
          </a:xfrm>
          <a:prstGeom prst="rect">
            <a:avLst/>
          </a:prstGeom>
        </p:spPr>
      </p:pic>
      <p:sp>
        <p:nvSpPr>
          <p:cNvPr id="7" name="Text 3"/>
          <p:cNvSpPr txBox="1"/>
          <p:nvPr/>
        </p:nvSpPr>
        <p:spPr>
          <a:xfrm>
            <a:off x="1463040" y="1920240"/>
            <a:ext cx="5486400" cy="384048"/>
          </a:xfrm>
          <a:prstGeom prst="rect">
            <a:avLst/>
          </a:prstGeom>
          <a:noFill/>
          <a:ln/>
        </p:spPr>
        <p:txBody>
          <a:bodyPr wrap="square" lIns="0" tIns="0" rIns="0" bIns="0" rtlCol="0" anchor="ctr"/>
          <a:lstStyle/>
          <a:p>
            <a:pPr indent="0" marL="0">
              <a:buNone/>
            </a:pPr>
            <a:r>
              <a:rPr lang="en-US" sz="1700" dirty="0">
                <a:solidFill>
                  <a:schemeClr val="tx1"/>
                </a:solidFill>
              </a:rPr>
              <a:t>Before a new relationship begins</a:t>
            </a:r>
            <a:endParaRPr lang="en-US" sz="1700" dirty="0"/>
          </a:p>
        </p:txBody>
      </p:sp>
      <p:sp>
        <p:nvSpPr>
          <p:cNvPr id="8" name="Icon disc"/>
          <p:cNvSpPr/>
          <p:nvPr/>
        </p:nvSpPr>
        <p:spPr>
          <a:xfrm>
            <a:off x="685800" y="2633472"/>
            <a:ext cx="566928" cy="566928"/>
          </a:xfrm>
          <a:prstGeom prst="ellipse">
            <a:avLst/>
          </a:prstGeom>
          <a:solidFill>
            <a:schemeClr val="bg2"/>
          </a:solidFill>
          <a:ln/>
        </p:spPr>
      </p:sp>
      <p:pic>
        <p:nvPicPr>
          <p:cNvPr id="9" name="Image 1" descr="Coins icon">    </p:cNvPr>
          <p:cNvPicPr>
            <a:picLocks noChangeAspect="1"/>
          </p:cNvPicPr>
          <p:nvPr/>
        </p:nvPicPr>
        <p:blipFill>
          <a:blip r:embed="rId2"/>
          <a:stretch>
            <a:fillRect/>
          </a:stretch>
        </p:blipFill>
        <p:spPr>
          <a:xfrm>
            <a:off x="827532" y="2775204"/>
            <a:ext cx="283464" cy="283464"/>
          </a:xfrm>
          <a:prstGeom prst="rect">
            <a:avLst/>
          </a:prstGeom>
        </p:spPr>
      </p:pic>
      <p:sp>
        <p:nvSpPr>
          <p:cNvPr id="10" name="Text 5"/>
          <p:cNvSpPr txBox="1"/>
          <p:nvPr/>
        </p:nvSpPr>
        <p:spPr>
          <a:xfrm>
            <a:off x="1463040" y="2743200"/>
            <a:ext cx="5486400" cy="384048"/>
          </a:xfrm>
          <a:prstGeom prst="rect">
            <a:avLst/>
          </a:prstGeom>
          <a:noFill/>
          <a:ln/>
        </p:spPr>
        <p:txBody>
          <a:bodyPr wrap="square" lIns="0" tIns="0" rIns="0" bIns="0" rtlCol="0" anchor="ctr"/>
          <a:lstStyle/>
          <a:p>
            <a:pPr indent="0" marL="0">
              <a:buNone/>
            </a:pPr>
            <a:r>
              <a:rPr lang="en-US" sz="1700" dirty="0">
                <a:solidFill>
                  <a:schemeClr val="tx1"/>
                </a:solidFill>
              </a:rPr>
              <a:t>Before an occasional transaction above the regulatory threshold</a:t>
            </a:r>
            <a:endParaRPr lang="en-US" sz="1700" dirty="0"/>
          </a:p>
        </p:txBody>
      </p:sp>
      <p:sp>
        <p:nvSpPr>
          <p:cNvPr id="11" name="Icon disc"/>
          <p:cNvSpPr/>
          <p:nvPr/>
        </p:nvSpPr>
        <p:spPr>
          <a:xfrm>
            <a:off x="685800" y="3456432"/>
            <a:ext cx="566928" cy="566928"/>
          </a:xfrm>
          <a:prstGeom prst="ellipse">
            <a:avLst/>
          </a:prstGeom>
          <a:solidFill>
            <a:schemeClr val="bg2"/>
          </a:solidFill>
          <a:ln/>
        </p:spPr>
      </p:sp>
      <p:pic>
        <p:nvPicPr>
          <p:cNvPr id="12" name="Image 2" descr="TriangleAlert icon">    </p:cNvPr>
          <p:cNvPicPr>
            <a:picLocks noChangeAspect="1"/>
          </p:cNvPicPr>
          <p:nvPr/>
        </p:nvPicPr>
        <p:blipFill>
          <a:blip r:embed="rId3"/>
          <a:stretch>
            <a:fillRect/>
          </a:stretch>
        </p:blipFill>
        <p:spPr>
          <a:xfrm>
            <a:off x="827532" y="3598164"/>
            <a:ext cx="283464" cy="283464"/>
          </a:xfrm>
          <a:prstGeom prst="rect">
            <a:avLst/>
          </a:prstGeom>
        </p:spPr>
      </p:pic>
      <p:sp>
        <p:nvSpPr>
          <p:cNvPr id="13" name="Text 7"/>
          <p:cNvSpPr txBox="1"/>
          <p:nvPr/>
        </p:nvSpPr>
        <p:spPr>
          <a:xfrm>
            <a:off x="1463040" y="3566160"/>
            <a:ext cx="5486400" cy="384048"/>
          </a:xfrm>
          <a:prstGeom prst="rect">
            <a:avLst/>
          </a:prstGeom>
          <a:noFill/>
          <a:ln/>
        </p:spPr>
        <p:txBody>
          <a:bodyPr wrap="square" lIns="0" tIns="0" rIns="0" bIns="0" rtlCol="0" anchor="ctr"/>
          <a:lstStyle/>
          <a:p>
            <a:pPr indent="0" marL="0">
              <a:buNone/>
            </a:pPr>
            <a:r>
              <a:rPr lang="en-US" sz="1700" dirty="0">
                <a:solidFill>
                  <a:schemeClr val="tx1"/>
                </a:solidFill>
              </a:rPr>
              <a:t>Whenever we suspect ML or TF, whatever the amount</a:t>
            </a:r>
            <a:endParaRPr lang="en-US" sz="1700" dirty="0"/>
          </a:p>
        </p:txBody>
      </p:sp>
      <p:sp>
        <p:nvSpPr>
          <p:cNvPr id="14" name="Icon disc"/>
          <p:cNvSpPr/>
          <p:nvPr/>
        </p:nvSpPr>
        <p:spPr>
          <a:xfrm>
            <a:off x="685800" y="4279392"/>
            <a:ext cx="566928" cy="566928"/>
          </a:xfrm>
          <a:prstGeom prst="ellipse">
            <a:avLst/>
          </a:prstGeom>
          <a:solidFill>
            <a:schemeClr val="bg2"/>
          </a:solidFill>
          <a:ln/>
        </p:spPr>
      </p:sp>
      <p:pic>
        <p:nvPicPr>
          <p:cNvPr id="15" name="Image 3" descr="CircleHelp icon">    </p:cNvPr>
          <p:cNvPicPr>
            <a:picLocks noChangeAspect="1"/>
          </p:cNvPicPr>
          <p:nvPr/>
        </p:nvPicPr>
        <p:blipFill>
          <a:blip r:embed="rId4"/>
          <a:stretch>
            <a:fillRect/>
          </a:stretch>
        </p:blipFill>
        <p:spPr>
          <a:xfrm>
            <a:off x="827532" y="4421124"/>
            <a:ext cx="283464" cy="283464"/>
          </a:xfrm>
          <a:prstGeom prst="rect">
            <a:avLst/>
          </a:prstGeom>
        </p:spPr>
      </p:pic>
      <p:sp>
        <p:nvSpPr>
          <p:cNvPr id="16" name="Text 9"/>
          <p:cNvSpPr txBox="1"/>
          <p:nvPr/>
        </p:nvSpPr>
        <p:spPr>
          <a:xfrm>
            <a:off x="1463040" y="4389120"/>
            <a:ext cx="5486400" cy="384048"/>
          </a:xfrm>
          <a:prstGeom prst="rect">
            <a:avLst/>
          </a:prstGeom>
          <a:noFill/>
          <a:ln/>
        </p:spPr>
        <p:txBody>
          <a:bodyPr wrap="square" lIns="0" tIns="0" rIns="0" bIns="0" rtlCol="0" anchor="ctr"/>
          <a:lstStyle/>
          <a:p>
            <a:pPr indent="0" marL="0">
              <a:buNone/>
            </a:pPr>
            <a:r>
              <a:rPr lang="en-US" sz="1700" dirty="0">
                <a:solidFill>
                  <a:schemeClr val="tx1"/>
                </a:solidFill>
              </a:rPr>
              <a:t>When we doubt information we already hold</a:t>
            </a:r>
            <a:endParaRPr lang="en-US" sz="1700" dirty="0"/>
          </a:p>
        </p:txBody>
      </p:sp>
      <p:sp>
        <p:nvSpPr>
          <p:cNvPr id="17" name="Icon disc"/>
          <p:cNvSpPr/>
          <p:nvPr/>
        </p:nvSpPr>
        <p:spPr>
          <a:xfrm>
            <a:off x="685800" y="5102352"/>
            <a:ext cx="566928" cy="566928"/>
          </a:xfrm>
          <a:prstGeom prst="ellipse">
            <a:avLst/>
          </a:prstGeom>
          <a:solidFill>
            <a:schemeClr val="bg2"/>
          </a:solidFill>
          <a:ln/>
        </p:spPr>
      </p:sp>
      <p:pic>
        <p:nvPicPr>
          <p:cNvPr id="18" name="Image 4" descr="Clock icon">    </p:cNvPr>
          <p:cNvPicPr>
            <a:picLocks noChangeAspect="1"/>
          </p:cNvPicPr>
          <p:nvPr/>
        </p:nvPicPr>
        <p:blipFill>
          <a:blip r:embed="rId5"/>
          <a:stretch>
            <a:fillRect/>
          </a:stretch>
        </p:blipFill>
        <p:spPr>
          <a:xfrm>
            <a:off x="827532" y="5244084"/>
            <a:ext cx="283464" cy="283464"/>
          </a:xfrm>
          <a:prstGeom prst="rect">
            <a:avLst/>
          </a:prstGeom>
        </p:spPr>
      </p:pic>
      <p:sp>
        <p:nvSpPr>
          <p:cNvPr id="19" name="Text 11"/>
          <p:cNvSpPr txBox="1"/>
          <p:nvPr/>
        </p:nvSpPr>
        <p:spPr>
          <a:xfrm>
            <a:off x="1463040" y="5212080"/>
            <a:ext cx="5486400" cy="384048"/>
          </a:xfrm>
          <a:prstGeom prst="rect">
            <a:avLst/>
          </a:prstGeom>
          <a:noFill/>
          <a:ln/>
        </p:spPr>
        <p:txBody>
          <a:bodyPr wrap="square" lIns="0" tIns="0" rIns="0" bIns="0" rtlCol="0" anchor="ctr"/>
          <a:lstStyle/>
          <a:p>
            <a:pPr indent="0" marL="0">
              <a:buNone/>
            </a:pPr>
            <a:r>
              <a:rPr lang="en-US" sz="1700" dirty="0">
                <a:solidFill>
                  <a:schemeClr val="tx1"/>
                </a:solidFill>
              </a:rPr>
              <a:t>Periodically, and on any material change for existing clients</a:t>
            </a:r>
            <a:endParaRPr lang="en-US" sz="1700" dirty="0"/>
          </a:p>
        </p:txBody>
      </p:sp>
      <p:sp>
        <p:nvSpPr>
          <p:cNvPr id="20" name="Rule panel"/>
          <p:cNvSpPr/>
          <p:nvPr/>
        </p:nvSpPr>
        <p:spPr>
          <a:xfrm>
            <a:off x="7452360" y="1828800"/>
            <a:ext cx="4050792" cy="3931920"/>
          </a:xfrm>
          <a:prstGeom prst="roundRect">
            <a:avLst>
              <a:gd name="adj" fmla="val 2791"/>
            </a:avLst>
          </a:prstGeom>
          <a:solidFill>
            <a:schemeClr val="tx1"/>
          </a:solidFill>
          <a:ln/>
          <a:effectLst>
            <a:outerShdw sx="100000" sy="100000" kx="0" ky="0" algn="bl" rotWithShape="0" blurRad="177800" dist="38100" dir="5400000">
              <a:srgbClr val="0B1F2A">
                <a:alpha val="10000"/>
              </a:srgbClr>
            </a:outerShdw>
          </a:effectLst>
        </p:spPr>
      </p:sp>
      <p:sp>
        <p:nvSpPr>
          <p:cNvPr id="21" name="Icon disc"/>
          <p:cNvSpPr/>
          <p:nvPr/>
        </p:nvSpPr>
        <p:spPr>
          <a:xfrm>
            <a:off x="7772400" y="2148840"/>
            <a:ext cx="658368" cy="658368"/>
          </a:xfrm>
          <a:prstGeom prst="ellipse">
            <a:avLst/>
          </a:prstGeom>
          <a:solidFill>
            <a:schemeClr val="accent2"/>
          </a:solidFill>
          <a:ln/>
        </p:spPr>
      </p:sp>
      <p:pic>
        <p:nvPicPr>
          <p:cNvPr id="22" name="Image 5" descr="Ban icon">    </p:cNvPr>
          <p:cNvPicPr>
            <a:picLocks noChangeAspect="1"/>
          </p:cNvPicPr>
          <p:nvPr/>
        </p:nvPicPr>
        <p:blipFill>
          <a:blip r:embed="rId6"/>
          <a:stretch>
            <a:fillRect/>
          </a:stretch>
        </p:blipFill>
        <p:spPr>
          <a:xfrm>
            <a:off x="7936992" y="2313432"/>
            <a:ext cx="329184" cy="329184"/>
          </a:xfrm>
          <a:prstGeom prst="rect">
            <a:avLst/>
          </a:prstGeom>
        </p:spPr>
      </p:pic>
      <p:sp>
        <p:nvSpPr>
          <p:cNvPr id="23" name="Text 14"/>
          <p:cNvSpPr txBox="1"/>
          <p:nvPr/>
        </p:nvSpPr>
        <p:spPr>
          <a:xfrm>
            <a:off x="7772400" y="2971800"/>
            <a:ext cx="347472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If CDD can't be completed</a:t>
            </a:r>
            <a:endParaRPr lang="en-US" sz="2000" dirty="0"/>
          </a:p>
        </p:txBody>
      </p:sp>
      <p:sp>
        <p:nvSpPr>
          <p:cNvPr id="24" name="Text 15"/>
          <p:cNvSpPr txBox="1"/>
          <p:nvPr/>
        </p:nvSpPr>
        <p:spPr>
          <a:xfrm>
            <a:off x="7772400" y="3520440"/>
            <a:ext cx="3474720" cy="201168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chemeClr val="accent6"/>
                </a:solidFill>
              </a:rPr>
              <a:t>Do not open the relationship or carry out the transaction</a:t>
            </a:r>
            <a:endParaRPr lang="en-US" sz="1450" dirty="0"/>
          </a:p>
          <a:p>
            <a:pPr marL="203200" indent="-203200">
              <a:spcAft>
                <a:spcPts val="800"/>
              </a:spcAft>
              <a:buSzPct val="100000"/>
              <a:buChar char="•"/>
            </a:pPr>
            <a:r>
              <a:rPr lang="en-US" sz="1450" dirty="0">
                <a:solidFill>
                  <a:schemeClr val="accent6"/>
                </a:solidFill>
              </a:rPr>
              <a:t>Consider ending an existing relationship</a:t>
            </a:r>
            <a:endParaRPr lang="en-US" sz="1450" dirty="0"/>
          </a:p>
          <a:p>
            <a:pPr marL="203200" indent="-203200">
              <a:buSzPct val="100000"/>
              <a:buChar char="•"/>
            </a:pPr>
            <a:r>
              <a:rPr lang="en-US" sz="1450" dirty="0">
                <a:solidFill>
                  <a:schemeClr val="accent6"/>
                </a:solidFill>
              </a:rPr>
              <a:t>Consider whether to report to the MLRO</a:t>
            </a:r>
            <a:endParaRPr lang="en-US" sz="145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04 · DUE DILIGENCE</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Source of funds vs source of wealth</a:t>
            </a:r>
            <a:endParaRPr lang="en-US" sz="3400" dirty="0"/>
          </a:p>
        </p:txBody>
      </p:sp>
      <p:sp>
        <p:nvSpPr>
          <p:cNvPr id="5" name="Comparison card"/>
          <p:cNvSpPr/>
          <p:nvPr/>
        </p:nvSpPr>
        <p:spPr>
          <a:xfrm>
            <a:off x="685800" y="1874520"/>
            <a:ext cx="5257800" cy="3429000"/>
          </a:xfrm>
          <a:prstGeom prst="roundRect">
            <a:avLst>
              <a:gd name="adj" fmla="val 3200"/>
            </a:avLst>
          </a:prstGeom>
          <a:solidFill>
            <a:schemeClr val="bg1"/>
          </a:solidFill>
          <a:ln/>
          <a:effectLst>
            <a:outerShdw sx="100000" sy="100000" kx="0" ky="0" algn="bl" rotWithShape="0" blurRad="177800" dist="38100" dir="5400000">
              <a:srgbClr val="0B1F2A">
                <a:alpha val="10000"/>
              </a:srgbClr>
            </a:outerShdw>
          </a:effectLst>
        </p:spPr>
      </p:sp>
      <p:sp>
        <p:nvSpPr>
          <p:cNvPr id="6" name="Icon disc"/>
          <p:cNvSpPr/>
          <p:nvPr/>
        </p:nvSpPr>
        <p:spPr>
          <a:xfrm>
            <a:off x="1051560" y="2240280"/>
            <a:ext cx="676656" cy="676656"/>
          </a:xfrm>
          <a:prstGeom prst="ellipse">
            <a:avLst/>
          </a:prstGeom>
          <a:solidFill>
            <a:schemeClr val="accent1"/>
          </a:solidFill>
          <a:ln/>
        </p:spPr>
      </p:sp>
      <p:pic>
        <p:nvPicPr>
          <p:cNvPr id="7" name="Image 0" descr="Wallet icon">    </p:cNvPr>
          <p:cNvPicPr>
            <a:picLocks noChangeAspect="1"/>
          </p:cNvPicPr>
          <p:nvPr/>
        </p:nvPicPr>
        <p:blipFill>
          <a:blip r:embed="rId1"/>
          <a:stretch>
            <a:fillRect/>
          </a:stretch>
        </p:blipFill>
        <p:spPr>
          <a:xfrm>
            <a:off x="1220724" y="2409444"/>
            <a:ext cx="338328" cy="338328"/>
          </a:xfrm>
          <a:prstGeom prst="rect">
            <a:avLst/>
          </a:prstGeom>
        </p:spPr>
      </p:pic>
      <p:sp>
        <p:nvSpPr>
          <p:cNvPr id="8" name="Text 4"/>
          <p:cNvSpPr txBox="1"/>
          <p:nvPr/>
        </p:nvSpPr>
        <p:spPr>
          <a:xfrm>
            <a:off x="1920240" y="2258568"/>
            <a:ext cx="3657600" cy="41148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Source of funds</a:t>
            </a:r>
            <a:endParaRPr lang="en-US" sz="2400" dirty="0"/>
          </a:p>
        </p:txBody>
      </p:sp>
      <p:sp>
        <p:nvSpPr>
          <p:cNvPr id="9" name="Text 5"/>
          <p:cNvSpPr txBox="1"/>
          <p:nvPr/>
        </p:nvSpPr>
        <p:spPr>
          <a:xfrm>
            <a:off x="1920240" y="2679192"/>
            <a:ext cx="3749040" cy="320040"/>
          </a:xfrm>
          <a:prstGeom prst="rect">
            <a:avLst/>
          </a:prstGeom>
          <a:noFill/>
          <a:ln/>
        </p:spPr>
        <p:txBody>
          <a:bodyPr wrap="square" lIns="0" tIns="0" rIns="0" bIns="0" rtlCol="0" anchor="t"/>
          <a:lstStyle/>
          <a:p>
            <a:pPr indent="0" marL="0">
              <a:buNone/>
            </a:pPr>
            <a:r>
              <a:rPr lang="en-US" sz="1300" i="1" dirty="0">
                <a:solidFill>
                  <a:schemeClr val="tx2"/>
                </a:solidFill>
              </a:rPr>
              <a:t>Where does the money for this matter come from?</a:t>
            </a:r>
            <a:endParaRPr lang="en-US" sz="1300" dirty="0"/>
          </a:p>
        </p:txBody>
      </p:sp>
      <p:sp>
        <p:nvSpPr>
          <p:cNvPr id="10" name="Text 6"/>
          <p:cNvSpPr txBox="1"/>
          <p:nvPr/>
        </p:nvSpPr>
        <p:spPr>
          <a:xfrm>
            <a:off x="1051560" y="3337560"/>
            <a:ext cx="4526280" cy="22860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Bank statements showing the funds</a:t>
            </a:r>
            <a:endParaRPr lang="en-US" sz="1500" dirty="0"/>
          </a:p>
          <a:p>
            <a:pPr marL="203200" indent="-203200">
              <a:spcAft>
                <a:spcPts val="1000"/>
              </a:spcAft>
              <a:buSzPct val="100000"/>
              <a:buChar char="•"/>
            </a:pPr>
            <a:r>
              <a:rPr lang="en-US" sz="1500" dirty="0">
                <a:solidFill>
                  <a:schemeClr val="tx1"/>
                </a:solidFill>
              </a:rPr>
              <a:t>Sale proceeds of a property or business</a:t>
            </a:r>
            <a:endParaRPr lang="en-US" sz="1500" dirty="0"/>
          </a:p>
          <a:p>
            <a:pPr marL="203200" indent="-203200">
              <a:spcAft>
                <a:spcPts val="1000"/>
              </a:spcAft>
              <a:buSzPct val="100000"/>
              <a:buChar char="•"/>
            </a:pPr>
            <a:r>
              <a:rPr lang="en-US" sz="1500" dirty="0">
                <a:solidFill>
                  <a:schemeClr val="tx1"/>
                </a:solidFill>
              </a:rPr>
              <a:t>Loan or mortgage documents</a:t>
            </a:r>
            <a:endParaRPr lang="en-US" sz="1500" dirty="0"/>
          </a:p>
          <a:p>
            <a:pPr marL="203200" indent="-203200">
              <a:spcAft>
                <a:spcPts val="1000"/>
              </a:spcAft>
              <a:buSzPct val="100000"/>
              <a:buChar char="•"/>
            </a:pPr>
            <a:r>
              <a:rPr lang="en-US" sz="1500" dirty="0">
                <a:solidFill>
                  <a:schemeClr val="tx1"/>
                </a:solidFill>
              </a:rPr>
              <a:t>Must match the account it is paid from</a:t>
            </a:r>
            <a:endParaRPr lang="en-US" sz="1500" dirty="0"/>
          </a:p>
        </p:txBody>
      </p:sp>
      <p:sp>
        <p:nvSpPr>
          <p:cNvPr id="11" name="Comparison card"/>
          <p:cNvSpPr/>
          <p:nvPr/>
        </p:nvSpPr>
        <p:spPr>
          <a:xfrm>
            <a:off x="6245352" y="1874520"/>
            <a:ext cx="5257800" cy="3429000"/>
          </a:xfrm>
          <a:prstGeom prst="roundRect">
            <a:avLst>
              <a:gd name="adj" fmla="val 3200"/>
            </a:avLst>
          </a:prstGeom>
          <a:solidFill>
            <a:schemeClr val="bg1"/>
          </a:solidFill>
          <a:ln/>
          <a:effectLst>
            <a:outerShdw sx="100000" sy="100000" kx="0" ky="0" algn="bl" rotWithShape="0" blurRad="177800" dist="38100" dir="5400000">
              <a:srgbClr val="0B1F2A">
                <a:alpha val="10000"/>
              </a:srgbClr>
            </a:outerShdw>
          </a:effectLst>
        </p:spPr>
      </p:sp>
      <p:sp>
        <p:nvSpPr>
          <p:cNvPr id="12" name="Icon disc"/>
          <p:cNvSpPr/>
          <p:nvPr/>
        </p:nvSpPr>
        <p:spPr>
          <a:xfrm>
            <a:off x="6611112" y="2240280"/>
            <a:ext cx="676656" cy="676656"/>
          </a:xfrm>
          <a:prstGeom prst="ellipse">
            <a:avLst/>
          </a:prstGeom>
          <a:solidFill>
            <a:schemeClr val="accent2"/>
          </a:solidFill>
          <a:ln/>
        </p:spPr>
      </p:sp>
      <p:pic>
        <p:nvPicPr>
          <p:cNvPr id="13" name="Image 1" descr="Crown icon">    </p:cNvPr>
          <p:cNvPicPr>
            <a:picLocks noChangeAspect="1"/>
          </p:cNvPicPr>
          <p:nvPr/>
        </p:nvPicPr>
        <p:blipFill>
          <a:blip r:embed="rId2"/>
          <a:stretch>
            <a:fillRect/>
          </a:stretch>
        </p:blipFill>
        <p:spPr>
          <a:xfrm>
            <a:off x="6780276" y="2409444"/>
            <a:ext cx="338328" cy="338328"/>
          </a:xfrm>
          <a:prstGeom prst="rect">
            <a:avLst/>
          </a:prstGeom>
        </p:spPr>
      </p:pic>
      <p:sp>
        <p:nvSpPr>
          <p:cNvPr id="14" name="Text 9"/>
          <p:cNvSpPr txBox="1"/>
          <p:nvPr/>
        </p:nvSpPr>
        <p:spPr>
          <a:xfrm>
            <a:off x="7479792" y="2258568"/>
            <a:ext cx="3657600" cy="41148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Source of wealth</a:t>
            </a:r>
            <a:endParaRPr lang="en-US" sz="2400" dirty="0"/>
          </a:p>
        </p:txBody>
      </p:sp>
      <p:sp>
        <p:nvSpPr>
          <p:cNvPr id="15" name="Text 10"/>
          <p:cNvSpPr txBox="1"/>
          <p:nvPr/>
        </p:nvSpPr>
        <p:spPr>
          <a:xfrm>
            <a:off x="7479792" y="2679192"/>
            <a:ext cx="3749040" cy="320040"/>
          </a:xfrm>
          <a:prstGeom prst="rect">
            <a:avLst/>
          </a:prstGeom>
          <a:noFill/>
          <a:ln/>
        </p:spPr>
        <p:txBody>
          <a:bodyPr wrap="square" lIns="0" tIns="0" rIns="0" bIns="0" rtlCol="0" anchor="t"/>
          <a:lstStyle/>
          <a:p>
            <a:pPr indent="0" marL="0">
              <a:buNone/>
            </a:pPr>
            <a:r>
              <a:rPr lang="en-US" sz="1300" i="1" dirty="0">
                <a:solidFill>
                  <a:schemeClr val="tx2"/>
                </a:solidFill>
              </a:rPr>
              <a:t>How did the client build their overall wealth?</a:t>
            </a:r>
            <a:endParaRPr lang="en-US" sz="1300" dirty="0"/>
          </a:p>
        </p:txBody>
      </p:sp>
      <p:sp>
        <p:nvSpPr>
          <p:cNvPr id="16" name="Text 11"/>
          <p:cNvSpPr txBox="1"/>
          <p:nvPr/>
        </p:nvSpPr>
        <p:spPr>
          <a:xfrm>
            <a:off x="6611112" y="3337560"/>
            <a:ext cx="4526280" cy="22860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Career history and remuneration</a:t>
            </a:r>
            <a:endParaRPr lang="en-US" sz="1500" dirty="0"/>
          </a:p>
          <a:p>
            <a:pPr marL="203200" indent="-203200">
              <a:spcAft>
                <a:spcPts val="1000"/>
              </a:spcAft>
              <a:buSzPct val="100000"/>
              <a:buChar char="•"/>
            </a:pPr>
            <a:r>
              <a:rPr lang="en-US" sz="1500" dirty="0">
                <a:solidFill>
                  <a:schemeClr val="tx1"/>
                </a:solidFill>
              </a:rPr>
              <a:t>Business ownership and sale</a:t>
            </a:r>
            <a:endParaRPr lang="en-US" sz="1500" dirty="0"/>
          </a:p>
          <a:p>
            <a:pPr marL="203200" indent="-203200">
              <a:spcAft>
                <a:spcPts val="1000"/>
              </a:spcAft>
              <a:buSzPct val="100000"/>
              <a:buChar char="•"/>
            </a:pPr>
            <a:r>
              <a:rPr lang="en-US" sz="1500" dirty="0">
                <a:solidFill>
                  <a:schemeClr val="tx1"/>
                </a:solidFill>
              </a:rPr>
              <a:t>Inheritance, with supporting documents</a:t>
            </a:r>
            <a:endParaRPr lang="en-US" sz="1500" dirty="0"/>
          </a:p>
          <a:p>
            <a:pPr marL="203200" indent="-203200">
              <a:spcAft>
                <a:spcPts val="1000"/>
              </a:spcAft>
              <a:buSzPct val="100000"/>
              <a:buChar char="•"/>
            </a:pPr>
            <a:r>
              <a:rPr lang="en-US" sz="1500" dirty="0">
                <a:solidFill>
                  <a:schemeClr val="tx1"/>
                </a:solidFill>
              </a:rPr>
              <a:t>Required for higher-risk clients and PEPs</a:t>
            </a:r>
            <a:endParaRPr lang="en-US" sz="1500" dirty="0"/>
          </a:p>
        </p:txBody>
      </p:sp>
      <p:sp>
        <p:nvSpPr>
          <p:cNvPr id="17" name="VS disc"/>
          <p:cNvSpPr/>
          <p:nvPr/>
        </p:nvSpPr>
        <p:spPr>
          <a:xfrm>
            <a:off x="5733288" y="3218688"/>
            <a:ext cx="731520" cy="731520"/>
          </a:xfrm>
          <a:prstGeom prst="ellipse">
            <a:avLst/>
          </a:prstGeom>
          <a:solidFill>
            <a:schemeClr val="tx1"/>
          </a:solidFill>
          <a:ln w="38100">
            <a:solidFill>
              <a:schemeClr val="bg1"/>
            </a:solidFill>
            <a:prstDash val="solid"/>
          </a:ln>
        </p:spPr>
      </p:sp>
      <p:sp>
        <p:nvSpPr>
          <p:cNvPr id="18" name="Text 13"/>
          <p:cNvSpPr txBox="1"/>
          <p:nvPr/>
        </p:nvSpPr>
        <p:spPr>
          <a:xfrm>
            <a:off x="5733288" y="3218688"/>
            <a:ext cx="731520" cy="731520"/>
          </a:xfrm>
          <a:prstGeom prst="rect">
            <a:avLst/>
          </a:prstGeom>
          <a:noFill/>
          <a:ln/>
        </p:spPr>
        <p:txBody>
          <a:bodyPr wrap="square" lIns="0" tIns="0" rIns="0" bIns="0" rtlCol="0" anchor="ctr"/>
          <a:lstStyle/>
          <a:p>
            <a:pPr algn="ctr" indent="0" marL="0">
              <a:buNone/>
            </a:pPr>
            <a:r>
              <a:rPr lang="en-US" sz="1800" i="1" dirty="0">
                <a:solidFill>
                  <a:schemeClr val="bg1"/>
                </a:solidFill>
                <a:latin typeface="Cambria" pitchFamily="34" charset="0"/>
                <a:ea typeface="Cambria" pitchFamily="34" charset="-122"/>
                <a:cs typeface="Cambria" pitchFamily="34" charset="-120"/>
              </a:rPr>
              <a:t>vs</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04 · DUE DILIGENCE</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When the risk is higher, we go deeper</a:t>
            </a:r>
            <a:endParaRPr lang="en-US" sz="3400" dirty="0"/>
          </a:p>
        </p:txBody>
      </p:sp>
      <p:sp>
        <p:nvSpPr>
          <p:cNvPr id="5" name="Text 2"/>
          <p:cNvSpPr txBox="1"/>
          <p:nvPr/>
        </p:nvSpPr>
        <p:spPr>
          <a:xfrm>
            <a:off x="685800" y="1810512"/>
            <a:ext cx="2743200" cy="274320"/>
          </a:xfrm>
          <a:prstGeom prst="rect">
            <a:avLst/>
          </a:prstGeom>
          <a:noFill/>
          <a:ln/>
        </p:spPr>
        <p:txBody>
          <a:bodyPr wrap="square" lIns="0" tIns="0" rIns="0" bIns="0" rtlCol="0" anchor="t"/>
          <a:lstStyle/>
          <a:p>
            <a:pPr indent="0" marL="0">
              <a:buNone/>
            </a:pPr>
            <a:r>
              <a:rPr lang="en-US" sz="1000" b="1" spc="300" kern="0" dirty="0">
                <a:solidFill>
                  <a:schemeClr val="accent2"/>
                </a:solidFill>
              </a:rPr>
              <a:t>TRIGGERS</a:t>
            </a:r>
            <a:endParaRPr lang="en-US" sz="1000" dirty="0"/>
          </a:p>
        </p:txBody>
      </p:sp>
      <p:sp>
        <p:nvSpPr>
          <p:cNvPr id="6" name="Trigger card"/>
          <p:cNvSpPr/>
          <p:nvPr/>
        </p:nvSpPr>
        <p:spPr>
          <a:xfrm>
            <a:off x="685800" y="2176272"/>
            <a:ext cx="2880360" cy="1664208"/>
          </a:xfrm>
          <a:prstGeom prst="roundRect">
            <a:avLst>
              <a:gd name="adj" fmla="val 6593"/>
            </a:avLst>
          </a:prstGeom>
          <a:solidFill>
            <a:schemeClr val="bg1"/>
          </a:solidFill>
          <a:ln/>
          <a:effectLst>
            <a:outerShdw sx="100000" sy="100000" kx="0" ky="0" algn="bl" rotWithShape="0" blurRad="177800" dist="38100" dir="5400000">
              <a:srgbClr val="0B1F2A">
                <a:alpha val="10000"/>
              </a:srgbClr>
            </a:outerShdw>
          </a:effectLst>
        </p:spPr>
      </p:sp>
      <p:sp>
        <p:nvSpPr>
          <p:cNvPr id="7" name="Icon disc"/>
          <p:cNvSpPr/>
          <p:nvPr/>
        </p:nvSpPr>
        <p:spPr>
          <a:xfrm>
            <a:off x="960120" y="2432304"/>
            <a:ext cx="548640" cy="548640"/>
          </a:xfrm>
          <a:prstGeom prst="ellipse">
            <a:avLst/>
          </a:prstGeom>
          <a:solidFill>
            <a:schemeClr val="accent2"/>
          </a:solidFill>
          <a:ln/>
        </p:spPr>
      </p:sp>
      <p:pic>
        <p:nvPicPr>
          <p:cNvPr id="8" name="Image 0" descr="Landmark icon">    </p:cNvPr>
          <p:cNvPicPr>
            <a:picLocks noChangeAspect="1"/>
          </p:cNvPicPr>
          <p:nvPr/>
        </p:nvPicPr>
        <p:blipFill>
          <a:blip r:embed="rId1"/>
          <a:stretch>
            <a:fillRect/>
          </a:stretch>
        </p:blipFill>
        <p:spPr>
          <a:xfrm>
            <a:off x="1097280" y="2569464"/>
            <a:ext cx="274320" cy="274320"/>
          </a:xfrm>
          <a:prstGeom prst="rect">
            <a:avLst/>
          </a:prstGeom>
        </p:spPr>
      </p:pic>
      <p:sp>
        <p:nvSpPr>
          <p:cNvPr id="9" name="Text 5"/>
          <p:cNvSpPr txBox="1"/>
          <p:nvPr/>
        </p:nvSpPr>
        <p:spPr>
          <a:xfrm>
            <a:off x="960120" y="3072384"/>
            <a:ext cx="2423160" cy="347472"/>
          </a:xfrm>
          <a:prstGeom prst="rect">
            <a:avLst/>
          </a:prstGeom>
          <a:noFill/>
          <a:ln/>
        </p:spPr>
        <p:txBody>
          <a:bodyPr wrap="square" lIns="0" tIns="0" rIns="0" bIns="0" rtlCol="0" anchor="t"/>
          <a:lstStyle/>
          <a:p>
            <a:pPr indent="0" marL="0">
              <a:buNone/>
            </a:pPr>
            <a:r>
              <a:rPr lang="en-US" sz="1500" b="1" dirty="0">
                <a:solidFill>
                  <a:schemeClr val="tx1"/>
                </a:solidFill>
              </a:rPr>
              <a:t>Politically exposed persons</a:t>
            </a:r>
            <a:endParaRPr lang="en-US" sz="1500" dirty="0"/>
          </a:p>
        </p:txBody>
      </p:sp>
      <p:sp>
        <p:nvSpPr>
          <p:cNvPr id="10" name="Text 6"/>
          <p:cNvSpPr txBox="1"/>
          <p:nvPr/>
        </p:nvSpPr>
        <p:spPr>
          <a:xfrm>
            <a:off x="960120" y="3410712"/>
            <a:ext cx="2423160" cy="365760"/>
          </a:xfrm>
          <a:prstGeom prst="rect">
            <a:avLst/>
          </a:prstGeom>
          <a:noFill/>
          <a:ln/>
        </p:spPr>
        <p:txBody>
          <a:bodyPr wrap="square" lIns="0" tIns="0" rIns="0" bIns="0" rtlCol="0" anchor="t"/>
          <a:lstStyle/>
          <a:p>
            <a:pPr indent="0" marL="0">
              <a:buNone/>
            </a:pPr>
            <a:r>
              <a:rPr lang="en-US" sz="1200" dirty="0">
                <a:solidFill>
                  <a:schemeClr val="tx2"/>
                </a:solidFill>
              </a:rPr>
              <a:t>and their family members and close associates</a:t>
            </a:r>
            <a:endParaRPr lang="en-US" sz="1200" dirty="0"/>
          </a:p>
        </p:txBody>
      </p:sp>
      <p:sp>
        <p:nvSpPr>
          <p:cNvPr id="11" name="Trigger card"/>
          <p:cNvSpPr/>
          <p:nvPr/>
        </p:nvSpPr>
        <p:spPr>
          <a:xfrm>
            <a:off x="3794760" y="2176272"/>
            <a:ext cx="2880360" cy="1664208"/>
          </a:xfrm>
          <a:prstGeom prst="roundRect">
            <a:avLst>
              <a:gd name="adj" fmla="val 6593"/>
            </a:avLst>
          </a:prstGeom>
          <a:solidFill>
            <a:schemeClr val="bg1"/>
          </a:solidFill>
          <a:ln/>
          <a:effectLst>
            <a:outerShdw sx="100000" sy="100000" kx="0" ky="0" algn="bl" rotWithShape="0" blurRad="177800" dist="38100" dir="5400000">
              <a:srgbClr val="0B1F2A">
                <a:alpha val="10000"/>
              </a:srgbClr>
            </a:outerShdw>
          </a:effectLst>
        </p:spPr>
      </p:sp>
      <p:sp>
        <p:nvSpPr>
          <p:cNvPr id="12" name="Icon disc"/>
          <p:cNvSpPr/>
          <p:nvPr/>
        </p:nvSpPr>
        <p:spPr>
          <a:xfrm>
            <a:off x="4069080" y="2432304"/>
            <a:ext cx="548640" cy="548640"/>
          </a:xfrm>
          <a:prstGeom prst="ellipse">
            <a:avLst/>
          </a:prstGeom>
          <a:solidFill>
            <a:schemeClr val="accent2"/>
          </a:solidFill>
          <a:ln/>
        </p:spPr>
      </p:sp>
      <p:pic>
        <p:nvPicPr>
          <p:cNvPr id="13" name="Image 1" descr="Globe icon">    </p:cNvPr>
          <p:cNvPicPr>
            <a:picLocks noChangeAspect="1"/>
          </p:cNvPicPr>
          <p:nvPr/>
        </p:nvPicPr>
        <p:blipFill>
          <a:blip r:embed="rId2"/>
          <a:stretch>
            <a:fillRect/>
          </a:stretch>
        </p:blipFill>
        <p:spPr>
          <a:xfrm>
            <a:off x="4206240" y="2569464"/>
            <a:ext cx="274320" cy="274320"/>
          </a:xfrm>
          <a:prstGeom prst="rect">
            <a:avLst/>
          </a:prstGeom>
        </p:spPr>
      </p:pic>
      <p:sp>
        <p:nvSpPr>
          <p:cNvPr id="14" name="Text 9"/>
          <p:cNvSpPr txBox="1"/>
          <p:nvPr/>
        </p:nvSpPr>
        <p:spPr>
          <a:xfrm>
            <a:off x="4069080" y="3072384"/>
            <a:ext cx="2423160" cy="347472"/>
          </a:xfrm>
          <a:prstGeom prst="rect">
            <a:avLst/>
          </a:prstGeom>
          <a:noFill/>
          <a:ln/>
        </p:spPr>
        <p:txBody>
          <a:bodyPr wrap="square" lIns="0" tIns="0" rIns="0" bIns="0" rtlCol="0" anchor="t"/>
          <a:lstStyle/>
          <a:p>
            <a:pPr indent="0" marL="0">
              <a:buNone/>
            </a:pPr>
            <a:r>
              <a:rPr lang="en-US" sz="1500" b="1" dirty="0">
                <a:solidFill>
                  <a:schemeClr val="tx1"/>
                </a:solidFill>
              </a:rPr>
              <a:t>High-risk jurisdictions</a:t>
            </a:r>
            <a:endParaRPr lang="en-US" sz="1500" dirty="0"/>
          </a:p>
        </p:txBody>
      </p:sp>
      <p:sp>
        <p:nvSpPr>
          <p:cNvPr id="15" name="Text 10"/>
          <p:cNvSpPr txBox="1"/>
          <p:nvPr/>
        </p:nvSpPr>
        <p:spPr>
          <a:xfrm>
            <a:off x="4069080" y="3410712"/>
            <a:ext cx="2423160" cy="365760"/>
          </a:xfrm>
          <a:prstGeom prst="rect">
            <a:avLst/>
          </a:prstGeom>
          <a:noFill/>
          <a:ln/>
        </p:spPr>
        <p:txBody>
          <a:bodyPr wrap="square" lIns="0" tIns="0" rIns="0" bIns="0" rtlCol="0" anchor="t"/>
          <a:lstStyle/>
          <a:p>
            <a:pPr indent="0" marL="0">
              <a:buNone/>
            </a:pPr>
            <a:r>
              <a:rPr lang="en-US" sz="1200" dirty="0">
                <a:solidFill>
                  <a:schemeClr val="tx2"/>
                </a:solidFill>
              </a:rPr>
              <a:t>including those on FATF lists</a:t>
            </a:r>
            <a:endParaRPr lang="en-US" sz="1200" dirty="0"/>
          </a:p>
        </p:txBody>
      </p:sp>
      <p:sp>
        <p:nvSpPr>
          <p:cNvPr id="16" name="Trigger card"/>
          <p:cNvSpPr/>
          <p:nvPr/>
        </p:nvSpPr>
        <p:spPr>
          <a:xfrm>
            <a:off x="685800" y="4050792"/>
            <a:ext cx="2880360" cy="1664208"/>
          </a:xfrm>
          <a:prstGeom prst="roundRect">
            <a:avLst>
              <a:gd name="adj" fmla="val 6593"/>
            </a:avLst>
          </a:prstGeom>
          <a:solidFill>
            <a:schemeClr val="bg1"/>
          </a:solidFill>
          <a:ln/>
          <a:effectLst>
            <a:outerShdw sx="100000" sy="100000" kx="0" ky="0" algn="bl" rotWithShape="0" blurRad="177800" dist="38100" dir="5400000">
              <a:srgbClr val="0B1F2A">
                <a:alpha val="10000"/>
              </a:srgbClr>
            </a:outerShdw>
          </a:effectLst>
        </p:spPr>
      </p:sp>
      <p:sp>
        <p:nvSpPr>
          <p:cNvPr id="17" name="Icon disc"/>
          <p:cNvSpPr/>
          <p:nvPr/>
        </p:nvSpPr>
        <p:spPr>
          <a:xfrm>
            <a:off x="960120" y="4306824"/>
            <a:ext cx="548640" cy="548640"/>
          </a:xfrm>
          <a:prstGeom prst="ellipse">
            <a:avLst/>
          </a:prstGeom>
          <a:solidFill>
            <a:schemeClr val="accent2"/>
          </a:solidFill>
          <a:ln/>
        </p:spPr>
      </p:sp>
      <p:pic>
        <p:nvPicPr>
          <p:cNvPr id="18" name="Image 2" descr="Network icon">    </p:cNvPr>
          <p:cNvPicPr>
            <a:picLocks noChangeAspect="1"/>
          </p:cNvPicPr>
          <p:nvPr/>
        </p:nvPicPr>
        <p:blipFill>
          <a:blip r:embed="rId3"/>
          <a:stretch>
            <a:fillRect/>
          </a:stretch>
        </p:blipFill>
        <p:spPr>
          <a:xfrm>
            <a:off x="1097280" y="4443984"/>
            <a:ext cx="274320" cy="274320"/>
          </a:xfrm>
          <a:prstGeom prst="rect">
            <a:avLst/>
          </a:prstGeom>
        </p:spPr>
      </p:pic>
      <p:sp>
        <p:nvSpPr>
          <p:cNvPr id="19" name="Text 13"/>
          <p:cNvSpPr txBox="1"/>
          <p:nvPr/>
        </p:nvSpPr>
        <p:spPr>
          <a:xfrm>
            <a:off x="960120" y="4946904"/>
            <a:ext cx="2423160" cy="347472"/>
          </a:xfrm>
          <a:prstGeom prst="rect">
            <a:avLst/>
          </a:prstGeom>
          <a:noFill/>
          <a:ln/>
        </p:spPr>
        <p:txBody>
          <a:bodyPr wrap="square" lIns="0" tIns="0" rIns="0" bIns="0" rtlCol="0" anchor="t"/>
          <a:lstStyle/>
          <a:p>
            <a:pPr indent="0" marL="0">
              <a:buNone/>
            </a:pPr>
            <a:r>
              <a:rPr lang="en-US" sz="1500" b="1" dirty="0">
                <a:solidFill>
                  <a:schemeClr val="tx1"/>
                </a:solidFill>
              </a:rPr>
              <a:t>Complex or opaque structures</a:t>
            </a:r>
            <a:endParaRPr lang="en-US" sz="1500" dirty="0"/>
          </a:p>
        </p:txBody>
      </p:sp>
      <p:sp>
        <p:nvSpPr>
          <p:cNvPr id="20" name="Text 14"/>
          <p:cNvSpPr txBox="1"/>
          <p:nvPr/>
        </p:nvSpPr>
        <p:spPr>
          <a:xfrm>
            <a:off x="960120" y="5285232"/>
            <a:ext cx="2423160" cy="365760"/>
          </a:xfrm>
          <a:prstGeom prst="rect">
            <a:avLst/>
          </a:prstGeom>
          <a:noFill/>
          <a:ln/>
        </p:spPr>
        <p:txBody>
          <a:bodyPr wrap="square" lIns="0" tIns="0" rIns="0" bIns="0" rtlCol="0" anchor="t"/>
          <a:lstStyle/>
          <a:p>
            <a:pPr indent="0" marL="0">
              <a:buNone/>
            </a:pPr>
            <a:r>
              <a:rPr lang="en-US" sz="1200" dirty="0">
                <a:solidFill>
                  <a:schemeClr val="tx2"/>
                </a:solidFill>
              </a:rPr>
              <a:t>with no clear commercial or family purpose</a:t>
            </a:r>
            <a:endParaRPr lang="en-US" sz="1200" dirty="0"/>
          </a:p>
        </p:txBody>
      </p:sp>
      <p:sp>
        <p:nvSpPr>
          <p:cNvPr id="21" name="Trigger card"/>
          <p:cNvSpPr/>
          <p:nvPr/>
        </p:nvSpPr>
        <p:spPr>
          <a:xfrm>
            <a:off x="3794760" y="4050792"/>
            <a:ext cx="2880360" cy="1664208"/>
          </a:xfrm>
          <a:prstGeom prst="roundRect">
            <a:avLst>
              <a:gd name="adj" fmla="val 6593"/>
            </a:avLst>
          </a:prstGeom>
          <a:solidFill>
            <a:schemeClr val="bg1"/>
          </a:solidFill>
          <a:ln/>
          <a:effectLst>
            <a:outerShdw sx="100000" sy="100000" kx="0" ky="0" algn="bl" rotWithShape="0" blurRad="177800" dist="38100" dir="5400000">
              <a:srgbClr val="0B1F2A">
                <a:alpha val="10000"/>
              </a:srgbClr>
            </a:outerShdw>
          </a:effectLst>
        </p:spPr>
      </p:sp>
      <p:sp>
        <p:nvSpPr>
          <p:cNvPr id="22" name="Icon disc"/>
          <p:cNvSpPr/>
          <p:nvPr/>
        </p:nvSpPr>
        <p:spPr>
          <a:xfrm>
            <a:off x="4069080" y="4306824"/>
            <a:ext cx="548640" cy="548640"/>
          </a:xfrm>
          <a:prstGeom prst="ellipse">
            <a:avLst/>
          </a:prstGeom>
          <a:solidFill>
            <a:schemeClr val="accent2"/>
          </a:solidFill>
          <a:ln/>
        </p:spPr>
      </p:sp>
      <p:pic>
        <p:nvPicPr>
          <p:cNvPr id="23" name="Image 3" descr="TrendingUp icon">    </p:cNvPr>
          <p:cNvPicPr>
            <a:picLocks noChangeAspect="1"/>
          </p:cNvPicPr>
          <p:nvPr/>
        </p:nvPicPr>
        <p:blipFill>
          <a:blip r:embed="rId4"/>
          <a:stretch>
            <a:fillRect/>
          </a:stretch>
        </p:blipFill>
        <p:spPr>
          <a:xfrm>
            <a:off x="4206240" y="4443984"/>
            <a:ext cx="274320" cy="274320"/>
          </a:xfrm>
          <a:prstGeom prst="rect">
            <a:avLst/>
          </a:prstGeom>
        </p:spPr>
      </p:pic>
      <p:sp>
        <p:nvSpPr>
          <p:cNvPr id="24" name="Text 17"/>
          <p:cNvSpPr txBox="1"/>
          <p:nvPr/>
        </p:nvSpPr>
        <p:spPr>
          <a:xfrm>
            <a:off x="4069080" y="4946904"/>
            <a:ext cx="2423160" cy="347472"/>
          </a:xfrm>
          <a:prstGeom prst="rect">
            <a:avLst/>
          </a:prstGeom>
          <a:noFill/>
          <a:ln/>
        </p:spPr>
        <p:txBody>
          <a:bodyPr wrap="square" lIns="0" tIns="0" rIns="0" bIns="0" rtlCol="0" anchor="t"/>
          <a:lstStyle/>
          <a:p>
            <a:pPr indent="0" marL="0">
              <a:buNone/>
            </a:pPr>
            <a:r>
              <a:rPr lang="en-US" sz="1500" b="1" dirty="0">
                <a:solidFill>
                  <a:schemeClr val="tx1"/>
                </a:solidFill>
              </a:rPr>
              <a:t>Unusual size or pattern</a:t>
            </a:r>
            <a:endParaRPr lang="en-US" sz="1500" dirty="0"/>
          </a:p>
        </p:txBody>
      </p:sp>
      <p:sp>
        <p:nvSpPr>
          <p:cNvPr id="25" name="Text 18"/>
          <p:cNvSpPr txBox="1"/>
          <p:nvPr/>
        </p:nvSpPr>
        <p:spPr>
          <a:xfrm>
            <a:off x="4069080" y="5285232"/>
            <a:ext cx="2423160" cy="365760"/>
          </a:xfrm>
          <a:prstGeom prst="rect">
            <a:avLst/>
          </a:prstGeom>
          <a:noFill/>
          <a:ln/>
        </p:spPr>
        <p:txBody>
          <a:bodyPr wrap="square" lIns="0" tIns="0" rIns="0" bIns="0" rtlCol="0" anchor="t"/>
          <a:lstStyle/>
          <a:p>
            <a:pPr indent="0" marL="0">
              <a:buNone/>
            </a:pPr>
            <a:r>
              <a:rPr lang="en-US" sz="1200" dirty="0">
                <a:solidFill>
                  <a:schemeClr val="tx2"/>
                </a:solidFill>
              </a:rPr>
              <a:t>out of line with the client's profile</a:t>
            </a:r>
            <a:endParaRPr lang="en-US" sz="1200" dirty="0"/>
          </a:p>
        </p:txBody>
      </p:sp>
      <p:sp>
        <p:nvSpPr>
          <p:cNvPr id="26" name="EDD measures panel"/>
          <p:cNvSpPr/>
          <p:nvPr/>
        </p:nvSpPr>
        <p:spPr>
          <a:xfrm>
            <a:off x="7086600" y="1810512"/>
            <a:ext cx="4416552" cy="4087368"/>
          </a:xfrm>
          <a:prstGeom prst="roundRect">
            <a:avLst>
              <a:gd name="adj" fmla="val 2685"/>
            </a:avLst>
          </a:prstGeom>
          <a:solidFill>
            <a:schemeClr val="tx2"/>
          </a:solidFill>
          <a:ln/>
          <a:effectLst>
            <a:outerShdw sx="100000" sy="100000" kx="0" ky="0" algn="bl" rotWithShape="0" blurRad="177800" dist="38100" dir="5400000">
              <a:srgbClr val="0B1F2A">
                <a:alpha val="10000"/>
              </a:srgbClr>
            </a:outerShdw>
          </a:effectLst>
        </p:spPr>
      </p:sp>
      <p:sp>
        <p:nvSpPr>
          <p:cNvPr id="27" name="Text 20"/>
          <p:cNvSpPr txBox="1"/>
          <p:nvPr/>
        </p:nvSpPr>
        <p:spPr>
          <a:xfrm>
            <a:off x="7452360" y="2103120"/>
            <a:ext cx="2743200" cy="274320"/>
          </a:xfrm>
          <a:prstGeom prst="rect">
            <a:avLst/>
          </a:prstGeom>
          <a:noFill/>
          <a:ln/>
        </p:spPr>
        <p:txBody>
          <a:bodyPr wrap="square" lIns="0" tIns="0" rIns="0" bIns="0" rtlCol="0" anchor="t"/>
          <a:lstStyle/>
          <a:p>
            <a:pPr indent="0" marL="0">
              <a:buNone/>
            </a:pPr>
            <a:r>
              <a:rPr lang="en-US" sz="1000" b="1" spc="300" kern="0" dirty="0">
                <a:solidFill>
                  <a:schemeClr val="accent5"/>
                </a:solidFill>
              </a:rPr>
              <a:t>EDD MEASURES</a:t>
            </a:r>
            <a:endParaRPr lang="en-US" sz="1000" dirty="0"/>
          </a:p>
        </p:txBody>
      </p:sp>
      <p:pic>
        <p:nvPicPr>
          <p:cNvPr id="28" name="Image 4" descr="check">    </p:cNvPr>
          <p:cNvPicPr>
            <a:picLocks noChangeAspect="1"/>
          </p:cNvPicPr>
          <p:nvPr/>
        </p:nvPicPr>
        <p:blipFill>
          <a:blip r:embed="rId5"/>
          <a:stretch>
            <a:fillRect/>
          </a:stretch>
        </p:blipFill>
        <p:spPr>
          <a:xfrm>
            <a:off x="7452360" y="2542032"/>
            <a:ext cx="292608" cy="292608"/>
          </a:xfrm>
          <a:prstGeom prst="rect">
            <a:avLst/>
          </a:prstGeom>
        </p:spPr>
      </p:pic>
      <p:sp>
        <p:nvSpPr>
          <p:cNvPr id="29" name="Text 21"/>
          <p:cNvSpPr txBox="1"/>
          <p:nvPr/>
        </p:nvSpPr>
        <p:spPr>
          <a:xfrm>
            <a:off x="7882128" y="2514600"/>
            <a:ext cx="3383280" cy="548640"/>
          </a:xfrm>
          <a:prstGeom prst="rect">
            <a:avLst/>
          </a:prstGeom>
          <a:noFill/>
          <a:ln/>
        </p:spPr>
        <p:txBody>
          <a:bodyPr wrap="square" lIns="0" tIns="0" rIns="0" bIns="0" rtlCol="0" anchor="t"/>
          <a:lstStyle/>
          <a:p>
            <a:pPr indent="0" marL="0">
              <a:buNone/>
            </a:pPr>
            <a:r>
              <a:rPr lang="en-US" sz="1400" dirty="0">
                <a:solidFill>
                  <a:schemeClr val="bg1"/>
                </a:solidFill>
              </a:rPr>
              <a:t>Partner or senior management approval before acting</a:t>
            </a:r>
            <a:endParaRPr lang="en-US" sz="1400" dirty="0"/>
          </a:p>
        </p:txBody>
      </p:sp>
      <p:pic>
        <p:nvPicPr>
          <p:cNvPr id="30" name="Image 5" descr="check">    </p:cNvPr>
          <p:cNvPicPr>
            <a:picLocks noChangeAspect="1"/>
          </p:cNvPicPr>
          <p:nvPr/>
        </p:nvPicPr>
        <p:blipFill>
          <a:blip r:embed="rId6"/>
          <a:stretch>
            <a:fillRect/>
          </a:stretch>
        </p:blipFill>
        <p:spPr>
          <a:xfrm>
            <a:off x="7452360" y="3182112"/>
            <a:ext cx="292608" cy="292608"/>
          </a:xfrm>
          <a:prstGeom prst="rect">
            <a:avLst/>
          </a:prstGeom>
        </p:spPr>
      </p:pic>
      <p:sp>
        <p:nvSpPr>
          <p:cNvPr id="31" name="Text 22"/>
          <p:cNvSpPr txBox="1"/>
          <p:nvPr/>
        </p:nvSpPr>
        <p:spPr>
          <a:xfrm>
            <a:off x="7882128" y="3154680"/>
            <a:ext cx="3383280" cy="548640"/>
          </a:xfrm>
          <a:prstGeom prst="rect">
            <a:avLst/>
          </a:prstGeom>
          <a:noFill/>
          <a:ln/>
        </p:spPr>
        <p:txBody>
          <a:bodyPr wrap="square" lIns="0" tIns="0" rIns="0" bIns="0" rtlCol="0" anchor="t"/>
          <a:lstStyle/>
          <a:p>
            <a:pPr indent="0" marL="0">
              <a:buNone/>
            </a:pPr>
            <a:r>
              <a:rPr lang="en-US" sz="1400" dirty="0">
                <a:solidFill>
                  <a:schemeClr val="bg1"/>
                </a:solidFill>
              </a:rPr>
              <a:t>Source of wealth and source of funds established and evidenced</a:t>
            </a:r>
            <a:endParaRPr lang="en-US" sz="1400" dirty="0"/>
          </a:p>
        </p:txBody>
      </p:sp>
      <p:pic>
        <p:nvPicPr>
          <p:cNvPr id="32" name="Image 6" descr="check">    </p:cNvPr>
          <p:cNvPicPr>
            <a:picLocks noChangeAspect="1"/>
          </p:cNvPicPr>
          <p:nvPr/>
        </p:nvPicPr>
        <p:blipFill>
          <a:blip r:embed="rId7"/>
          <a:stretch>
            <a:fillRect/>
          </a:stretch>
        </p:blipFill>
        <p:spPr>
          <a:xfrm>
            <a:off x="7452360" y="3822192"/>
            <a:ext cx="292608" cy="292608"/>
          </a:xfrm>
          <a:prstGeom prst="rect">
            <a:avLst/>
          </a:prstGeom>
        </p:spPr>
      </p:pic>
      <p:sp>
        <p:nvSpPr>
          <p:cNvPr id="33" name="Text 23"/>
          <p:cNvSpPr txBox="1"/>
          <p:nvPr/>
        </p:nvSpPr>
        <p:spPr>
          <a:xfrm>
            <a:off x="7882128" y="3794760"/>
            <a:ext cx="3383280" cy="548640"/>
          </a:xfrm>
          <a:prstGeom prst="rect">
            <a:avLst/>
          </a:prstGeom>
          <a:noFill/>
          <a:ln/>
        </p:spPr>
        <p:txBody>
          <a:bodyPr wrap="square" lIns="0" tIns="0" rIns="0" bIns="0" rtlCol="0" anchor="t"/>
          <a:lstStyle/>
          <a:p>
            <a:pPr indent="0" marL="0">
              <a:buNone/>
            </a:pPr>
            <a:r>
              <a:rPr lang="en-US" sz="1400" dirty="0">
                <a:solidFill>
                  <a:schemeClr val="bg1"/>
                </a:solidFill>
              </a:rPr>
              <a:t>Adverse media and sanctions checks, documented</a:t>
            </a:r>
            <a:endParaRPr lang="en-US" sz="1400" dirty="0"/>
          </a:p>
        </p:txBody>
      </p:sp>
      <p:pic>
        <p:nvPicPr>
          <p:cNvPr id="34" name="Image 7" descr="check">    </p:cNvPr>
          <p:cNvPicPr>
            <a:picLocks noChangeAspect="1"/>
          </p:cNvPicPr>
          <p:nvPr/>
        </p:nvPicPr>
        <p:blipFill>
          <a:blip r:embed="rId8"/>
          <a:stretch>
            <a:fillRect/>
          </a:stretch>
        </p:blipFill>
        <p:spPr>
          <a:xfrm>
            <a:off x="7452360" y="4462272"/>
            <a:ext cx="292608" cy="292608"/>
          </a:xfrm>
          <a:prstGeom prst="rect">
            <a:avLst/>
          </a:prstGeom>
        </p:spPr>
      </p:pic>
      <p:sp>
        <p:nvSpPr>
          <p:cNvPr id="35" name="Text 24"/>
          <p:cNvSpPr txBox="1"/>
          <p:nvPr/>
        </p:nvSpPr>
        <p:spPr>
          <a:xfrm>
            <a:off x="7882128" y="4434840"/>
            <a:ext cx="3383280" cy="548640"/>
          </a:xfrm>
          <a:prstGeom prst="rect">
            <a:avLst/>
          </a:prstGeom>
          <a:noFill/>
          <a:ln/>
        </p:spPr>
        <p:txBody>
          <a:bodyPr wrap="square" lIns="0" tIns="0" rIns="0" bIns="0" rtlCol="0" anchor="t"/>
          <a:lstStyle/>
          <a:p>
            <a:pPr indent="0" marL="0">
              <a:buNone/>
            </a:pPr>
            <a:r>
              <a:rPr lang="en-US" sz="1400" dirty="0">
                <a:solidFill>
                  <a:schemeClr val="bg1"/>
                </a:solidFill>
              </a:rPr>
              <a:t>Closer monitoring and more frequent reviews</a:t>
            </a:r>
            <a:endParaRPr lang="en-US" sz="1400" dirty="0"/>
          </a:p>
        </p:txBody>
      </p:sp>
      <p:pic>
        <p:nvPicPr>
          <p:cNvPr id="36" name="Image 8" descr="check">    </p:cNvPr>
          <p:cNvPicPr>
            <a:picLocks noChangeAspect="1"/>
          </p:cNvPicPr>
          <p:nvPr/>
        </p:nvPicPr>
        <p:blipFill>
          <a:blip r:embed="rId9"/>
          <a:stretch>
            <a:fillRect/>
          </a:stretch>
        </p:blipFill>
        <p:spPr>
          <a:xfrm>
            <a:off x="7452360" y="5102352"/>
            <a:ext cx="292608" cy="292608"/>
          </a:xfrm>
          <a:prstGeom prst="rect">
            <a:avLst/>
          </a:prstGeom>
        </p:spPr>
      </p:pic>
      <p:sp>
        <p:nvSpPr>
          <p:cNvPr id="37" name="Text 25"/>
          <p:cNvSpPr txBox="1"/>
          <p:nvPr/>
        </p:nvSpPr>
        <p:spPr>
          <a:xfrm>
            <a:off x="7882128" y="5074920"/>
            <a:ext cx="3383280" cy="548640"/>
          </a:xfrm>
          <a:prstGeom prst="rect">
            <a:avLst/>
          </a:prstGeom>
          <a:noFill/>
          <a:ln/>
        </p:spPr>
        <p:txBody>
          <a:bodyPr wrap="square" lIns="0" tIns="0" rIns="0" bIns="0" rtlCol="0" anchor="t"/>
          <a:lstStyle/>
          <a:p>
            <a:pPr indent="0" marL="0">
              <a:buNone/>
            </a:pPr>
            <a:r>
              <a:rPr lang="en-US" sz="1400" dirty="0">
                <a:solidFill>
                  <a:schemeClr val="bg1"/>
                </a:solidFill>
              </a:rPr>
              <a:t>A clear written rationale on file</a:t>
            </a:r>
            <a:endParaRPr lang="en-US" sz="1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body" hasCustomPrompt="1"/>
          </p:nvPr>
        </p:nvSpPr>
        <p:spPr>
          <a:xfrm>
            <a:off x="685800" y="1097280"/>
            <a:ext cx="3657600" cy="1645920"/>
          </a:xfrm>
          <a:prstGeom prst="rect">
            <a:avLst/>
          </a:prstGeom>
          <a:noFill/>
          <a:ln/>
        </p:spPr>
        <p:txBody>
          <a:bodyPr wrap="square" lIns="0" tIns="0" rIns="0" bIns="0" rtlCol="0" anchor="b"/>
          <a:lstStyle/>
          <a:p>
            <a:pPr algn="l" indent="0" marL="0">
              <a:buNone/>
            </a:pPr>
            <a:r>
              <a:rPr lang="en-US" sz="11000" dirty="0">
                <a:solidFill>
                  <a:schemeClr val="accent1"/>
                </a:solidFill>
                <a:latin typeface="Cambria" pitchFamily="34" charset="0"/>
                <a:ea typeface="Cambria" pitchFamily="34" charset="-122"/>
                <a:cs typeface="Cambria" pitchFamily="34" charset="-120"/>
              </a:rPr>
              <a:t>05</a:t>
            </a:r>
            <a:endParaRPr lang="en-US" sz="11000" dirty="0"/>
          </a:p>
        </p:txBody>
      </p:sp>
      <p:sp>
        <p:nvSpPr>
          <p:cNvPr id="3" name="Text 2"/>
          <p:cNvSpPr/>
          <p:nvPr>
            <p:ph idx="103" type="title" hasCustomPrompt="1"/>
          </p:nvPr>
        </p:nvSpPr>
        <p:spPr>
          <a:xfrm>
            <a:off x="685800" y="2880360"/>
            <a:ext cx="8229600" cy="1188720"/>
          </a:xfrm>
          <a:prstGeom prst="rect">
            <a:avLst/>
          </a:prstGeom>
          <a:noFill/>
          <a:ln/>
        </p:spPr>
        <p:txBody>
          <a:bodyPr wrap="square" lIns="0" tIns="0" rIns="0" bIns="0" rtlCol="0" anchor="t"/>
          <a:lstStyle/>
          <a:p>
            <a:pPr algn="l" indent="0" marL="0">
              <a:buNone/>
            </a:pPr>
            <a:r>
              <a:rPr lang="en-US" sz="4400" dirty="0">
                <a:solidFill>
                  <a:schemeClr val="bg1"/>
                </a:solidFill>
                <a:latin typeface="Cambria" pitchFamily="34" charset="0"/>
                <a:ea typeface="Cambria" pitchFamily="34" charset="-122"/>
                <a:cs typeface="Cambria" pitchFamily="34" charset="-120"/>
              </a:rPr>
              <a:t>Red flags</a:t>
            </a:r>
            <a:endParaRPr lang="en-US" sz="4400" dirty="0"/>
          </a:p>
        </p:txBody>
      </p:sp>
      <p:sp>
        <p:nvSpPr>
          <p:cNvPr id="4" name="Text 2"/>
          <p:cNvSpPr/>
          <p:nvPr>
            <p:ph idx="104" type="body" hasCustomPrompt="1"/>
          </p:nvPr>
        </p:nvSpPr>
        <p:spPr>
          <a:xfrm>
            <a:off x="685800" y="4160520"/>
            <a:ext cx="6583680" cy="1097280"/>
          </a:xfrm>
          <a:prstGeom prst="rect">
            <a:avLst/>
          </a:prstGeom>
          <a:noFill/>
          <a:ln/>
        </p:spPr>
        <p:txBody>
          <a:bodyPr wrap="square" lIns="0" tIns="0" rIns="0" bIns="0" rtlCol="0" anchor="t"/>
          <a:lstStyle/>
          <a:p>
            <a:pPr algn="l" indent="0" marL="0">
              <a:buNone/>
            </a:pPr>
            <a:r>
              <a:rPr lang="en-US" sz="1800" dirty="0">
                <a:solidFill>
                  <a:schemeClr val="accent6"/>
                </a:solidFill>
              </a:rPr>
              <a:t>Warning signs in our three practice areas. A red flag isn't proof, but it is a reason to stop and ask.</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05 · RED FLAGS</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Real estate</a:t>
            </a:r>
            <a:endParaRPr lang="en-US" sz="3400" dirty="0"/>
          </a:p>
        </p:txBody>
      </p:sp>
      <p:sp>
        <p:nvSpPr>
          <p:cNvPr id="5" name="Practice panel"/>
          <p:cNvSpPr/>
          <p:nvPr/>
        </p:nvSpPr>
        <p:spPr>
          <a:xfrm>
            <a:off x="685800" y="1828800"/>
            <a:ext cx="3246120" cy="4069080"/>
          </a:xfrm>
          <a:prstGeom prst="roundRect">
            <a:avLst>
              <a:gd name="adj" fmla="val 3380"/>
            </a:avLst>
          </a:prstGeom>
          <a:solidFill>
            <a:schemeClr val="tx1"/>
          </a:solidFill>
          <a:ln/>
          <a:effectLst>
            <a:outerShdw sx="100000" sy="100000" kx="0" ky="0" algn="bl" rotWithShape="0" blurRad="177800" dist="38100" dir="5400000">
              <a:srgbClr val="0B1F2A">
                <a:alpha val="10000"/>
              </a:srgbClr>
            </a:outerShdw>
          </a:effectLst>
        </p:spPr>
      </p:sp>
      <p:sp>
        <p:nvSpPr>
          <p:cNvPr id="6" name="Icon disc"/>
          <p:cNvSpPr/>
          <p:nvPr/>
        </p:nvSpPr>
        <p:spPr>
          <a:xfrm>
            <a:off x="1051560" y="2194560"/>
            <a:ext cx="822960" cy="822960"/>
          </a:xfrm>
          <a:prstGeom prst="ellipse">
            <a:avLst/>
          </a:prstGeom>
          <a:solidFill>
            <a:schemeClr val="accent2"/>
          </a:solidFill>
          <a:ln/>
        </p:spPr>
      </p:sp>
      <p:pic>
        <p:nvPicPr>
          <p:cNvPr id="7" name="Image 0" descr="House icon">    </p:cNvPr>
          <p:cNvPicPr>
            <a:picLocks noChangeAspect="1"/>
          </p:cNvPicPr>
          <p:nvPr/>
        </p:nvPicPr>
        <p:blipFill>
          <a:blip r:embed="rId1"/>
          <a:stretch>
            <a:fillRect/>
          </a:stretch>
        </p:blipFill>
        <p:spPr>
          <a:xfrm>
            <a:off x="1257300" y="2400300"/>
            <a:ext cx="411480" cy="411480"/>
          </a:xfrm>
          <a:prstGeom prst="rect">
            <a:avLst/>
          </a:prstGeom>
        </p:spPr>
      </p:pic>
      <p:sp>
        <p:nvSpPr>
          <p:cNvPr id="8" name="Text 4"/>
          <p:cNvSpPr txBox="1"/>
          <p:nvPr/>
        </p:nvSpPr>
        <p:spPr>
          <a:xfrm>
            <a:off x="1051560" y="3246120"/>
            <a:ext cx="2560320" cy="2377440"/>
          </a:xfrm>
          <a:prstGeom prst="rect">
            <a:avLst/>
          </a:prstGeom>
          <a:noFill/>
          <a:ln/>
        </p:spPr>
        <p:txBody>
          <a:bodyPr wrap="square" lIns="0" tIns="0" rIns="0" bIns="0" rtlCol="0" anchor="t"/>
          <a:lstStyle/>
          <a:p>
            <a:pPr indent="0" marL="0">
              <a:lnSpc>
                <a:spcPct val="112000"/>
              </a:lnSpc>
              <a:buNone/>
            </a:pPr>
            <a:r>
              <a:rPr lang="en-US" sz="1500" dirty="0">
                <a:solidFill>
                  <a:schemeClr val="accent6"/>
                </a:solidFill>
              </a:rPr>
              <a:t>High-value Providenciales property, foreign buyers and large single payments make real estate a priority risk for the Islands.</a:t>
            </a:r>
            <a:endParaRPr lang="en-US" sz="1500" dirty="0"/>
          </a:p>
        </p:txBody>
      </p:sp>
      <p:sp>
        <p:nvSpPr>
          <p:cNvPr id="9" name="Flag card"/>
          <p:cNvSpPr/>
          <p:nvPr/>
        </p:nvSpPr>
        <p:spPr>
          <a:xfrm>
            <a:off x="4224528" y="1828800"/>
            <a:ext cx="3547872" cy="1243584"/>
          </a:xfrm>
          <a:prstGeom prst="roundRect">
            <a:avLst>
              <a:gd name="adj" fmla="val 8824"/>
            </a:avLst>
          </a:prstGeom>
          <a:solidFill>
            <a:schemeClr val="bg2"/>
          </a:solidFill>
          <a:ln/>
        </p:spPr>
      </p:sp>
      <p:pic>
        <p:nvPicPr>
          <p:cNvPr id="10" name="Image 1" descr="flag">    </p:cNvPr>
          <p:cNvPicPr>
            <a:picLocks noChangeAspect="1"/>
          </p:cNvPicPr>
          <p:nvPr/>
        </p:nvPicPr>
        <p:blipFill>
          <a:blip r:embed="rId2"/>
          <a:stretch>
            <a:fillRect/>
          </a:stretch>
        </p:blipFill>
        <p:spPr>
          <a:xfrm>
            <a:off x="4453128" y="2048256"/>
            <a:ext cx="274320" cy="274320"/>
          </a:xfrm>
          <a:prstGeom prst="rect">
            <a:avLst/>
          </a:prstGeom>
        </p:spPr>
      </p:pic>
      <p:sp>
        <p:nvSpPr>
          <p:cNvPr id="11" name="Text 6"/>
          <p:cNvSpPr txBox="1"/>
          <p:nvPr/>
        </p:nvSpPr>
        <p:spPr>
          <a:xfrm>
            <a:off x="4846320" y="2011680"/>
            <a:ext cx="2743200" cy="347472"/>
          </a:xfrm>
          <a:prstGeom prst="rect">
            <a:avLst/>
          </a:prstGeom>
          <a:noFill/>
          <a:ln/>
        </p:spPr>
        <p:txBody>
          <a:bodyPr wrap="square" lIns="0" tIns="0" rIns="0" bIns="0" rtlCol="0" anchor="t"/>
          <a:lstStyle/>
          <a:p>
            <a:pPr indent="0" marL="0">
              <a:buNone/>
            </a:pPr>
            <a:r>
              <a:rPr lang="en-US" sz="1450" b="1" dirty="0">
                <a:solidFill>
                  <a:schemeClr val="tx1"/>
                </a:solidFill>
              </a:rPr>
              <a:t>Unexplained urgency</a:t>
            </a:r>
            <a:endParaRPr lang="en-US" sz="1450" dirty="0"/>
          </a:p>
        </p:txBody>
      </p:sp>
      <p:sp>
        <p:nvSpPr>
          <p:cNvPr id="12" name="Text 7"/>
          <p:cNvSpPr txBox="1"/>
          <p:nvPr/>
        </p:nvSpPr>
        <p:spPr>
          <a:xfrm>
            <a:off x="4846320" y="2377440"/>
            <a:ext cx="2743200" cy="640080"/>
          </a:xfrm>
          <a:prstGeom prst="rect">
            <a:avLst/>
          </a:prstGeom>
          <a:noFill/>
          <a:ln/>
        </p:spPr>
        <p:txBody>
          <a:bodyPr wrap="square" lIns="0" tIns="0" rIns="0" bIns="0" rtlCol="0" anchor="t"/>
          <a:lstStyle/>
          <a:p>
            <a:pPr indent="0" marL="0">
              <a:buNone/>
            </a:pPr>
            <a:r>
              <a:rPr lang="en-US" sz="1200" dirty="0">
                <a:solidFill>
                  <a:schemeClr val="tx2"/>
                </a:solidFill>
              </a:rPr>
              <a:t>Pressure to complete fast, with little interest in price, survey or terms.</a:t>
            </a:r>
            <a:endParaRPr lang="en-US" sz="1200" dirty="0"/>
          </a:p>
        </p:txBody>
      </p:sp>
      <p:sp>
        <p:nvSpPr>
          <p:cNvPr id="13" name="Flag card"/>
          <p:cNvSpPr/>
          <p:nvPr/>
        </p:nvSpPr>
        <p:spPr>
          <a:xfrm>
            <a:off x="7927848" y="1828800"/>
            <a:ext cx="3547872" cy="1243584"/>
          </a:xfrm>
          <a:prstGeom prst="roundRect">
            <a:avLst>
              <a:gd name="adj" fmla="val 8824"/>
            </a:avLst>
          </a:prstGeom>
          <a:solidFill>
            <a:schemeClr val="bg2"/>
          </a:solidFill>
          <a:ln/>
        </p:spPr>
      </p:sp>
      <p:pic>
        <p:nvPicPr>
          <p:cNvPr id="14" name="Image 2" descr="flag">    </p:cNvPr>
          <p:cNvPicPr>
            <a:picLocks noChangeAspect="1"/>
          </p:cNvPicPr>
          <p:nvPr/>
        </p:nvPicPr>
        <p:blipFill>
          <a:blip r:embed="rId3"/>
          <a:stretch>
            <a:fillRect/>
          </a:stretch>
        </p:blipFill>
        <p:spPr>
          <a:xfrm>
            <a:off x="8156448" y="2048256"/>
            <a:ext cx="274320" cy="274320"/>
          </a:xfrm>
          <a:prstGeom prst="rect">
            <a:avLst/>
          </a:prstGeom>
        </p:spPr>
      </p:pic>
      <p:sp>
        <p:nvSpPr>
          <p:cNvPr id="15" name="Text 9"/>
          <p:cNvSpPr txBox="1"/>
          <p:nvPr/>
        </p:nvSpPr>
        <p:spPr>
          <a:xfrm>
            <a:off x="8549640" y="2011680"/>
            <a:ext cx="2743200" cy="347472"/>
          </a:xfrm>
          <a:prstGeom prst="rect">
            <a:avLst/>
          </a:prstGeom>
          <a:noFill/>
          <a:ln/>
        </p:spPr>
        <p:txBody>
          <a:bodyPr wrap="square" lIns="0" tIns="0" rIns="0" bIns="0" rtlCol="0" anchor="t"/>
          <a:lstStyle/>
          <a:p>
            <a:pPr indent="0" marL="0">
              <a:buNone/>
            </a:pPr>
            <a:r>
              <a:rPr lang="en-US" sz="1450" b="1" dirty="0">
                <a:solidFill>
                  <a:schemeClr val="tx1"/>
                </a:solidFill>
              </a:rPr>
              <a:t>Third-party funding</a:t>
            </a:r>
            <a:endParaRPr lang="en-US" sz="1450" dirty="0"/>
          </a:p>
        </p:txBody>
      </p:sp>
      <p:sp>
        <p:nvSpPr>
          <p:cNvPr id="16" name="Text 10"/>
          <p:cNvSpPr txBox="1"/>
          <p:nvPr/>
        </p:nvSpPr>
        <p:spPr>
          <a:xfrm>
            <a:off x="8549640" y="2377440"/>
            <a:ext cx="2743200" cy="640080"/>
          </a:xfrm>
          <a:prstGeom prst="rect">
            <a:avLst/>
          </a:prstGeom>
          <a:noFill/>
          <a:ln/>
        </p:spPr>
        <p:txBody>
          <a:bodyPr wrap="square" lIns="0" tIns="0" rIns="0" bIns="0" rtlCol="0" anchor="t"/>
          <a:lstStyle/>
          <a:p>
            <a:pPr indent="0" marL="0">
              <a:buNone/>
            </a:pPr>
            <a:r>
              <a:rPr lang="en-US" sz="1200" dirty="0">
                <a:solidFill>
                  <a:schemeClr val="tx2"/>
                </a:solidFill>
              </a:rPr>
              <a:t>Money comes from someone who isn't the buyer, with no clear connection.</a:t>
            </a:r>
            <a:endParaRPr lang="en-US" sz="1200" dirty="0"/>
          </a:p>
        </p:txBody>
      </p:sp>
      <p:sp>
        <p:nvSpPr>
          <p:cNvPr id="17" name="Flag card"/>
          <p:cNvSpPr/>
          <p:nvPr/>
        </p:nvSpPr>
        <p:spPr>
          <a:xfrm>
            <a:off x="4224528" y="3227832"/>
            <a:ext cx="3547872" cy="1243584"/>
          </a:xfrm>
          <a:prstGeom prst="roundRect">
            <a:avLst>
              <a:gd name="adj" fmla="val 8824"/>
            </a:avLst>
          </a:prstGeom>
          <a:solidFill>
            <a:schemeClr val="bg2"/>
          </a:solidFill>
          <a:ln/>
        </p:spPr>
      </p:sp>
      <p:pic>
        <p:nvPicPr>
          <p:cNvPr id="18" name="Image 3" descr="flag">    </p:cNvPr>
          <p:cNvPicPr>
            <a:picLocks noChangeAspect="1"/>
          </p:cNvPicPr>
          <p:nvPr/>
        </p:nvPicPr>
        <p:blipFill>
          <a:blip r:embed="rId4"/>
          <a:stretch>
            <a:fillRect/>
          </a:stretch>
        </p:blipFill>
        <p:spPr>
          <a:xfrm>
            <a:off x="4453128" y="3447288"/>
            <a:ext cx="274320" cy="274320"/>
          </a:xfrm>
          <a:prstGeom prst="rect">
            <a:avLst/>
          </a:prstGeom>
        </p:spPr>
      </p:pic>
      <p:sp>
        <p:nvSpPr>
          <p:cNvPr id="19" name="Text 12"/>
          <p:cNvSpPr txBox="1"/>
          <p:nvPr/>
        </p:nvSpPr>
        <p:spPr>
          <a:xfrm>
            <a:off x="4846320" y="3410712"/>
            <a:ext cx="2743200" cy="347472"/>
          </a:xfrm>
          <a:prstGeom prst="rect">
            <a:avLst/>
          </a:prstGeom>
          <a:noFill/>
          <a:ln/>
        </p:spPr>
        <p:txBody>
          <a:bodyPr wrap="square" lIns="0" tIns="0" rIns="0" bIns="0" rtlCol="0" anchor="t"/>
          <a:lstStyle/>
          <a:p>
            <a:pPr indent="0" marL="0">
              <a:buNone/>
            </a:pPr>
            <a:r>
              <a:rPr lang="en-US" sz="1450" b="1" dirty="0">
                <a:solidFill>
                  <a:schemeClr val="tx1"/>
                </a:solidFill>
              </a:rPr>
              <a:t>Cash or crypto</a:t>
            </a:r>
            <a:endParaRPr lang="en-US" sz="1450" dirty="0"/>
          </a:p>
        </p:txBody>
      </p:sp>
      <p:sp>
        <p:nvSpPr>
          <p:cNvPr id="20" name="Text 13"/>
          <p:cNvSpPr txBox="1"/>
          <p:nvPr/>
        </p:nvSpPr>
        <p:spPr>
          <a:xfrm>
            <a:off x="4846320" y="3776472"/>
            <a:ext cx="2743200" cy="640080"/>
          </a:xfrm>
          <a:prstGeom prst="rect">
            <a:avLst/>
          </a:prstGeom>
          <a:noFill/>
          <a:ln/>
        </p:spPr>
        <p:txBody>
          <a:bodyPr wrap="square" lIns="0" tIns="0" rIns="0" bIns="0" rtlCol="0" anchor="t"/>
          <a:lstStyle/>
          <a:p>
            <a:pPr indent="0" marL="0">
              <a:buNone/>
            </a:pPr>
            <a:r>
              <a:rPr lang="en-US" sz="1200" dirty="0">
                <a:solidFill>
                  <a:schemeClr val="tx2"/>
                </a:solidFill>
              </a:rPr>
              <a:t>Large deposits in cash, or funds traced to virtual assets with no clear origin.</a:t>
            </a:r>
            <a:endParaRPr lang="en-US" sz="1200" dirty="0"/>
          </a:p>
        </p:txBody>
      </p:sp>
      <p:sp>
        <p:nvSpPr>
          <p:cNvPr id="21" name="Flag card"/>
          <p:cNvSpPr/>
          <p:nvPr/>
        </p:nvSpPr>
        <p:spPr>
          <a:xfrm>
            <a:off x="7927848" y="3227832"/>
            <a:ext cx="3547872" cy="1243584"/>
          </a:xfrm>
          <a:prstGeom prst="roundRect">
            <a:avLst>
              <a:gd name="adj" fmla="val 8824"/>
            </a:avLst>
          </a:prstGeom>
          <a:solidFill>
            <a:schemeClr val="bg2"/>
          </a:solidFill>
          <a:ln/>
        </p:spPr>
      </p:sp>
      <p:pic>
        <p:nvPicPr>
          <p:cNvPr id="22" name="Image 4" descr="flag">    </p:cNvPr>
          <p:cNvPicPr>
            <a:picLocks noChangeAspect="1"/>
          </p:cNvPicPr>
          <p:nvPr/>
        </p:nvPicPr>
        <p:blipFill>
          <a:blip r:embed="rId5"/>
          <a:stretch>
            <a:fillRect/>
          </a:stretch>
        </p:blipFill>
        <p:spPr>
          <a:xfrm>
            <a:off x="8156448" y="3447288"/>
            <a:ext cx="274320" cy="274320"/>
          </a:xfrm>
          <a:prstGeom prst="rect">
            <a:avLst/>
          </a:prstGeom>
        </p:spPr>
      </p:pic>
      <p:sp>
        <p:nvSpPr>
          <p:cNvPr id="23" name="Text 15"/>
          <p:cNvSpPr txBox="1"/>
          <p:nvPr/>
        </p:nvSpPr>
        <p:spPr>
          <a:xfrm>
            <a:off x="8549640" y="3410712"/>
            <a:ext cx="2743200" cy="347472"/>
          </a:xfrm>
          <a:prstGeom prst="rect">
            <a:avLst/>
          </a:prstGeom>
          <a:noFill/>
          <a:ln/>
        </p:spPr>
        <p:txBody>
          <a:bodyPr wrap="square" lIns="0" tIns="0" rIns="0" bIns="0" rtlCol="0" anchor="t"/>
          <a:lstStyle/>
          <a:p>
            <a:pPr indent="0" marL="0">
              <a:buNone/>
            </a:pPr>
            <a:r>
              <a:rPr lang="en-US" sz="1450" b="1" dirty="0">
                <a:solidFill>
                  <a:schemeClr val="tx1"/>
                </a:solidFill>
              </a:rPr>
              <a:t>Price anomalies</a:t>
            </a:r>
            <a:endParaRPr lang="en-US" sz="1450" dirty="0"/>
          </a:p>
        </p:txBody>
      </p:sp>
      <p:sp>
        <p:nvSpPr>
          <p:cNvPr id="24" name="Text 16"/>
          <p:cNvSpPr txBox="1"/>
          <p:nvPr/>
        </p:nvSpPr>
        <p:spPr>
          <a:xfrm>
            <a:off x="8549640" y="3776472"/>
            <a:ext cx="2743200" cy="640080"/>
          </a:xfrm>
          <a:prstGeom prst="rect">
            <a:avLst/>
          </a:prstGeom>
          <a:noFill/>
          <a:ln/>
        </p:spPr>
        <p:txBody>
          <a:bodyPr wrap="square" lIns="0" tIns="0" rIns="0" bIns="0" rtlCol="0" anchor="t"/>
          <a:lstStyle/>
          <a:p>
            <a:pPr indent="0" marL="0">
              <a:buNone/>
            </a:pPr>
            <a:r>
              <a:rPr lang="en-US" sz="1200" dirty="0">
                <a:solidFill>
                  <a:schemeClr val="tx2"/>
                </a:solidFill>
              </a:rPr>
              <a:t>Purchase well above or below market value, or rapid resale (flipping).</a:t>
            </a:r>
            <a:endParaRPr lang="en-US" sz="1200" dirty="0"/>
          </a:p>
        </p:txBody>
      </p:sp>
      <p:sp>
        <p:nvSpPr>
          <p:cNvPr id="25" name="Flag card"/>
          <p:cNvSpPr/>
          <p:nvPr/>
        </p:nvSpPr>
        <p:spPr>
          <a:xfrm>
            <a:off x="4224528" y="4626864"/>
            <a:ext cx="3547872" cy="1243584"/>
          </a:xfrm>
          <a:prstGeom prst="roundRect">
            <a:avLst>
              <a:gd name="adj" fmla="val 8824"/>
            </a:avLst>
          </a:prstGeom>
          <a:solidFill>
            <a:schemeClr val="bg2"/>
          </a:solidFill>
          <a:ln/>
        </p:spPr>
      </p:sp>
      <p:pic>
        <p:nvPicPr>
          <p:cNvPr id="26" name="Image 5" descr="flag">    </p:cNvPr>
          <p:cNvPicPr>
            <a:picLocks noChangeAspect="1"/>
          </p:cNvPicPr>
          <p:nvPr/>
        </p:nvPicPr>
        <p:blipFill>
          <a:blip r:embed="rId6"/>
          <a:stretch>
            <a:fillRect/>
          </a:stretch>
        </p:blipFill>
        <p:spPr>
          <a:xfrm>
            <a:off x="4453128" y="4846320"/>
            <a:ext cx="274320" cy="274320"/>
          </a:xfrm>
          <a:prstGeom prst="rect">
            <a:avLst/>
          </a:prstGeom>
        </p:spPr>
      </p:pic>
      <p:sp>
        <p:nvSpPr>
          <p:cNvPr id="27" name="Text 18"/>
          <p:cNvSpPr txBox="1"/>
          <p:nvPr/>
        </p:nvSpPr>
        <p:spPr>
          <a:xfrm>
            <a:off x="4846320" y="4809744"/>
            <a:ext cx="2743200" cy="347472"/>
          </a:xfrm>
          <a:prstGeom prst="rect">
            <a:avLst/>
          </a:prstGeom>
          <a:noFill/>
          <a:ln/>
        </p:spPr>
        <p:txBody>
          <a:bodyPr wrap="square" lIns="0" tIns="0" rIns="0" bIns="0" rtlCol="0" anchor="t"/>
          <a:lstStyle/>
          <a:p>
            <a:pPr indent="0" marL="0">
              <a:buNone/>
            </a:pPr>
            <a:r>
              <a:rPr lang="en-US" sz="1450" b="1" dirty="0">
                <a:solidFill>
                  <a:schemeClr val="tx1"/>
                </a:solidFill>
              </a:rPr>
              <a:t>Opaque buyers</a:t>
            </a:r>
            <a:endParaRPr lang="en-US" sz="1450" dirty="0"/>
          </a:p>
        </p:txBody>
      </p:sp>
      <p:sp>
        <p:nvSpPr>
          <p:cNvPr id="28" name="Text 19"/>
          <p:cNvSpPr txBox="1"/>
          <p:nvPr/>
        </p:nvSpPr>
        <p:spPr>
          <a:xfrm>
            <a:off x="4846320" y="5175504"/>
            <a:ext cx="2743200" cy="640080"/>
          </a:xfrm>
          <a:prstGeom prst="rect">
            <a:avLst/>
          </a:prstGeom>
          <a:noFill/>
          <a:ln/>
        </p:spPr>
        <p:txBody>
          <a:bodyPr wrap="square" lIns="0" tIns="0" rIns="0" bIns="0" rtlCol="0" anchor="t"/>
          <a:lstStyle/>
          <a:p>
            <a:pPr indent="0" marL="0">
              <a:buNone/>
            </a:pPr>
            <a:r>
              <a:rPr lang="en-US" sz="1200" dirty="0">
                <a:solidFill>
                  <a:schemeClr val="tx2"/>
                </a:solidFill>
              </a:rPr>
              <a:t>Purchase through a new company or trust when the reason for it is unclear.</a:t>
            </a:r>
            <a:endParaRPr lang="en-US" sz="1200" dirty="0"/>
          </a:p>
        </p:txBody>
      </p:sp>
      <p:sp>
        <p:nvSpPr>
          <p:cNvPr id="29" name="Flag card"/>
          <p:cNvSpPr/>
          <p:nvPr/>
        </p:nvSpPr>
        <p:spPr>
          <a:xfrm>
            <a:off x="7927848" y="4626864"/>
            <a:ext cx="3547872" cy="1243584"/>
          </a:xfrm>
          <a:prstGeom prst="roundRect">
            <a:avLst>
              <a:gd name="adj" fmla="val 8824"/>
            </a:avLst>
          </a:prstGeom>
          <a:solidFill>
            <a:schemeClr val="bg2"/>
          </a:solidFill>
          <a:ln/>
        </p:spPr>
      </p:sp>
      <p:pic>
        <p:nvPicPr>
          <p:cNvPr id="30" name="Image 6" descr="flag">    </p:cNvPr>
          <p:cNvPicPr>
            <a:picLocks noChangeAspect="1"/>
          </p:cNvPicPr>
          <p:nvPr/>
        </p:nvPicPr>
        <p:blipFill>
          <a:blip r:embed="rId7"/>
          <a:stretch>
            <a:fillRect/>
          </a:stretch>
        </p:blipFill>
        <p:spPr>
          <a:xfrm>
            <a:off x="8156448" y="4846320"/>
            <a:ext cx="274320" cy="274320"/>
          </a:xfrm>
          <a:prstGeom prst="rect">
            <a:avLst/>
          </a:prstGeom>
        </p:spPr>
      </p:pic>
      <p:sp>
        <p:nvSpPr>
          <p:cNvPr id="31" name="Text 21"/>
          <p:cNvSpPr txBox="1"/>
          <p:nvPr/>
        </p:nvSpPr>
        <p:spPr>
          <a:xfrm>
            <a:off x="8549640" y="4809744"/>
            <a:ext cx="2743200" cy="347472"/>
          </a:xfrm>
          <a:prstGeom prst="rect">
            <a:avLst/>
          </a:prstGeom>
          <a:noFill/>
          <a:ln/>
        </p:spPr>
        <p:txBody>
          <a:bodyPr wrap="square" lIns="0" tIns="0" rIns="0" bIns="0" rtlCol="0" anchor="t"/>
          <a:lstStyle/>
          <a:p>
            <a:pPr indent="0" marL="0">
              <a:buNone/>
            </a:pPr>
            <a:r>
              <a:rPr lang="en-US" sz="1450" b="1" dirty="0">
                <a:solidFill>
                  <a:schemeClr val="tx1"/>
                </a:solidFill>
              </a:rPr>
              <a:t>Changing details</a:t>
            </a:r>
            <a:endParaRPr lang="en-US" sz="1450" dirty="0"/>
          </a:p>
        </p:txBody>
      </p:sp>
      <p:sp>
        <p:nvSpPr>
          <p:cNvPr id="32" name="Text 22"/>
          <p:cNvSpPr txBox="1"/>
          <p:nvPr/>
        </p:nvSpPr>
        <p:spPr>
          <a:xfrm>
            <a:off x="8549640" y="5175504"/>
            <a:ext cx="2743200" cy="640080"/>
          </a:xfrm>
          <a:prstGeom prst="rect">
            <a:avLst/>
          </a:prstGeom>
          <a:noFill/>
          <a:ln/>
        </p:spPr>
        <p:txBody>
          <a:bodyPr wrap="square" lIns="0" tIns="0" rIns="0" bIns="0" rtlCol="0" anchor="t"/>
          <a:lstStyle/>
          <a:p>
            <a:pPr indent="0" marL="0">
              <a:buNone/>
            </a:pPr>
            <a:r>
              <a:rPr lang="en-US" sz="1200" dirty="0">
                <a:solidFill>
                  <a:schemeClr val="tx2"/>
                </a:solidFill>
              </a:rPr>
              <a:t>Late changes to the buyer, payer or bank details just before completion.</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05 · RED FLAGS</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Trusts and investments</a:t>
            </a:r>
            <a:endParaRPr lang="en-US" sz="3400" dirty="0"/>
          </a:p>
        </p:txBody>
      </p:sp>
      <p:sp>
        <p:nvSpPr>
          <p:cNvPr id="5" name="Practice panel"/>
          <p:cNvSpPr/>
          <p:nvPr/>
        </p:nvSpPr>
        <p:spPr>
          <a:xfrm>
            <a:off x="685800" y="1828800"/>
            <a:ext cx="3246120" cy="4069080"/>
          </a:xfrm>
          <a:prstGeom prst="roundRect">
            <a:avLst>
              <a:gd name="adj" fmla="val 3380"/>
            </a:avLst>
          </a:prstGeom>
          <a:solidFill>
            <a:schemeClr val="tx1"/>
          </a:solidFill>
          <a:ln/>
          <a:effectLst>
            <a:outerShdw sx="100000" sy="100000" kx="0" ky="0" algn="bl" rotWithShape="0" blurRad="177800" dist="38100" dir="5400000">
              <a:srgbClr val="0B1F2A">
                <a:alpha val="10000"/>
              </a:srgbClr>
            </a:outerShdw>
          </a:effectLst>
        </p:spPr>
      </p:sp>
      <p:sp>
        <p:nvSpPr>
          <p:cNvPr id="6" name="Icon disc"/>
          <p:cNvSpPr/>
          <p:nvPr/>
        </p:nvSpPr>
        <p:spPr>
          <a:xfrm>
            <a:off x="1051560" y="2194560"/>
            <a:ext cx="822960" cy="822960"/>
          </a:xfrm>
          <a:prstGeom prst="ellipse">
            <a:avLst/>
          </a:prstGeom>
          <a:solidFill>
            <a:schemeClr val="accent2"/>
          </a:solidFill>
          <a:ln/>
        </p:spPr>
      </p:sp>
      <p:pic>
        <p:nvPicPr>
          <p:cNvPr id="7" name="Image 0" descr="Network icon">    </p:cNvPr>
          <p:cNvPicPr>
            <a:picLocks noChangeAspect="1"/>
          </p:cNvPicPr>
          <p:nvPr/>
        </p:nvPicPr>
        <p:blipFill>
          <a:blip r:embed="rId1"/>
          <a:stretch>
            <a:fillRect/>
          </a:stretch>
        </p:blipFill>
        <p:spPr>
          <a:xfrm>
            <a:off x="1257300" y="2400300"/>
            <a:ext cx="411480" cy="411480"/>
          </a:xfrm>
          <a:prstGeom prst="rect">
            <a:avLst/>
          </a:prstGeom>
        </p:spPr>
      </p:pic>
      <p:sp>
        <p:nvSpPr>
          <p:cNvPr id="8" name="Text 4"/>
          <p:cNvSpPr txBox="1"/>
          <p:nvPr/>
        </p:nvSpPr>
        <p:spPr>
          <a:xfrm>
            <a:off x="1051560" y="3246120"/>
            <a:ext cx="2560320" cy="2377440"/>
          </a:xfrm>
          <a:prstGeom prst="rect">
            <a:avLst/>
          </a:prstGeom>
          <a:noFill/>
          <a:ln/>
        </p:spPr>
        <p:txBody>
          <a:bodyPr wrap="square" lIns="0" tIns="0" rIns="0" bIns="0" rtlCol="0" anchor="t"/>
          <a:lstStyle/>
          <a:p>
            <a:pPr indent="0" marL="0">
              <a:lnSpc>
                <a:spcPct val="112000"/>
              </a:lnSpc>
              <a:buNone/>
            </a:pPr>
            <a:r>
              <a:rPr lang="en-US" sz="1500" dirty="0">
                <a:solidFill>
                  <a:schemeClr val="accent6"/>
                </a:solidFill>
              </a:rPr>
              <a:t>Structures that separate ownership from control are valuable to families, and equally valuable to anyone hiding the true owner.</a:t>
            </a:r>
            <a:endParaRPr lang="en-US" sz="1500" dirty="0"/>
          </a:p>
        </p:txBody>
      </p:sp>
      <p:sp>
        <p:nvSpPr>
          <p:cNvPr id="9" name="Flag card"/>
          <p:cNvSpPr/>
          <p:nvPr/>
        </p:nvSpPr>
        <p:spPr>
          <a:xfrm>
            <a:off x="4224528" y="1828800"/>
            <a:ext cx="3547872" cy="1243584"/>
          </a:xfrm>
          <a:prstGeom prst="roundRect">
            <a:avLst>
              <a:gd name="adj" fmla="val 8824"/>
            </a:avLst>
          </a:prstGeom>
          <a:solidFill>
            <a:schemeClr val="bg2"/>
          </a:solidFill>
          <a:ln/>
        </p:spPr>
      </p:sp>
      <p:pic>
        <p:nvPicPr>
          <p:cNvPr id="10" name="Image 1" descr="flag">    </p:cNvPr>
          <p:cNvPicPr>
            <a:picLocks noChangeAspect="1"/>
          </p:cNvPicPr>
          <p:nvPr/>
        </p:nvPicPr>
        <p:blipFill>
          <a:blip r:embed="rId2"/>
          <a:stretch>
            <a:fillRect/>
          </a:stretch>
        </p:blipFill>
        <p:spPr>
          <a:xfrm>
            <a:off x="4453128" y="2048256"/>
            <a:ext cx="274320" cy="274320"/>
          </a:xfrm>
          <a:prstGeom prst="rect">
            <a:avLst/>
          </a:prstGeom>
        </p:spPr>
      </p:pic>
      <p:sp>
        <p:nvSpPr>
          <p:cNvPr id="11" name="Text 6"/>
          <p:cNvSpPr txBox="1"/>
          <p:nvPr/>
        </p:nvSpPr>
        <p:spPr>
          <a:xfrm>
            <a:off x="4846320" y="2011680"/>
            <a:ext cx="2743200" cy="347472"/>
          </a:xfrm>
          <a:prstGeom prst="rect">
            <a:avLst/>
          </a:prstGeom>
          <a:noFill/>
          <a:ln/>
        </p:spPr>
        <p:txBody>
          <a:bodyPr wrap="square" lIns="0" tIns="0" rIns="0" bIns="0" rtlCol="0" anchor="t"/>
          <a:lstStyle/>
          <a:p>
            <a:pPr indent="0" marL="0">
              <a:buNone/>
            </a:pPr>
            <a:r>
              <a:rPr lang="en-US" sz="1450" b="1" dirty="0">
                <a:solidFill>
                  <a:schemeClr val="tx1"/>
                </a:solidFill>
              </a:rPr>
              <a:t>No clear purpose</a:t>
            </a:r>
            <a:endParaRPr lang="en-US" sz="1450" dirty="0"/>
          </a:p>
        </p:txBody>
      </p:sp>
      <p:sp>
        <p:nvSpPr>
          <p:cNvPr id="12" name="Text 7"/>
          <p:cNvSpPr txBox="1"/>
          <p:nvPr/>
        </p:nvSpPr>
        <p:spPr>
          <a:xfrm>
            <a:off x="4846320" y="2377440"/>
            <a:ext cx="2743200" cy="640080"/>
          </a:xfrm>
          <a:prstGeom prst="rect">
            <a:avLst/>
          </a:prstGeom>
          <a:noFill/>
          <a:ln/>
        </p:spPr>
        <p:txBody>
          <a:bodyPr wrap="square" lIns="0" tIns="0" rIns="0" bIns="0" rtlCol="0" anchor="t"/>
          <a:lstStyle/>
          <a:p>
            <a:pPr indent="0" marL="0">
              <a:buNone/>
            </a:pPr>
            <a:r>
              <a:rPr lang="en-US" sz="1200" dirty="0">
                <a:solidFill>
                  <a:schemeClr val="tx2"/>
                </a:solidFill>
              </a:rPr>
              <a:t>A layered structure that the client can't or won't explain.</a:t>
            </a:r>
            <a:endParaRPr lang="en-US" sz="1200" dirty="0"/>
          </a:p>
        </p:txBody>
      </p:sp>
      <p:sp>
        <p:nvSpPr>
          <p:cNvPr id="13" name="Flag card"/>
          <p:cNvSpPr/>
          <p:nvPr/>
        </p:nvSpPr>
        <p:spPr>
          <a:xfrm>
            <a:off x="7927848" y="1828800"/>
            <a:ext cx="3547872" cy="1243584"/>
          </a:xfrm>
          <a:prstGeom prst="roundRect">
            <a:avLst>
              <a:gd name="adj" fmla="val 8824"/>
            </a:avLst>
          </a:prstGeom>
          <a:solidFill>
            <a:schemeClr val="bg2"/>
          </a:solidFill>
          <a:ln/>
        </p:spPr>
      </p:sp>
      <p:pic>
        <p:nvPicPr>
          <p:cNvPr id="14" name="Image 2" descr="flag">    </p:cNvPr>
          <p:cNvPicPr>
            <a:picLocks noChangeAspect="1"/>
          </p:cNvPicPr>
          <p:nvPr/>
        </p:nvPicPr>
        <p:blipFill>
          <a:blip r:embed="rId3"/>
          <a:stretch>
            <a:fillRect/>
          </a:stretch>
        </p:blipFill>
        <p:spPr>
          <a:xfrm>
            <a:off x="8156448" y="2048256"/>
            <a:ext cx="274320" cy="274320"/>
          </a:xfrm>
          <a:prstGeom prst="rect">
            <a:avLst/>
          </a:prstGeom>
        </p:spPr>
      </p:pic>
      <p:sp>
        <p:nvSpPr>
          <p:cNvPr id="15" name="Text 9"/>
          <p:cNvSpPr txBox="1"/>
          <p:nvPr/>
        </p:nvSpPr>
        <p:spPr>
          <a:xfrm>
            <a:off x="8549640" y="2011680"/>
            <a:ext cx="2743200" cy="347472"/>
          </a:xfrm>
          <a:prstGeom prst="rect">
            <a:avLst/>
          </a:prstGeom>
          <a:noFill/>
          <a:ln/>
        </p:spPr>
        <p:txBody>
          <a:bodyPr wrap="square" lIns="0" tIns="0" rIns="0" bIns="0" rtlCol="0" anchor="t"/>
          <a:lstStyle/>
          <a:p>
            <a:pPr indent="0" marL="0">
              <a:buNone/>
            </a:pPr>
            <a:r>
              <a:rPr lang="en-US" sz="1450" b="1" dirty="0">
                <a:solidFill>
                  <a:schemeClr val="tx1"/>
                </a:solidFill>
              </a:rPr>
              <a:t>Hidden controller</a:t>
            </a:r>
            <a:endParaRPr lang="en-US" sz="1450" dirty="0"/>
          </a:p>
        </p:txBody>
      </p:sp>
      <p:sp>
        <p:nvSpPr>
          <p:cNvPr id="16" name="Text 10"/>
          <p:cNvSpPr txBox="1"/>
          <p:nvPr/>
        </p:nvSpPr>
        <p:spPr>
          <a:xfrm>
            <a:off x="8549640" y="2377440"/>
            <a:ext cx="2743200" cy="640080"/>
          </a:xfrm>
          <a:prstGeom prst="rect">
            <a:avLst/>
          </a:prstGeom>
          <a:noFill/>
          <a:ln/>
        </p:spPr>
        <p:txBody>
          <a:bodyPr wrap="square" lIns="0" tIns="0" rIns="0" bIns="0" rtlCol="0" anchor="t"/>
          <a:lstStyle/>
          <a:p>
            <a:pPr indent="0" marL="0">
              <a:buNone/>
            </a:pPr>
            <a:r>
              <a:rPr lang="en-US" sz="1200" dirty="0">
                <a:solidFill>
                  <a:schemeClr val="tx2"/>
                </a:solidFill>
              </a:rPr>
              <a:t>A protector, 'letter of wishes' or nominee who seems to hold real control.</a:t>
            </a:r>
            <a:endParaRPr lang="en-US" sz="1200" dirty="0"/>
          </a:p>
        </p:txBody>
      </p:sp>
      <p:sp>
        <p:nvSpPr>
          <p:cNvPr id="17" name="Flag card"/>
          <p:cNvSpPr/>
          <p:nvPr/>
        </p:nvSpPr>
        <p:spPr>
          <a:xfrm>
            <a:off x="4224528" y="3227832"/>
            <a:ext cx="3547872" cy="1243584"/>
          </a:xfrm>
          <a:prstGeom prst="roundRect">
            <a:avLst>
              <a:gd name="adj" fmla="val 8824"/>
            </a:avLst>
          </a:prstGeom>
          <a:solidFill>
            <a:schemeClr val="bg2"/>
          </a:solidFill>
          <a:ln/>
        </p:spPr>
      </p:sp>
      <p:pic>
        <p:nvPicPr>
          <p:cNvPr id="18" name="Image 3" descr="flag">    </p:cNvPr>
          <p:cNvPicPr>
            <a:picLocks noChangeAspect="1"/>
          </p:cNvPicPr>
          <p:nvPr/>
        </p:nvPicPr>
        <p:blipFill>
          <a:blip r:embed="rId4"/>
          <a:stretch>
            <a:fillRect/>
          </a:stretch>
        </p:blipFill>
        <p:spPr>
          <a:xfrm>
            <a:off x="4453128" y="3447288"/>
            <a:ext cx="274320" cy="274320"/>
          </a:xfrm>
          <a:prstGeom prst="rect">
            <a:avLst/>
          </a:prstGeom>
        </p:spPr>
      </p:pic>
      <p:sp>
        <p:nvSpPr>
          <p:cNvPr id="19" name="Text 12"/>
          <p:cNvSpPr txBox="1"/>
          <p:nvPr/>
        </p:nvSpPr>
        <p:spPr>
          <a:xfrm>
            <a:off x="4846320" y="3410712"/>
            <a:ext cx="2743200" cy="347472"/>
          </a:xfrm>
          <a:prstGeom prst="rect">
            <a:avLst/>
          </a:prstGeom>
          <a:noFill/>
          <a:ln/>
        </p:spPr>
        <p:txBody>
          <a:bodyPr wrap="square" lIns="0" tIns="0" rIns="0" bIns="0" rtlCol="0" anchor="t"/>
          <a:lstStyle/>
          <a:p>
            <a:pPr indent="0" marL="0">
              <a:buNone/>
            </a:pPr>
            <a:r>
              <a:rPr lang="en-US" sz="1450" b="1" dirty="0">
                <a:solidFill>
                  <a:schemeClr val="tx1"/>
                </a:solidFill>
              </a:rPr>
              <a:t>Settlor reluctance</a:t>
            </a:r>
            <a:endParaRPr lang="en-US" sz="1450" dirty="0"/>
          </a:p>
        </p:txBody>
      </p:sp>
      <p:sp>
        <p:nvSpPr>
          <p:cNvPr id="20" name="Text 13"/>
          <p:cNvSpPr txBox="1"/>
          <p:nvPr/>
        </p:nvSpPr>
        <p:spPr>
          <a:xfrm>
            <a:off x="4846320" y="3776472"/>
            <a:ext cx="2743200" cy="640080"/>
          </a:xfrm>
          <a:prstGeom prst="rect">
            <a:avLst/>
          </a:prstGeom>
          <a:noFill/>
          <a:ln/>
        </p:spPr>
        <p:txBody>
          <a:bodyPr wrap="square" lIns="0" tIns="0" rIns="0" bIns="0" rtlCol="0" anchor="t"/>
          <a:lstStyle/>
          <a:p>
            <a:pPr indent="0" marL="0">
              <a:buNone/>
            </a:pPr>
            <a:r>
              <a:rPr lang="en-US" sz="1200" dirty="0">
                <a:solidFill>
                  <a:schemeClr val="tx2"/>
                </a:solidFill>
              </a:rPr>
              <a:t>Unwilling to give source of wealth, or gives an inconsistent account.</a:t>
            </a:r>
            <a:endParaRPr lang="en-US" sz="1200" dirty="0"/>
          </a:p>
        </p:txBody>
      </p:sp>
      <p:sp>
        <p:nvSpPr>
          <p:cNvPr id="21" name="Flag card"/>
          <p:cNvSpPr/>
          <p:nvPr/>
        </p:nvSpPr>
        <p:spPr>
          <a:xfrm>
            <a:off x="7927848" y="3227832"/>
            <a:ext cx="3547872" cy="1243584"/>
          </a:xfrm>
          <a:prstGeom prst="roundRect">
            <a:avLst>
              <a:gd name="adj" fmla="val 8824"/>
            </a:avLst>
          </a:prstGeom>
          <a:solidFill>
            <a:schemeClr val="bg2"/>
          </a:solidFill>
          <a:ln/>
        </p:spPr>
      </p:sp>
      <p:pic>
        <p:nvPicPr>
          <p:cNvPr id="22" name="Image 4" descr="flag">    </p:cNvPr>
          <p:cNvPicPr>
            <a:picLocks noChangeAspect="1"/>
          </p:cNvPicPr>
          <p:nvPr/>
        </p:nvPicPr>
        <p:blipFill>
          <a:blip r:embed="rId5"/>
          <a:stretch>
            <a:fillRect/>
          </a:stretch>
        </p:blipFill>
        <p:spPr>
          <a:xfrm>
            <a:off x="8156448" y="3447288"/>
            <a:ext cx="274320" cy="274320"/>
          </a:xfrm>
          <a:prstGeom prst="rect">
            <a:avLst/>
          </a:prstGeom>
        </p:spPr>
      </p:pic>
      <p:sp>
        <p:nvSpPr>
          <p:cNvPr id="23" name="Text 15"/>
          <p:cNvSpPr txBox="1"/>
          <p:nvPr/>
        </p:nvSpPr>
        <p:spPr>
          <a:xfrm>
            <a:off x="8549640" y="3410712"/>
            <a:ext cx="2743200" cy="347472"/>
          </a:xfrm>
          <a:prstGeom prst="rect">
            <a:avLst/>
          </a:prstGeom>
          <a:noFill/>
          <a:ln/>
        </p:spPr>
        <p:txBody>
          <a:bodyPr wrap="square" lIns="0" tIns="0" rIns="0" bIns="0" rtlCol="0" anchor="t"/>
          <a:lstStyle/>
          <a:p>
            <a:pPr indent="0" marL="0">
              <a:buNone/>
            </a:pPr>
            <a:r>
              <a:rPr lang="en-US" sz="1450" b="1" dirty="0">
                <a:solidFill>
                  <a:schemeClr val="tx1"/>
                </a:solidFill>
              </a:rPr>
              <a:t>Client account misuse</a:t>
            </a:r>
            <a:endParaRPr lang="en-US" sz="1450" dirty="0"/>
          </a:p>
        </p:txBody>
      </p:sp>
      <p:sp>
        <p:nvSpPr>
          <p:cNvPr id="24" name="Text 16"/>
          <p:cNvSpPr txBox="1"/>
          <p:nvPr/>
        </p:nvSpPr>
        <p:spPr>
          <a:xfrm>
            <a:off x="8549640" y="3776472"/>
            <a:ext cx="2743200" cy="640080"/>
          </a:xfrm>
          <a:prstGeom prst="rect">
            <a:avLst/>
          </a:prstGeom>
          <a:noFill/>
          <a:ln/>
        </p:spPr>
        <p:txBody>
          <a:bodyPr wrap="square" lIns="0" tIns="0" rIns="0" bIns="0" rtlCol="0" anchor="t"/>
          <a:lstStyle/>
          <a:p>
            <a:pPr indent="0" marL="0">
              <a:buNone/>
            </a:pPr>
            <a:r>
              <a:rPr lang="en-US" sz="1200" dirty="0">
                <a:solidFill>
                  <a:schemeClr val="tx2"/>
                </a:solidFill>
              </a:rPr>
              <a:t>Requests to hold or move funds with no underlying legal service.</a:t>
            </a:r>
            <a:endParaRPr lang="en-US" sz="1200" dirty="0"/>
          </a:p>
        </p:txBody>
      </p:sp>
      <p:sp>
        <p:nvSpPr>
          <p:cNvPr id="25" name="Flag card"/>
          <p:cNvSpPr/>
          <p:nvPr/>
        </p:nvSpPr>
        <p:spPr>
          <a:xfrm>
            <a:off x="4224528" y="4626864"/>
            <a:ext cx="3547872" cy="1243584"/>
          </a:xfrm>
          <a:prstGeom prst="roundRect">
            <a:avLst>
              <a:gd name="adj" fmla="val 8824"/>
            </a:avLst>
          </a:prstGeom>
          <a:solidFill>
            <a:schemeClr val="bg2"/>
          </a:solidFill>
          <a:ln/>
        </p:spPr>
      </p:sp>
      <p:pic>
        <p:nvPicPr>
          <p:cNvPr id="26" name="Image 5" descr="flag">    </p:cNvPr>
          <p:cNvPicPr>
            <a:picLocks noChangeAspect="1"/>
          </p:cNvPicPr>
          <p:nvPr/>
        </p:nvPicPr>
        <p:blipFill>
          <a:blip r:embed="rId6"/>
          <a:stretch>
            <a:fillRect/>
          </a:stretch>
        </p:blipFill>
        <p:spPr>
          <a:xfrm>
            <a:off x="4453128" y="4846320"/>
            <a:ext cx="274320" cy="274320"/>
          </a:xfrm>
          <a:prstGeom prst="rect">
            <a:avLst/>
          </a:prstGeom>
        </p:spPr>
      </p:pic>
      <p:sp>
        <p:nvSpPr>
          <p:cNvPr id="27" name="Text 18"/>
          <p:cNvSpPr txBox="1"/>
          <p:nvPr/>
        </p:nvSpPr>
        <p:spPr>
          <a:xfrm>
            <a:off x="4846320" y="4809744"/>
            <a:ext cx="2743200" cy="347472"/>
          </a:xfrm>
          <a:prstGeom prst="rect">
            <a:avLst/>
          </a:prstGeom>
          <a:noFill/>
          <a:ln/>
        </p:spPr>
        <p:txBody>
          <a:bodyPr wrap="square" lIns="0" tIns="0" rIns="0" bIns="0" rtlCol="0" anchor="t"/>
          <a:lstStyle/>
          <a:p>
            <a:pPr indent="0" marL="0">
              <a:buNone/>
            </a:pPr>
            <a:r>
              <a:rPr lang="en-US" sz="1450" b="1" dirty="0">
                <a:solidFill>
                  <a:schemeClr val="tx1"/>
                </a:solidFill>
              </a:rPr>
              <a:t>Sanctions proximity</a:t>
            </a:r>
            <a:endParaRPr lang="en-US" sz="1450" dirty="0"/>
          </a:p>
        </p:txBody>
      </p:sp>
      <p:sp>
        <p:nvSpPr>
          <p:cNvPr id="28" name="Text 19"/>
          <p:cNvSpPr txBox="1"/>
          <p:nvPr/>
        </p:nvSpPr>
        <p:spPr>
          <a:xfrm>
            <a:off x="4846320" y="5175504"/>
            <a:ext cx="2743200" cy="640080"/>
          </a:xfrm>
          <a:prstGeom prst="rect">
            <a:avLst/>
          </a:prstGeom>
          <a:noFill/>
          <a:ln/>
        </p:spPr>
        <p:txBody>
          <a:bodyPr wrap="square" lIns="0" tIns="0" rIns="0" bIns="0" rtlCol="0" anchor="t"/>
          <a:lstStyle/>
          <a:p>
            <a:pPr indent="0" marL="0">
              <a:buNone/>
            </a:pPr>
            <a:r>
              <a:rPr lang="en-US" sz="1200" dirty="0">
                <a:solidFill>
                  <a:schemeClr val="tx2"/>
                </a:solidFill>
              </a:rPr>
              <a:t>Links to sanctioned persons or high-risk states through relatives or entities.</a:t>
            </a:r>
            <a:endParaRPr lang="en-US" sz="1200" dirty="0"/>
          </a:p>
        </p:txBody>
      </p:sp>
      <p:sp>
        <p:nvSpPr>
          <p:cNvPr id="29" name="Flag card"/>
          <p:cNvSpPr/>
          <p:nvPr/>
        </p:nvSpPr>
        <p:spPr>
          <a:xfrm>
            <a:off x="7927848" y="4626864"/>
            <a:ext cx="3547872" cy="1243584"/>
          </a:xfrm>
          <a:prstGeom prst="roundRect">
            <a:avLst>
              <a:gd name="adj" fmla="val 8824"/>
            </a:avLst>
          </a:prstGeom>
          <a:solidFill>
            <a:schemeClr val="bg2"/>
          </a:solidFill>
          <a:ln/>
        </p:spPr>
      </p:sp>
      <p:pic>
        <p:nvPicPr>
          <p:cNvPr id="30" name="Image 6" descr="flag">    </p:cNvPr>
          <p:cNvPicPr>
            <a:picLocks noChangeAspect="1"/>
          </p:cNvPicPr>
          <p:nvPr/>
        </p:nvPicPr>
        <p:blipFill>
          <a:blip r:embed="rId7"/>
          <a:stretch>
            <a:fillRect/>
          </a:stretch>
        </p:blipFill>
        <p:spPr>
          <a:xfrm>
            <a:off x="8156448" y="4846320"/>
            <a:ext cx="274320" cy="274320"/>
          </a:xfrm>
          <a:prstGeom prst="rect">
            <a:avLst/>
          </a:prstGeom>
        </p:spPr>
      </p:pic>
      <p:sp>
        <p:nvSpPr>
          <p:cNvPr id="31" name="Text 21"/>
          <p:cNvSpPr txBox="1"/>
          <p:nvPr/>
        </p:nvSpPr>
        <p:spPr>
          <a:xfrm>
            <a:off x="8549640" y="4809744"/>
            <a:ext cx="2743200" cy="347472"/>
          </a:xfrm>
          <a:prstGeom prst="rect">
            <a:avLst/>
          </a:prstGeom>
          <a:noFill/>
          <a:ln/>
        </p:spPr>
        <p:txBody>
          <a:bodyPr wrap="square" lIns="0" tIns="0" rIns="0" bIns="0" rtlCol="0" anchor="t"/>
          <a:lstStyle/>
          <a:p>
            <a:pPr indent="0" marL="0">
              <a:buNone/>
            </a:pPr>
            <a:r>
              <a:rPr lang="en-US" sz="1450" b="1" dirty="0">
                <a:solidFill>
                  <a:schemeClr val="tx1"/>
                </a:solidFill>
              </a:rPr>
              <a:t>Unusual returns</a:t>
            </a:r>
            <a:endParaRPr lang="en-US" sz="1450" dirty="0"/>
          </a:p>
        </p:txBody>
      </p:sp>
      <p:sp>
        <p:nvSpPr>
          <p:cNvPr id="32" name="Text 22"/>
          <p:cNvSpPr txBox="1"/>
          <p:nvPr/>
        </p:nvSpPr>
        <p:spPr>
          <a:xfrm>
            <a:off x="8549640" y="5175504"/>
            <a:ext cx="2743200" cy="640080"/>
          </a:xfrm>
          <a:prstGeom prst="rect">
            <a:avLst/>
          </a:prstGeom>
          <a:noFill/>
          <a:ln/>
        </p:spPr>
        <p:txBody>
          <a:bodyPr wrap="square" lIns="0" tIns="0" rIns="0" bIns="0" rtlCol="0" anchor="t"/>
          <a:lstStyle/>
          <a:p>
            <a:pPr indent="0" marL="0">
              <a:buNone/>
            </a:pPr>
            <a:r>
              <a:rPr lang="en-US" sz="1200" dirty="0">
                <a:solidFill>
                  <a:schemeClr val="tx2"/>
                </a:solidFill>
              </a:rPr>
              <a:t>Investment flows or returns out of line with the stated strategy or the market.</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body" hasCustomPrompt="1"/>
          </p:nvPr>
        </p:nvSpPr>
        <p:spPr>
          <a:xfrm>
            <a:off x="685800" y="1097280"/>
            <a:ext cx="3657600" cy="1645920"/>
          </a:xfrm>
          <a:prstGeom prst="rect">
            <a:avLst/>
          </a:prstGeom>
          <a:noFill/>
          <a:ln/>
        </p:spPr>
        <p:txBody>
          <a:bodyPr wrap="square" lIns="0" tIns="0" rIns="0" bIns="0" rtlCol="0" anchor="b"/>
          <a:lstStyle/>
          <a:p>
            <a:pPr algn="l" indent="0" marL="0">
              <a:buNone/>
            </a:pPr>
            <a:r>
              <a:rPr lang="en-US" sz="11000" dirty="0">
                <a:solidFill>
                  <a:schemeClr val="accent1"/>
                </a:solidFill>
                <a:latin typeface="Cambria" pitchFamily="34" charset="0"/>
                <a:ea typeface="Cambria" pitchFamily="34" charset="-122"/>
                <a:cs typeface="Cambria" pitchFamily="34" charset="-120"/>
              </a:rPr>
              <a:t>06</a:t>
            </a:r>
            <a:endParaRPr lang="en-US" sz="11000" dirty="0"/>
          </a:p>
        </p:txBody>
      </p:sp>
      <p:sp>
        <p:nvSpPr>
          <p:cNvPr id="3" name="Text 2"/>
          <p:cNvSpPr/>
          <p:nvPr>
            <p:ph idx="103" type="title" hasCustomPrompt="1"/>
          </p:nvPr>
        </p:nvSpPr>
        <p:spPr>
          <a:xfrm>
            <a:off x="685800" y="2880360"/>
            <a:ext cx="8229600" cy="1188720"/>
          </a:xfrm>
          <a:prstGeom prst="rect">
            <a:avLst/>
          </a:prstGeom>
          <a:noFill/>
          <a:ln/>
        </p:spPr>
        <p:txBody>
          <a:bodyPr wrap="square" lIns="0" tIns="0" rIns="0" bIns="0" rtlCol="0" anchor="t"/>
          <a:lstStyle/>
          <a:p>
            <a:pPr algn="l" indent="0" marL="0">
              <a:buNone/>
            </a:pPr>
            <a:r>
              <a:rPr lang="en-US" sz="4400" dirty="0">
                <a:solidFill>
                  <a:schemeClr val="bg1"/>
                </a:solidFill>
                <a:latin typeface="Cambria" pitchFamily="34" charset="0"/>
                <a:ea typeface="Cambria" pitchFamily="34" charset="-122"/>
                <a:cs typeface="Cambria" pitchFamily="34" charset="-120"/>
              </a:rPr>
              <a:t>Speaking up</a:t>
            </a:r>
            <a:endParaRPr lang="en-US" sz="4400" dirty="0"/>
          </a:p>
        </p:txBody>
      </p:sp>
      <p:sp>
        <p:nvSpPr>
          <p:cNvPr id="4" name="Text 2"/>
          <p:cNvSpPr/>
          <p:nvPr>
            <p:ph idx="104" type="body" hasCustomPrompt="1"/>
          </p:nvPr>
        </p:nvSpPr>
        <p:spPr>
          <a:xfrm>
            <a:off x="685800" y="4160520"/>
            <a:ext cx="6583680" cy="1097280"/>
          </a:xfrm>
          <a:prstGeom prst="rect">
            <a:avLst/>
          </a:prstGeom>
          <a:noFill/>
          <a:ln/>
        </p:spPr>
        <p:txBody>
          <a:bodyPr wrap="square" lIns="0" tIns="0" rIns="0" bIns="0" rtlCol="0" anchor="t"/>
          <a:lstStyle/>
          <a:p>
            <a:pPr algn="l" indent="0" marL="0">
              <a:buNone/>
            </a:pPr>
            <a:r>
              <a:rPr lang="en-US" sz="1800" dirty="0">
                <a:solidFill>
                  <a:schemeClr val="accent6"/>
                </a:solidFill>
              </a:rPr>
              <a:t>How to raise a concern, what happens next, and the one thing you must never do</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06 · SPEAKING UP</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From suspicion to report, step by step</a:t>
            </a:r>
            <a:endParaRPr lang="en-US" sz="3400" dirty="0"/>
          </a:p>
        </p:txBody>
      </p:sp>
      <p:sp>
        <p:nvSpPr>
          <p:cNvPr id="5" name="Connector"/>
          <p:cNvSpPr/>
          <p:nvPr/>
        </p:nvSpPr>
        <p:spPr>
          <a:xfrm>
            <a:off x="1883664" y="2606040"/>
            <a:ext cx="1014984" cy="0"/>
          </a:xfrm>
          <a:prstGeom prst="line">
            <a:avLst/>
          </a:prstGeom>
          <a:noFill/>
          <a:ln w="15875">
            <a:solidFill>
              <a:srgbClr val="A9BCC4"/>
            </a:solidFill>
            <a:prstDash val="dash"/>
          </a:ln>
        </p:spPr>
      </p:sp>
      <p:sp>
        <p:nvSpPr>
          <p:cNvPr id="6" name="Icon disc"/>
          <p:cNvSpPr/>
          <p:nvPr/>
        </p:nvSpPr>
        <p:spPr>
          <a:xfrm>
            <a:off x="1078992" y="2194560"/>
            <a:ext cx="822960" cy="822960"/>
          </a:xfrm>
          <a:prstGeom prst="ellipse">
            <a:avLst/>
          </a:prstGeom>
          <a:solidFill>
            <a:schemeClr val="accent1"/>
          </a:solidFill>
          <a:ln/>
        </p:spPr>
      </p:sp>
      <p:pic>
        <p:nvPicPr>
          <p:cNvPr id="7" name="Image 0" descr="Eye icon">    </p:cNvPr>
          <p:cNvPicPr>
            <a:picLocks noChangeAspect="1"/>
          </p:cNvPicPr>
          <p:nvPr/>
        </p:nvPicPr>
        <p:blipFill>
          <a:blip r:embed="rId1"/>
          <a:stretch>
            <a:fillRect/>
          </a:stretch>
        </p:blipFill>
        <p:spPr>
          <a:xfrm>
            <a:off x="1284732" y="2400300"/>
            <a:ext cx="411480" cy="411480"/>
          </a:xfrm>
          <a:prstGeom prst="rect">
            <a:avLst/>
          </a:prstGeom>
        </p:spPr>
      </p:pic>
      <p:sp>
        <p:nvSpPr>
          <p:cNvPr id="8" name="Text 4"/>
          <p:cNvSpPr txBox="1"/>
          <p:nvPr/>
        </p:nvSpPr>
        <p:spPr>
          <a:xfrm>
            <a:off x="685800" y="3246120"/>
            <a:ext cx="1627632" cy="274320"/>
          </a:xfrm>
          <a:prstGeom prst="rect">
            <a:avLst/>
          </a:prstGeom>
          <a:noFill/>
          <a:ln/>
        </p:spPr>
        <p:txBody>
          <a:bodyPr wrap="square" lIns="0" tIns="0" rIns="0" bIns="0" rtlCol="0" anchor="t"/>
          <a:lstStyle/>
          <a:p>
            <a:pPr algn="ctr" indent="0" marL="0">
              <a:buNone/>
            </a:pPr>
            <a:r>
              <a:rPr lang="en-US" sz="1100" b="1" spc="200" kern="0" dirty="0">
                <a:solidFill>
                  <a:schemeClr val="accent1"/>
                </a:solidFill>
              </a:rPr>
              <a:t>01</a:t>
            </a:r>
            <a:endParaRPr lang="en-US" sz="1100" dirty="0"/>
          </a:p>
        </p:txBody>
      </p:sp>
      <p:sp>
        <p:nvSpPr>
          <p:cNvPr id="9" name="Text 5"/>
          <p:cNvSpPr txBox="1"/>
          <p:nvPr/>
        </p:nvSpPr>
        <p:spPr>
          <a:xfrm>
            <a:off x="685800" y="3520440"/>
            <a:ext cx="1627632" cy="411480"/>
          </a:xfrm>
          <a:prstGeom prst="rect">
            <a:avLst/>
          </a:prstGeom>
          <a:noFill/>
          <a:ln/>
        </p:spPr>
        <p:txBody>
          <a:bodyPr wrap="square" lIns="0" tIns="0" rIns="0" bIns="0" rtlCol="0" anchor="t"/>
          <a:lstStyle/>
          <a:p>
            <a:pPr algn="ctr" indent="0" marL="0">
              <a:buNone/>
            </a:pPr>
            <a:r>
              <a:rPr lang="en-US" sz="2000" b="1" dirty="0">
                <a:solidFill>
                  <a:schemeClr val="tx1"/>
                </a:solidFill>
                <a:latin typeface="Cambria" pitchFamily="34" charset="0"/>
                <a:ea typeface="Cambria" pitchFamily="34" charset="-122"/>
                <a:cs typeface="Cambria" pitchFamily="34" charset="-120"/>
              </a:rPr>
              <a:t>Notice</a:t>
            </a:r>
            <a:endParaRPr lang="en-US" sz="2000" dirty="0"/>
          </a:p>
        </p:txBody>
      </p:sp>
      <p:sp>
        <p:nvSpPr>
          <p:cNvPr id="10" name="Text 6"/>
          <p:cNvSpPr txBox="1"/>
          <p:nvPr/>
        </p:nvSpPr>
        <p:spPr>
          <a:xfrm>
            <a:off x="731520" y="3977640"/>
            <a:ext cx="1536192" cy="1097280"/>
          </a:xfrm>
          <a:prstGeom prst="rect">
            <a:avLst/>
          </a:prstGeom>
          <a:noFill/>
          <a:ln/>
        </p:spPr>
        <p:txBody>
          <a:bodyPr wrap="square" lIns="0" tIns="0" rIns="0" bIns="0" rtlCol="0" anchor="t"/>
          <a:lstStyle/>
          <a:p>
            <a:pPr algn="ctr" indent="0" marL="0">
              <a:buNone/>
            </a:pPr>
            <a:r>
              <a:rPr lang="en-US" sz="1250" dirty="0">
                <a:solidFill>
                  <a:schemeClr val="tx2"/>
                </a:solidFill>
              </a:rPr>
              <a:t>A red flag, an inconsistency, or something that doesn't feel right</a:t>
            </a:r>
            <a:endParaRPr lang="en-US" sz="1250" dirty="0"/>
          </a:p>
        </p:txBody>
      </p:sp>
      <p:sp>
        <p:nvSpPr>
          <p:cNvPr id="11" name="Connector"/>
          <p:cNvSpPr/>
          <p:nvPr/>
        </p:nvSpPr>
        <p:spPr>
          <a:xfrm>
            <a:off x="3721608" y="2606040"/>
            <a:ext cx="1014984" cy="0"/>
          </a:xfrm>
          <a:prstGeom prst="line">
            <a:avLst/>
          </a:prstGeom>
          <a:noFill/>
          <a:ln w="15875">
            <a:solidFill>
              <a:srgbClr val="A9BCC4"/>
            </a:solidFill>
            <a:prstDash val="dash"/>
          </a:ln>
        </p:spPr>
      </p:sp>
      <p:sp>
        <p:nvSpPr>
          <p:cNvPr id="12" name="Icon disc"/>
          <p:cNvSpPr/>
          <p:nvPr/>
        </p:nvSpPr>
        <p:spPr>
          <a:xfrm>
            <a:off x="2916936" y="2194560"/>
            <a:ext cx="822960" cy="822960"/>
          </a:xfrm>
          <a:prstGeom prst="ellipse">
            <a:avLst/>
          </a:prstGeom>
          <a:solidFill>
            <a:schemeClr val="accent1"/>
          </a:solidFill>
          <a:ln/>
        </p:spPr>
      </p:sp>
      <p:pic>
        <p:nvPicPr>
          <p:cNvPr id="13" name="Image 1" descr="Hourglass icon">    </p:cNvPr>
          <p:cNvPicPr>
            <a:picLocks noChangeAspect="1"/>
          </p:cNvPicPr>
          <p:nvPr/>
        </p:nvPicPr>
        <p:blipFill>
          <a:blip r:embed="rId2"/>
          <a:stretch>
            <a:fillRect/>
          </a:stretch>
        </p:blipFill>
        <p:spPr>
          <a:xfrm>
            <a:off x="3122676" y="2400300"/>
            <a:ext cx="411480" cy="411480"/>
          </a:xfrm>
          <a:prstGeom prst="rect">
            <a:avLst/>
          </a:prstGeom>
        </p:spPr>
      </p:pic>
      <p:sp>
        <p:nvSpPr>
          <p:cNvPr id="14" name="Text 9"/>
          <p:cNvSpPr txBox="1"/>
          <p:nvPr/>
        </p:nvSpPr>
        <p:spPr>
          <a:xfrm>
            <a:off x="2523744" y="3246120"/>
            <a:ext cx="1627632" cy="274320"/>
          </a:xfrm>
          <a:prstGeom prst="rect">
            <a:avLst/>
          </a:prstGeom>
          <a:noFill/>
          <a:ln/>
        </p:spPr>
        <p:txBody>
          <a:bodyPr wrap="square" lIns="0" tIns="0" rIns="0" bIns="0" rtlCol="0" anchor="t"/>
          <a:lstStyle/>
          <a:p>
            <a:pPr algn="ctr" indent="0" marL="0">
              <a:buNone/>
            </a:pPr>
            <a:r>
              <a:rPr lang="en-US" sz="1100" b="1" spc="200" kern="0" dirty="0">
                <a:solidFill>
                  <a:schemeClr val="accent1"/>
                </a:solidFill>
              </a:rPr>
              <a:t>02</a:t>
            </a:r>
            <a:endParaRPr lang="en-US" sz="1100" dirty="0"/>
          </a:p>
        </p:txBody>
      </p:sp>
      <p:sp>
        <p:nvSpPr>
          <p:cNvPr id="15" name="Text 10"/>
          <p:cNvSpPr txBox="1"/>
          <p:nvPr/>
        </p:nvSpPr>
        <p:spPr>
          <a:xfrm>
            <a:off x="2523744" y="3520440"/>
            <a:ext cx="1627632" cy="411480"/>
          </a:xfrm>
          <a:prstGeom prst="rect">
            <a:avLst/>
          </a:prstGeom>
          <a:noFill/>
          <a:ln/>
        </p:spPr>
        <p:txBody>
          <a:bodyPr wrap="square" lIns="0" tIns="0" rIns="0" bIns="0" rtlCol="0" anchor="t"/>
          <a:lstStyle/>
          <a:p>
            <a:pPr algn="ctr" indent="0" marL="0">
              <a:buNone/>
            </a:pPr>
            <a:r>
              <a:rPr lang="en-US" sz="2000" b="1" dirty="0">
                <a:solidFill>
                  <a:schemeClr val="tx1"/>
                </a:solidFill>
                <a:latin typeface="Cambria" pitchFamily="34" charset="0"/>
                <a:ea typeface="Cambria" pitchFamily="34" charset="-122"/>
                <a:cs typeface="Cambria" pitchFamily="34" charset="-120"/>
              </a:rPr>
              <a:t>Pause</a:t>
            </a:r>
            <a:endParaRPr lang="en-US" sz="2000" dirty="0"/>
          </a:p>
        </p:txBody>
      </p:sp>
      <p:sp>
        <p:nvSpPr>
          <p:cNvPr id="16" name="Text 11"/>
          <p:cNvSpPr txBox="1"/>
          <p:nvPr/>
        </p:nvSpPr>
        <p:spPr>
          <a:xfrm>
            <a:off x="2569464" y="3977640"/>
            <a:ext cx="1536192" cy="1097280"/>
          </a:xfrm>
          <a:prstGeom prst="rect">
            <a:avLst/>
          </a:prstGeom>
          <a:noFill/>
          <a:ln/>
        </p:spPr>
        <p:txBody>
          <a:bodyPr wrap="square" lIns="0" tIns="0" rIns="0" bIns="0" rtlCol="0" anchor="t"/>
          <a:lstStyle/>
          <a:p>
            <a:pPr algn="ctr" indent="0" marL="0">
              <a:buNone/>
            </a:pPr>
            <a:r>
              <a:rPr lang="en-US" sz="1250" dirty="0">
                <a:solidFill>
                  <a:schemeClr val="tx2"/>
                </a:solidFill>
              </a:rPr>
              <a:t>Don't confront the client, and don't proceed if you can avoid it</a:t>
            </a:r>
            <a:endParaRPr lang="en-US" sz="1250" dirty="0"/>
          </a:p>
        </p:txBody>
      </p:sp>
      <p:sp>
        <p:nvSpPr>
          <p:cNvPr id="17" name="Connector"/>
          <p:cNvSpPr/>
          <p:nvPr/>
        </p:nvSpPr>
        <p:spPr>
          <a:xfrm>
            <a:off x="5559552" y="2606040"/>
            <a:ext cx="1014984" cy="0"/>
          </a:xfrm>
          <a:prstGeom prst="line">
            <a:avLst/>
          </a:prstGeom>
          <a:noFill/>
          <a:ln w="15875">
            <a:solidFill>
              <a:srgbClr val="A9BCC4"/>
            </a:solidFill>
            <a:prstDash val="dash"/>
          </a:ln>
        </p:spPr>
      </p:sp>
      <p:sp>
        <p:nvSpPr>
          <p:cNvPr id="18" name="Icon disc"/>
          <p:cNvSpPr/>
          <p:nvPr/>
        </p:nvSpPr>
        <p:spPr>
          <a:xfrm>
            <a:off x="4754880" y="2194560"/>
            <a:ext cx="822960" cy="822960"/>
          </a:xfrm>
          <a:prstGeom prst="ellipse">
            <a:avLst/>
          </a:prstGeom>
          <a:solidFill>
            <a:schemeClr val="accent1"/>
          </a:solidFill>
          <a:ln/>
        </p:spPr>
      </p:sp>
      <p:pic>
        <p:nvPicPr>
          <p:cNvPr id="19" name="Image 2" descr="PenLine icon">    </p:cNvPr>
          <p:cNvPicPr>
            <a:picLocks noChangeAspect="1"/>
          </p:cNvPicPr>
          <p:nvPr/>
        </p:nvPicPr>
        <p:blipFill>
          <a:blip r:embed="rId3"/>
          <a:stretch>
            <a:fillRect/>
          </a:stretch>
        </p:blipFill>
        <p:spPr>
          <a:xfrm>
            <a:off x="4960620" y="2400300"/>
            <a:ext cx="411480" cy="411480"/>
          </a:xfrm>
          <a:prstGeom prst="rect">
            <a:avLst/>
          </a:prstGeom>
        </p:spPr>
      </p:pic>
      <p:sp>
        <p:nvSpPr>
          <p:cNvPr id="20" name="Text 14"/>
          <p:cNvSpPr txBox="1"/>
          <p:nvPr/>
        </p:nvSpPr>
        <p:spPr>
          <a:xfrm>
            <a:off x="4361688" y="3246120"/>
            <a:ext cx="1627632" cy="274320"/>
          </a:xfrm>
          <a:prstGeom prst="rect">
            <a:avLst/>
          </a:prstGeom>
          <a:noFill/>
          <a:ln/>
        </p:spPr>
        <p:txBody>
          <a:bodyPr wrap="square" lIns="0" tIns="0" rIns="0" bIns="0" rtlCol="0" anchor="t"/>
          <a:lstStyle/>
          <a:p>
            <a:pPr algn="ctr" indent="0" marL="0">
              <a:buNone/>
            </a:pPr>
            <a:r>
              <a:rPr lang="en-US" sz="1100" b="1" spc="200" kern="0" dirty="0">
                <a:solidFill>
                  <a:schemeClr val="accent1"/>
                </a:solidFill>
              </a:rPr>
              <a:t>03</a:t>
            </a:r>
            <a:endParaRPr lang="en-US" sz="1100" dirty="0"/>
          </a:p>
        </p:txBody>
      </p:sp>
      <p:sp>
        <p:nvSpPr>
          <p:cNvPr id="21" name="Text 15"/>
          <p:cNvSpPr txBox="1"/>
          <p:nvPr/>
        </p:nvSpPr>
        <p:spPr>
          <a:xfrm>
            <a:off x="4361688" y="3520440"/>
            <a:ext cx="1627632" cy="411480"/>
          </a:xfrm>
          <a:prstGeom prst="rect">
            <a:avLst/>
          </a:prstGeom>
          <a:noFill/>
          <a:ln/>
        </p:spPr>
        <p:txBody>
          <a:bodyPr wrap="square" lIns="0" tIns="0" rIns="0" bIns="0" rtlCol="0" anchor="t"/>
          <a:lstStyle/>
          <a:p>
            <a:pPr algn="ctr" indent="0" marL="0">
              <a:buNone/>
            </a:pPr>
            <a:r>
              <a:rPr lang="en-US" sz="2000" b="1" dirty="0">
                <a:solidFill>
                  <a:schemeClr val="tx1"/>
                </a:solidFill>
                <a:latin typeface="Cambria" pitchFamily="34" charset="0"/>
                <a:ea typeface="Cambria" pitchFamily="34" charset="-122"/>
                <a:cs typeface="Cambria" pitchFamily="34" charset="-120"/>
              </a:rPr>
              <a:t>Report</a:t>
            </a:r>
            <a:endParaRPr lang="en-US" sz="2000" dirty="0"/>
          </a:p>
        </p:txBody>
      </p:sp>
      <p:sp>
        <p:nvSpPr>
          <p:cNvPr id="22" name="Text 16"/>
          <p:cNvSpPr txBox="1"/>
          <p:nvPr/>
        </p:nvSpPr>
        <p:spPr>
          <a:xfrm>
            <a:off x="4407408" y="3977640"/>
            <a:ext cx="1536192" cy="1097280"/>
          </a:xfrm>
          <a:prstGeom prst="rect">
            <a:avLst/>
          </a:prstGeom>
          <a:noFill/>
          <a:ln/>
        </p:spPr>
        <p:txBody>
          <a:bodyPr wrap="square" lIns="0" tIns="0" rIns="0" bIns="0" rtlCol="0" anchor="t"/>
          <a:lstStyle/>
          <a:p>
            <a:pPr algn="ctr" indent="0" marL="0">
              <a:buNone/>
            </a:pPr>
            <a:r>
              <a:rPr lang="en-US" sz="1250" dirty="0">
                <a:solidFill>
                  <a:schemeClr val="tx2"/>
                </a:solidFill>
              </a:rPr>
              <a:t>In writing to the MLRO, as soon as practicable</a:t>
            </a:r>
            <a:endParaRPr lang="en-US" sz="1250" dirty="0"/>
          </a:p>
        </p:txBody>
      </p:sp>
      <p:sp>
        <p:nvSpPr>
          <p:cNvPr id="23" name="Connector"/>
          <p:cNvSpPr/>
          <p:nvPr/>
        </p:nvSpPr>
        <p:spPr>
          <a:xfrm>
            <a:off x="7397496" y="2606040"/>
            <a:ext cx="1014984" cy="0"/>
          </a:xfrm>
          <a:prstGeom prst="line">
            <a:avLst/>
          </a:prstGeom>
          <a:noFill/>
          <a:ln w="15875">
            <a:solidFill>
              <a:srgbClr val="A9BCC4"/>
            </a:solidFill>
            <a:prstDash val="dash"/>
          </a:ln>
        </p:spPr>
      </p:sp>
      <p:sp>
        <p:nvSpPr>
          <p:cNvPr id="24" name="Icon disc"/>
          <p:cNvSpPr/>
          <p:nvPr/>
        </p:nvSpPr>
        <p:spPr>
          <a:xfrm>
            <a:off x="6592824" y="2194560"/>
            <a:ext cx="822960" cy="822960"/>
          </a:xfrm>
          <a:prstGeom prst="ellipse">
            <a:avLst/>
          </a:prstGeom>
          <a:solidFill>
            <a:schemeClr val="tx1"/>
          </a:solidFill>
          <a:ln/>
        </p:spPr>
      </p:sp>
      <p:pic>
        <p:nvPicPr>
          <p:cNvPr id="25" name="Image 3" descr="Search icon">    </p:cNvPr>
          <p:cNvPicPr>
            <a:picLocks noChangeAspect="1"/>
          </p:cNvPicPr>
          <p:nvPr/>
        </p:nvPicPr>
        <p:blipFill>
          <a:blip r:embed="rId4"/>
          <a:stretch>
            <a:fillRect/>
          </a:stretch>
        </p:blipFill>
        <p:spPr>
          <a:xfrm>
            <a:off x="6798564" y="2400300"/>
            <a:ext cx="411480" cy="411480"/>
          </a:xfrm>
          <a:prstGeom prst="rect">
            <a:avLst/>
          </a:prstGeom>
        </p:spPr>
      </p:pic>
      <p:sp>
        <p:nvSpPr>
          <p:cNvPr id="26" name="Text 19"/>
          <p:cNvSpPr txBox="1"/>
          <p:nvPr/>
        </p:nvSpPr>
        <p:spPr>
          <a:xfrm>
            <a:off x="6199632" y="3246120"/>
            <a:ext cx="1627632" cy="274320"/>
          </a:xfrm>
          <a:prstGeom prst="rect">
            <a:avLst/>
          </a:prstGeom>
          <a:noFill/>
          <a:ln/>
        </p:spPr>
        <p:txBody>
          <a:bodyPr wrap="square" lIns="0" tIns="0" rIns="0" bIns="0" rtlCol="0" anchor="t"/>
          <a:lstStyle/>
          <a:p>
            <a:pPr algn="ctr" indent="0" marL="0">
              <a:buNone/>
            </a:pPr>
            <a:r>
              <a:rPr lang="en-US" sz="1100" b="1" spc="200" kern="0" dirty="0">
                <a:solidFill>
                  <a:schemeClr val="accent4"/>
                </a:solidFill>
              </a:rPr>
              <a:t>04</a:t>
            </a:r>
            <a:endParaRPr lang="en-US" sz="1100" dirty="0"/>
          </a:p>
        </p:txBody>
      </p:sp>
      <p:sp>
        <p:nvSpPr>
          <p:cNvPr id="27" name="Text 20"/>
          <p:cNvSpPr txBox="1"/>
          <p:nvPr/>
        </p:nvSpPr>
        <p:spPr>
          <a:xfrm>
            <a:off x="6199632" y="3520440"/>
            <a:ext cx="1627632" cy="411480"/>
          </a:xfrm>
          <a:prstGeom prst="rect">
            <a:avLst/>
          </a:prstGeom>
          <a:noFill/>
          <a:ln/>
        </p:spPr>
        <p:txBody>
          <a:bodyPr wrap="square" lIns="0" tIns="0" rIns="0" bIns="0" rtlCol="0" anchor="t"/>
          <a:lstStyle/>
          <a:p>
            <a:pPr algn="ctr" indent="0" marL="0">
              <a:buNone/>
            </a:pPr>
            <a:r>
              <a:rPr lang="en-US" sz="2000" b="1" dirty="0">
                <a:solidFill>
                  <a:schemeClr val="tx1"/>
                </a:solidFill>
                <a:latin typeface="Cambria" pitchFamily="34" charset="0"/>
                <a:ea typeface="Cambria" pitchFamily="34" charset="-122"/>
                <a:cs typeface="Cambria" pitchFamily="34" charset="-120"/>
              </a:rPr>
              <a:t>Assess</a:t>
            </a:r>
            <a:endParaRPr lang="en-US" sz="2000" dirty="0"/>
          </a:p>
        </p:txBody>
      </p:sp>
      <p:sp>
        <p:nvSpPr>
          <p:cNvPr id="28" name="Text 21"/>
          <p:cNvSpPr txBox="1"/>
          <p:nvPr/>
        </p:nvSpPr>
        <p:spPr>
          <a:xfrm>
            <a:off x="6245352" y="3977640"/>
            <a:ext cx="1536192" cy="1097280"/>
          </a:xfrm>
          <a:prstGeom prst="rect">
            <a:avLst/>
          </a:prstGeom>
          <a:noFill/>
          <a:ln/>
        </p:spPr>
        <p:txBody>
          <a:bodyPr wrap="square" lIns="0" tIns="0" rIns="0" bIns="0" rtlCol="0" anchor="t"/>
          <a:lstStyle/>
          <a:p>
            <a:pPr algn="ctr" indent="0" marL="0">
              <a:buNone/>
            </a:pPr>
            <a:r>
              <a:rPr lang="en-US" sz="1250" dirty="0">
                <a:solidFill>
                  <a:schemeClr val="tx2"/>
                </a:solidFill>
              </a:rPr>
              <a:t>The MLRO reviews independently and in confidence</a:t>
            </a:r>
            <a:endParaRPr lang="en-US" sz="1250" dirty="0"/>
          </a:p>
        </p:txBody>
      </p:sp>
      <p:sp>
        <p:nvSpPr>
          <p:cNvPr id="29" name="Connector"/>
          <p:cNvSpPr/>
          <p:nvPr/>
        </p:nvSpPr>
        <p:spPr>
          <a:xfrm>
            <a:off x="9235440" y="2606040"/>
            <a:ext cx="1014984" cy="0"/>
          </a:xfrm>
          <a:prstGeom prst="line">
            <a:avLst/>
          </a:prstGeom>
          <a:noFill/>
          <a:ln w="15875">
            <a:solidFill>
              <a:srgbClr val="A9BCC4"/>
            </a:solidFill>
            <a:prstDash val="dash"/>
          </a:ln>
        </p:spPr>
      </p:sp>
      <p:sp>
        <p:nvSpPr>
          <p:cNvPr id="30" name="Icon disc"/>
          <p:cNvSpPr/>
          <p:nvPr/>
        </p:nvSpPr>
        <p:spPr>
          <a:xfrm>
            <a:off x="8430768" y="2194560"/>
            <a:ext cx="822960" cy="822960"/>
          </a:xfrm>
          <a:prstGeom prst="ellipse">
            <a:avLst/>
          </a:prstGeom>
          <a:solidFill>
            <a:schemeClr val="tx1"/>
          </a:solidFill>
          <a:ln/>
        </p:spPr>
      </p:sp>
      <p:pic>
        <p:nvPicPr>
          <p:cNvPr id="31" name="Image 4" descr="Mail icon">    </p:cNvPr>
          <p:cNvPicPr>
            <a:picLocks noChangeAspect="1"/>
          </p:cNvPicPr>
          <p:nvPr/>
        </p:nvPicPr>
        <p:blipFill>
          <a:blip r:embed="rId5"/>
          <a:stretch>
            <a:fillRect/>
          </a:stretch>
        </p:blipFill>
        <p:spPr>
          <a:xfrm>
            <a:off x="8636508" y="2400300"/>
            <a:ext cx="411480" cy="411480"/>
          </a:xfrm>
          <a:prstGeom prst="rect">
            <a:avLst/>
          </a:prstGeom>
        </p:spPr>
      </p:pic>
      <p:sp>
        <p:nvSpPr>
          <p:cNvPr id="32" name="Text 24"/>
          <p:cNvSpPr txBox="1"/>
          <p:nvPr/>
        </p:nvSpPr>
        <p:spPr>
          <a:xfrm>
            <a:off x="8037576" y="3246120"/>
            <a:ext cx="1627632" cy="274320"/>
          </a:xfrm>
          <a:prstGeom prst="rect">
            <a:avLst/>
          </a:prstGeom>
          <a:noFill/>
          <a:ln/>
        </p:spPr>
        <p:txBody>
          <a:bodyPr wrap="square" lIns="0" tIns="0" rIns="0" bIns="0" rtlCol="0" anchor="t"/>
          <a:lstStyle/>
          <a:p>
            <a:pPr algn="ctr" indent="0" marL="0">
              <a:buNone/>
            </a:pPr>
            <a:r>
              <a:rPr lang="en-US" sz="1100" b="1" spc="200" kern="0" dirty="0">
                <a:solidFill>
                  <a:schemeClr val="accent4"/>
                </a:solidFill>
              </a:rPr>
              <a:t>05</a:t>
            </a:r>
            <a:endParaRPr lang="en-US" sz="1100" dirty="0"/>
          </a:p>
        </p:txBody>
      </p:sp>
      <p:sp>
        <p:nvSpPr>
          <p:cNvPr id="33" name="Text 25"/>
          <p:cNvSpPr txBox="1"/>
          <p:nvPr/>
        </p:nvSpPr>
        <p:spPr>
          <a:xfrm>
            <a:off x="8037576" y="3520440"/>
            <a:ext cx="1627632" cy="411480"/>
          </a:xfrm>
          <a:prstGeom prst="rect">
            <a:avLst/>
          </a:prstGeom>
          <a:noFill/>
          <a:ln/>
        </p:spPr>
        <p:txBody>
          <a:bodyPr wrap="square" lIns="0" tIns="0" rIns="0" bIns="0" rtlCol="0" anchor="t"/>
          <a:lstStyle/>
          <a:p>
            <a:pPr algn="ctr" indent="0" marL="0">
              <a:buNone/>
            </a:pPr>
            <a:r>
              <a:rPr lang="en-US" sz="2000" b="1" dirty="0">
                <a:solidFill>
                  <a:schemeClr val="tx1"/>
                </a:solidFill>
                <a:latin typeface="Cambria" pitchFamily="34" charset="0"/>
                <a:ea typeface="Cambria" pitchFamily="34" charset="-122"/>
                <a:cs typeface="Cambria" pitchFamily="34" charset="-120"/>
              </a:rPr>
              <a:t>Disclose</a:t>
            </a:r>
            <a:endParaRPr lang="en-US" sz="2000" dirty="0"/>
          </a:p>
        </p:txBody>
      </p:sp>
      <p:sp>
        <p:nvSpPr>
          <p:cNvPr id="34" name="Text 26"/>
          <p:cNvSpPr txBox="1"/>
          <p:nvPr/>
        </p:nvSpPr>
        <p:spPr>
          <a:xfrm>
            <a:off x="8083296" y="3977640"/>
            <a:ext cx="1536192" cy="1097280"/>
          </a:xfrm>
          <a:prstGeom prst="rect">
            <a:avLst/>
          </a:prstGeom>
          <a:noFill/>
          <a:ln/>
        </p:spPr>
        <p:txBody>
          <a:bodyPr wrap="square" lIns="0" tIns="0" rIns="0" bIns="0" rtlCol="0" anchor="t"/>
          <a:lstStyle/>
          <a:p>
            <a:pPr algn="ctr" indent="0" marL="0">
              <a:buNone/>
            </a:pPr>
            <a:r>
              <a:rPr lang="en-US" sz="1250" dirty="0">
                <a:solidFill>
                  <a:schemeClr val="tx2"/>
                </a:solidFill>
              </a:rPr>
              <a:t>The MLRO files a SAR with the FIA where appropriate</a:t>
            </a:r>
            <a:endParaRPr lang="en-US" sz="1250" dirty="0"/>
          </a:p>
        </p:txBody>
      </p:sp>
      <p:sp>
        <p:nvSpPr>
          <p:cNvPr id="35" name="Icon disc"/>
          <p:cNvSpPr/>
          <p:nvPr/>
        </p:nvSpPr>
        <p:spPr>
          <a:xfrm>
            <a:off x="10268712" y="2194560"/>
            <a:ext cx="822960" cy="822960"/>
          </a:xfrm>
          <a:prstGeom prst="ellipse">
            <a:avLst/>
          </a:prstGeom>
          <a:solidFill>
            <a:schemeClr val="tx1"/>
          </a:solidFill>
          <a:ln/>
        </p:spPr>
      </p:sp>
      <p:pic>
        <p:nvPicPr>
          <p:cNvPr id="36" name="Image 5" descr="CircleCheck icon">    </p:cNvPr>
          <p:cNvPicPr>
            <a:picLocks noChangeAspect="1"/>
          </p:cNvPicPr>
          <p:nvPr/>
        </p:nvPicPr>
        <p:blipFill>
          <a:blip r:embed="rId6"/>
          <a:stretch>
            <a:fillRect/>
          </a:stretch>
        </p:blipFill>
        <p:spPr>
          <a:xfrm>
            <a:off x="10474452" y="2400300"/>
            <a:ext cx="411480" cy="411480"/>
          </a:xfrm>
          <a:prstGeom prst="rect">
            <a:avLst/>
          </a:prstGeom>
        </p:spPr>
      </p:pic>
      <p:sp>
        <p:nvSpPr>
          <p:cNvPr id="37" name="Text 28"/>
          <p:cNvSpPr txBox="1"/>
          <p:nvPr/>
        </p:nvSpPr>
        <p:spPr>
          <a:xfrm>
            <a:off x="9875520" y="3246120"/>
            <a:ext cx="1627632" cy="274320"/>
          </a:xfrm>
          <a:prstGeom prst="rect">
            <a:avLst/>
          </a:prstGeom>
          <a:noFill/>
          <a:ln/>
        </p:spPr>
        <p:txBody>
          <a:bodyPr wrap="square" lIns="0" tIns="0" rIns="0" bIns="0" rtlCol="0" anchor="t"/>
          <a:lstStyle/>
          <a:p>
            <a:pPr algn="ctr" indent="0" marL="0">
              <a:buNone/>
            </a:pPr>
            <a:r>
              <a:rPr lang="en-US" sz="1100" b="1" spc="200" kern="0" dirty="0">
                <a:solidFill>
                  <a:schemeClr val="accent4"/>
                </a:solidFill>
              </a:rPr>
              <a:t>06</a:t>
            </a:r>
            <a:endParaRPr lang="en-US" sz="1100" dirty="0"/>
          </a:p>
        </p:txBody>
      </p:sp>
      <p:sp>
        <p:nvSpPr>
          <p:cNvPr id="38" name="Text 29"/>
          <p:cNvSpPr txBox="1"/>
          <p:nvPr/>
        </p:nvSpPr>
        <p:spPr>
          <a:xfrm>
            <a:off x="9875520" y="3520440"/>
            <a:ext cx="1627632" cy="411480"/>
          </a:xfrm>
          <a:prstGeom prst="rect">
            <a:avLst/>
          </a:prstGeom>
          <a:noFill/>
          <a:ln/>
        </p:spPr>
        <p:txBody>
          <a:bodyPr wrap="square" lIns="0" tIns="0" rIns="0" bIns="0" rtlCol="0" anchor="t"/>
          <a:lstStyle/>
          <a:p>
            <a:pPr algn="ctr" indent="0" marL="0">
              <a:buNone/>
            </a:pPr>
            <a:r>
              <a:rPr lang="en-US" sz="2000" b="1" dirty="0">
                <a:solidFill>
                  <a:schemeClr val="tx1"/>
                </a:solidFill>
                <a:latin typeface="Cambria" pitchFamily="34" charset="0"/>
                <a:ea typeface="Cambria" pitchFamily="34" charset="-122"/>
                <a:cs typeface="Cambria" pitchFamily="34" charset="-120"/>
              </a:rPr>
              <a:t>Act</a:t>
            </a:r>
            <a:endParaRPr lang="en-US" sz="2000" dirty="0"/>
          </a:p>
        </p:txBody>
      </p:sp>
      <p:sp>
        <p:nvSpPr>
          <p:cNvPr id="39" name="Text 30"/>
          <p:cNvSpPr txBox="1"/>
          <p:nvPr/>
        </p:nvSpPr>
        <p:spPr>
          <a:xfrm>
            <a:off x="9921240" y="3977640"/>
            <a:ext cx="1536192" cy="1097280"/>
          </a:xfrm>
          <a:prstGeom prst="rect">
            <a:avLst/>
          </a:prstGeom>
          <a:noFill/>
          <a:ln/>
        </p:spPr>
        <p:txBody>
          <a:bodyPr wrap="square" lIns="0" tIns="0" rIns="0" bIns="0" rtlCol="0" anchor="t"/>
          <a:lstStyle/>
          <a:p>
            <a:pPr algn="ctr" indent="0" marL="0">
              <a:buNone/>
            </a:pPr>
            <a:r>
              <a:rPr lang="en-US" sz="1250" dirty="0">
                <a:solidFill>
                  <a:schemeClr val="tx2"/>
                </a:solidFill>
              </a:rPr>
              <a:t>Follow the MLRO's instructions on next steps</a:t>
            </a:r>
            <a:endParaRPr lang="en-US" sz="1250" dirty="0"/>
          </a:p>
        </p:txBody>
      </p:sp>
      <p:sp>
        <p:nvSpPr>
          <p:cNvPr id="40" name="You pill"/>
          <p:cNvSpPr/>
          <p:nvPr/>
        </p:nvSpPr>
        <p:spPr>
          <a:xfrm>
            <a:off x="685800" y="5349240"/>
            <a:ext cx="5349240" cy="502920"/>
          </a:xfrm>
          <a:prstGeom prst="roundRect">
            <a:avLst>
              <a:gd name="adj" fmla="val 49091"/>
            </a:avLst>
          </a:prstGeom>
          <a:solidFill>
            <a:schemeClr val="bg2"/>
          </a:solidFill>
          <a:ln/>
        </p:spPr>
      </p:sp>
      <p:sp>
        <p:nvSpPr>
          <p:cNvPr id="41" name="Text 32"/>
          <p:cNvSpPr txBox="1"/>
          <p:nvPr/>
        </p:nvSpPr>
        <p:spPr>
          <a:xfrm>
            <a:off x="685800" y="5349240"/>
            <a:ext cx="5349240" cy="502920"/>
          </a:xfrm>
          <a:prstGeom prst="rect">
            <a:avLst/>
          </a:prstGeom>
          <a:noFill/>
          <a:ln/>
        </p:spPr>
        <p:txBody>
          <a:bodyPr wrap="square" lIns="0" tIns="0" rIns="0" bIns="0" rtlCol="0" anchor="ctr"/>
          <a:lstStyle/>
          <a:p>
            <a:pPr algn="ctr" indent="0" marL="0">
              <a:buNone/>
            </a:pPr>
            <a:r>
              <a:rPr lang="en-US" sz="1100" b="1" spc="300" kern="0" dirty="0">
                <a:solidFill>
                  <a:schemeClr val="accent1"/>
                </a:solidFill>
              </a:rPr>
              <a:t>YOUR ROLE: STEPS 1–3</a:t>
            </a:r>
            <a:endParaRPr lang="en-US" sz="1100" dirty="0"/>
          </a:p>
        </p:txBody>
      </p:sp>
      <p:sp>
        <p:nvSpPr>
          <p:cNvPr id="42" name="MLRO pill"/>
          <p:cNvSpPr/>
          <p:nvPr/>
        </p:nvSpPr>
        <p:spPr>
          <a:xfrm>
            <a:off x="6153912" y="5349240"/>
            <a:ext cx="5349240" cy="502920"/>
          </a:xfrm>
          <a:prstGeom prst="roundRect">
            <a:avLst>
              <a:gd name="adj" fmla="val 49091"/>
            </a:avLst>
          </a:prstGeom>
          <a:solidFill>
            <a:schemeClr val="bg2"/>
          </a:solidFill>
          <a:ln/>
        </p:spPr>
      </p:sp>
      <p:sp>
        <p:nvSpPr>
          <p:cNvPr id="43" name="Text 34"/>
          <p:cNvSpPr txBox="1"/>
          <p:nvPr/>
        </p:nvSpPr>
        <p:spPr>
          <a:xfrm>
            <a:off x="6153912" y="5349240"/>
            <a:ext cx="5349240" cy="502920"/>
          </a:xfrm>
          <a:prstGeom prst="rect">
            <a:avLst/>
          </a:prstGeom>
          <a:noFill/>
          <a:ln/>
        </p:spPr>
        <p:txBody>
          <a:bodyPr wrap="square" lIns="0" tIns="0" rIns="0" bIns="0" rtlCol="0" anchor="ctr"/>
          <a:lstStyle/>
          <a:p>
            <a:pPr algn="ctr" indent="0" marL="0">
              <a:buNone/>
            </a:pPr>
            <a:r>
              <a:rPr lang="en-US" sz="1100" b="1" spc="300" kern="0" dirty="0">
                <a:solidFill>
                  <a:schemeClr val="tx2"/>
                </a:solidFill>
              </a:rPr>
              <a:t>THE MLRO'S ROLE: STEPS 4–6</a:t>
            </a:r>
            <a:endParaRPr lang="en-US" sz="11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5"/>
                </a:solidFill>
              </a:rPr>
              <a:t>06 · SPEAKING UP</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bg1"/>
                </a:solidFill>
                <a:latin typeface="Cambria" pitchFamily="34" charset="0"/>
                <a:ea typeface="Cambria" pitchFamily="34" charset="-122"/>
                <a:cs typeface="Cambria" pitchFamily="34" charset="-120"/>
              </a:rPr>
              <a:t> </a:t>
            </a:r>
            <a:endParaRPr lang="en-US" sz="3400" dirty="0"/>
          </a:p>
        </p:txBody>
      </p:sp>
      <p:sp>
        <p:nvSpPr>
          <p:cNvPr id="5" name="Text 2"/>
          <p:cNvSpPr txBox="1"/>
          <p:nvPr/>
        </p:nvSpPr>
        <p:spPr>
          <a:xfrm>
            <a:off x="685800" y="1417320"/>
            <a:ext cx="7315200" cy="1188720"/>
          </a:xfrm>
          <a:prstGeom prst="rect">
            <a:avLst/>
          </a:prstGeom>
          <a:noFill/>
          <a:ln/>
        </p:spPr>
        <p:txBody>
          <a:bodyPr wrap="square" lIns="0" tIns="0" rIns="0" bIns="0" rtlCol="0" anchor="t"/>
          <a:lstStyle/>
          <a:p>
            <a:pPr indent="0" marL="0">
              <a:buNone/>
            </a:pPr>
            <a:r>
              <a:rPr lang="en-US" sz="7200" dirty="0">
                <a:solidFill>
                  <a:schemeClr val="bg1"/>
                </a:solidFill>
                <a:latin typeface="Cambria" pitchFamily="34" charset="0"/>
                <a:ea typeface="Cambria" pitchFamily="34" charset="-122"/>
                <a:cs typeface="Cambria" pitchFamily="34" charset="-120"/>
              </a:rPr>
              <a:t>Never tip off.</a:t>
            </a:r>
            <a:endParaRPr lang="en-US" sz="7200" dirty="0"/>
          </a:p>
        </p:txBody>
      </p:sp>
      <p:sp>
        <p:nvSpPr>
          <p:cNvPr id="6" name="Text 3"/>
          <p:cNvSpPr txBox="1"/>
          <p:nvPr/>
        </p:nvSpPr>
        <p:spPr>
          <a:xfrm>
            <a:off x="685800" y="2697480"/>
            <a:ext cx="5852160" cy="1280160"/>
          </a:xfrm>
          <a:prstGeom prst="rect">
            <a:avLst/>
          </a:prstGeom>
          <a:noFill/>
          <a:ln/>
        </p:spPr>
        <p:txBody>
          <a:bodyPr wrap="square" lIns="0" tIns="0" rIns="0" bIns="0" rtlCol="0" anchor="t"/>
          <a:lstStyle/>
          <a:p>
            <a:pPr indent="0" marL="0">
              <a:lnSpc>
                <a:spcPct val="112000"/>
              </a:lnSpc>
              <a:buNone/>
            </a:pPr>
            <a:r>
              <a:rPr lang="en-US" sz="1900" dirty="0">
                <a:solidFill>
                  <a:schemeClr val="accent6"/>
                </a:solidFill>
              </a:rPr>
              <a:t>Once you suspect something, don't say or do anything that could alert the client, or anyone else, that a report has been made or is being considered.</a:t>
            </a:r>
            <a:endParaRPr lang="en-US" sz="1900" dirty="0"/>
          </a:p>
        </p:txBody>
      </p:sp>
      <p:sp>
        <p:nvSpPr>
          <p:cNvPr id="7" name="Don't say card"/>
          <p:cNvSpPr/>
          <p:nvPr/>
        </p:nvSpPr>
        <p:spPr>
          <a:xfrm>
            <a:off x="7223760" y="1600200"/>
            <a:ext cx="4279392" cy="1874520"/>
          </a:xfrm>
          <a:prstGeom prst="roundRect">
            <a:avLst>
              <a:gd name="adj" fmla="val 5854"/>
            </a:avLst>
          </a:prstGeom>
          <a:solidFill>
            <a:schemeClr val="tx2"/>
          </a:solidFill>
          <a:ln/>
          <a:effectLst>
            <a:outerShdw sx="100000" sy="100000" kx="0" ky="0" algn="bl" rotWithShape="0" blurRad="177800" dist="38100" dir="5400000">
              <a:srgbClr val="0B1F2A">
                <a:alpha val="10000"/>
              </a:srgbClr>
            </a:outerShdw>
          </a:effectLst>
        </p:spPr>
      </p:sp>
      <p:sp>
        <p:nvSpPr>
          <p:cNvPr id="8" name="Text 5"/>
          <p:cNvSpPr txBox="1"/>
          <p:nvPr/>
        </p:nvSpPr>
        <p:spPr>
          <a:xfrm>
            <a:off x="7543800" y="1828800"/>
            <a:ext cx="2743200" cy="274320"/>
          </a:xfrm>
          <a:prstGeom prst="rect">
            <a:avLst/>
          </a:prstGeom>
          <a:noFill/>
          <a:ln/>
        </p:spPr>
        <p:txBody>
          <a:bodyPr wrap="square" lIns="0" tIns="0" rIns="0" bIns="0" rtlCol="0" anchor="t"/>
          <a:lstStyle/>
          <a:p>
            <a:pPr indent="0" marL="0">
              <a:buNone/>
            </a:pPr>
            <a:r>
              <a:rPr lang="en-US" sz="1000" b="1" spc="300" kern="0" dirty="0">
                <a:solidFill>
                  <a:schemeClr val="accent2"/>
                </a:solidFill>
              </a:rPr>
              <a:t>DON'T SAY</a:t>
            </a:r>
            <a:endParaRPr lang="en-US" sz="1000" dirty="0"/>
          </a:p>
        </p:txBody>
      </p:sp>
      <p:sp>
        <p:nvSpPr>
          <p:cNvPr id="9" name="Text 6"/>
          <p:cNvSpPr txBox="1"/>
          <p:nvPr/>
        </p:nvSpPr>
        <p:spPr>
          <a:xfrm>
            <a:off x="7543800" y="2148840"/>
            <a:ext cx="3657600" cy="1188720"/>
          </a:xfrm>
          <a:prstGeom prst="rect">
            <a:avLst/>
          </a:prstGeom>
          <a:noFill/>
          <a:ln/>
        </p:spPr>
        <p:txBody>
          <a:bodyPr wrap="square" lIns="0" tIns="0" rIns="0" bIns="0" rtlCol="0" anchor="t"/>
          <a:lstStyle/>
          <a:p>
            <a:pPr indent="0" marL="0">
              <a:buNone/>
            </a:pPr>
            <a:r>
              <a:rPr lang="en-US" sz="1600" i="1" dirty="0">
                <a:solidFill>
                  <a:schemeClr val="bg1"/>
                </a:solidFill>
                <a:latin typeface="Cambria" pitchFamily="34" charset="0"/>
                <a:ea typeface="Cambria" pitchFamily="34" charset="-122"/>
                <a:cs typeface="Cambria" pitchFamily="34" charset="-120"/>
              </a:rPr>
              <a:t>"Compliance has some concerns about your funds, so we've had to report it."</a:t>
            </a:r>
            <a:endParaRPr lang="en-US" sz="1600" dirty="0"/>
          </a:p>
        </p:txBody>
      </p:sp>
      <p:sp>
        <p:nvSpPr>
          <p:cNvPr id="10" name="Do say card"/>
          <p:cNvSpPr/>
          <p:nvPr/>
        </p:nvSpPr>
        <p:spPr>
          <a:xfrm>
            <a:off x="7223760" y="3703320"/>
            <a:ext cx="4279392" cy="1874520"/>
          </a:xfrm>
          <a:prstGeom prst="roundRect">
            <a:avLst>
              <a:gd name="adj" fmla="val 5854"/>
            </a:avLst>
          </a:prstGeom>
          <a:solidFill>
            <a:schemeClr val="bg1"/>
          </a:solidFill>
          <a:ln/>
          <a:effectLst>
            <a:outerShdw sx="100000" sy="100000" kx="0" ky="0" algn="bl" rotWithShape="0" blurRad="177800" dist="38100" dir="5400000">
              <a:srgbClr val="0B1F2A">
                <a:alpha val="10000"/>
              </a:srgbClr>
            </a:outerShdw>
          </a:effectLst>
        </p:spPr>
      </p:sp>
      <p:sp>
        <p:nvSpPr>
          <p:cNvPr id="11" name="Text 8"/>
          <p:cNvSpPr txBox="1"/>
          <p:nvPr/>
        </p:nvSpPr>
        <p:spPr>
          <a:xfrm>
            <a:off x="7543800" y="3931920"/>
            <a:ext cx="2743200" cy="274320"/>
          </a:xfrm>
          <a:prstGeom prst="rect">
            <a:avLst/>
          </a:prstGeom>
          <a:noFill/>
          <a:ln/>
        </p:spPr>
        <p:txBody>
          <a:bodyPr wrap="square" lIns="0" tIns="0" rIns="0" bIns="0" rtlCol="0" anchor="t"/>
          <a:lstStyle/>
          <a:p>
            <a:pPr indent="0" marL="0">
              <a:buNone/>
            </a:pPr>
            <a:r>
              <a:rPr lang="en-US" sz="1000" b="1" spc="300" kern="0" dirty="0">
                <a:solidFill>
                  <a:schemeClr val="accent1"/>
                </a:solidFill>
              </a:rPr>
              <a:t>DO SAY</a:t>
            </a:r>
            <a:endParaRPr lang="en-US" sz="1000" dirty="0"/>
          </a:p>
        </p:txBody>
      </p:sp>
      <p:sp>
        <p:nvSpPr>
          <p:cNvPr id="12" name="Text 9"/>
          <p:cNvSpPr txBox="1"/>
          <p:nvPr/>
        </p:nvSpPr>
        <p:spPr>
          <a:xfrm>
            <a:off x="7543800" y="4251960"/>
            <a:ext cx="3657600" cy="1188720"/>
          </a:xfrm>
          <a:prstGeom prst="rect">
            <a:avLst/>
          </a:prstGeom>
          <a:noFill/>
          <a:ln/>
        </p:spPr>
        <p:txBody>
          <a:bodyPr wrap="square" lIns="0" tIns="0" rIns="0" bIns="0" rtlCol="0" anchor="t"/>
          <a:lstStyle/>
          <a:p>
            <a:pPr indent="0" marL="0">
              <a:buNone/>
            </a:pPr>
            <a:r>
              <a:rPr lang="en-US" sz="1600" i="1" dirty="0">
                <a:solidFill>
                  <a:schemeClr val="tx1"/>
                </a:solidFill>
                <a:latin typeface="Cambria" pitchFamily="34" charset="0"/>
                <a:ea typeface="Cambria" pitchFamily="34" charset="-122"/>
                <a:cs typeface="Cambria" pitchFamily="34" charset="-120"/>
              </a:rPr>
              <a:t>"We're completing our standard onboarding procedures and will be in touch as soon as we can."</a:t>
            </a:r>
            <a:endParaRPr lang="en-US" sz="1600" dirty="0"/>
          </a:p>
        </p:txBody>
      </p:sp>
      <p:sp>
        <p:nvSpPr>
          <p:cNvPr id="13" name="Text 10"/>
          <p:cNvSpPr txBox="1"/>
          <p:nvPr/>
        </p:nvSpPr>
        <p:spPr>
          <a:xfrm>
            <a:off x="685800" y="4343400"/>
            <a:ext cx="5852160" cy="365760"/>
          </a:xfrm>
          <a:prstGeom prst="rect">
            <a:avLst/>
          </a:prstGeom>
          <a:noFill/>
          <a:ln/>
        </p:spPr>
        <p:txBody>
          <a:bodyPr wrap="square" lIns="0" tIns="0" rIns="0" bIns="0" rtlCol="0" anchor="t"/>
          <a:lstStyle/>
          <a:p>
            <a:pPr indent="0" marL="0">
              <a:buNone/>
            </a:pPr>
            <a:r>
              <a:rPr lang="en-US" sz="1500" b="1" dirty="0">
                <a:solidFill>
                  <a:schemeClr val="accent5"/>
                </a:solidFill>
              </a:rPr>
              <a:t>Unsure what to say? Ask the MLRO before you reply.</a:t>
            </a:r>
            <a:endParaRPr lang="en-US" sz="15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06 · SPEAKING UP</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If it isn't recorded, it didn't happen</a:t>
            </a:r>
            <a:endParaRPr lang="en-US" sz="3400" dirty="0"/>
          </a:p>
        </p:txBody>
      </p:sp>
      <p:sp>
        <p:nvSpPr>
          <p:cNvPr id="5" name="Text 2"/>
          <p:cNvSpPr txBox="1"/>
          <p:nvPr/>
        </p:nvSpPr>
        <p:spPr>
          <a:xfrm>
            <a:off x="685800" y="1737360"/>
            <a:ext cx="2011680" cy="2286000"/>
          </a:xfrm>
          <a:prstGeom prst="rect">
            <a:avLst/>
          </a:prstGeom>
          <a:noFill/>
          <a:ln/>
        </p:spPr>
        <p:txBody>
          <a:bodyPr wrap="square" lIns="0" tIns="0" rIns="0" bIns="0" rtlCol="0" anchor="t"/>
          <a:lstStyle/>
          <a:p>
            <a:pPr indent="0" marL="0">
              <a:buNone/>
            </a:pPr>
            <a:r>
              <a:rPr lang="en-US" sz="18000" dirty="0">
                <a:solidFill>
                  <a:schemeClr val="accent1"/>
                </a:solidFill>
                <a:latin typeface="Cambria" pitchFamily="34" charset="0"/>
                <a:ea typeface="Cambria" pitchFamily="34" charset="-122"/>
                <a:cs typeface="Cambria" pitchFamily="34" charset="-120"/>
              </a:rPr>
              <a:t>5</a:t>
            </a:r>
            <a:endParaRPr lang="en-US" sz="18000" dirty="0"/>
          </a:p>
        </p:txBody>
      </p:sp>
      <p:sp>
        <p:nvSpPr>
          <p:cNvPr id="6" name="Text 3"/>
          <p:cNvSpPr txBox="1"/>
          <p:nvPr/>
        </p:nvSpPr>
        <p:spPr>
          <a:xfrm>
            <a:off x="777240" y="4069080"/>
            <a:ext cx="347472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years minimum</a:t>
            </a:r>
            <a:endParaRPr lang="en-US" sz="2400" dirty="0"/>
          </a:p>
        </p:txBody>
      </p:sp>
      <p:sp>
        <p:nvSpPr>
          <p:cNvPr id="7" name="Text 4"/>
          <p:cNvSpPr txBox="1"/>
          <p:nvPr/>
        </p:nvSpPr>
        <p:spPr>
          <a:xfrm>
            <a:off x="777240" y="4572000"/>
            <a:ext cx="3566160" cy="1097280"/>
          </a:xfrm>
          <a:prstGeom prst="rect">
            <a:avLst/>
          </a:prstGeom>
          <a:noFill/>
          <a:ln/>
        </p:spPr>
        <p:txBody>
          <a:bodyPr wrap="square" lIns="0" tIns="0" rIns="0" bIns="0" rtlCol="0" anchor="t"/>
          <a:lstStyle/>
          <a:p>
            <a:pPr indent="0" marL="0">
              <a:buNone/>
            </a:pPr>
            <a:r>
              <a:rPr lang="en-US" sz="1400" dirty="0">
                <a:solidFill>
                  <a:schemeClr val="tx2"/>
                </a:solidFill>
              </a:rPr>
              <a:t>from the end of the business relationship or completion of the occasional transaction, or longer if directed.</a:t>
            </a:r>
            <a:endParaRPr lang="en-US" sz="1400" dirty="0"/>
          </a:p>
        </p:txBody>
      </p:sp>
      <p:sp>
        <p:nvSpPr>
          <p:cNvPr id="8" name="Record card"/>
          <p:cNvSpPr/>
          <p:nvPr/>
        </p:nvSpPr>
        <p:spPr>
          <a:xfrm>
            <a:off x="4754880" y="1828800"/>
            <a:ext cx="3200400" cy="1965960"/>
          </a:xfrm>
          <a:prstGeom prst="roundRect">
            <a:avLst>
              <a:gd name="adj" fmla="val 5581"/>
            </a:avLst>
          </a:prstGeom>
          <a:solidFill>
            <a:schemeClr val="bg1"/>
          </a:solidFill>
          <a:ln/>
          <a:effectLst>
            <a:outerShdw sx="100000" sy="100000" kx="0" ky="0" algn="bl" rotWithShape="0" blurRad="177800" dist="38100" dir="5400000">
              <a:srgbClr val="0B1F2A">
                <a:alpha val="10000"/>
              </a:srgbClr>
            </a:outerShdw>
          </a:effectLst>
        </p:spPr>
      </p:sp>
      <p:sp>
        <p:nvSpPr>
          <p:cNvPr id="9" name="Icon disc"/>
          <p:cNvSpPr/>
          <p:nvPr/>
        </p:nvSpPr>
        <p:spPr>
          <a:xfrm>
            <a:off x="5029200" y="2103120"/>
            <a:ext cx="548640" cy="548640"/>
          </a:xfrm>
          <a:prstGeom prst="ellipse">
            <a:avLst/>
          </a:prstGeom>
          <a:solidFill>
            <a:schemeClr val="accent1"/>
          </a:solidFill>
          <a:ln/>
        </p:spPr>
      </p:sp>
      <p:pic>
        <p:nvPicPr>
          <p:cNvPr id="10" name="Image 0" descr="Fingerprint icon">    </p:cNvPr>
          <p:cNvPicPr>
            <a:picLocks noChangeAspect="1"/>
          </p:cNvPicPr>
          <p:nvPr/>
        </p:nvPicPr>
        <p:blipFill>
          <a:blip r:embed="rId1"/>
          <a:stretch>
            <a:fillRect/>
          </a:stretch>
        </p:blipFill>
        <p:spPr>
          <a:xfrm>
            <a:off x="5166360" y="2240280"/>
            <a:ext cx="274320" cy="274320"/>
          </a:xfrm>
          <a:prstGeom prst="rect">
            <a:avLst/>
          </a:prstGeom>
        </p:spPr>
      </p:pic>
      <p:sp>
        <p:nvSpPr>
          <p:cNvPr id="11" name="Text 7"/>
          <p:cNvSpPr txBox="1"/>
          <p:nvPr/>
        </p:nvSpPr>
        <p:spPr>
          <a:xfrm>
            <a:off x="5029200" y="2743200"/>
            <a:ext cx="2651760" cy="3474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CDD evidence</a:t>
            </a:r>
            <a:endParaRPr lang="en-US" sz="1700" dirty="0"/>
          </a:p>
        </p:txBody>
      </p:sp>
      <p:sp>
        <p:nvSpPr>
          <p:cNvPr id="12" name="Text 8"/>
          <p:cNvSpPr txBox="1"/>
          <p:nvPr/>
        </p:nvSpPr>
        <p:spPr>
          <a:xfrm>
            <a:off x="5029200" y="3090672"/>
            <a:ext cx="2697480" cy="502920"/>
          </a:xfrm>
          <a:prstGeom prst="rect">
            <a:avLst/>
          </a:prstGeom>
          <a:noFill/>
          <a:ln/>
        </p:spPr>
        <p:txBody>
          <a:bodyPr wrap="square" lIns="0" tIns="0" rIns="0" bIns="0" rtlCol="0" anchor="t"/>
          <a:lstStyle/>
          <a:p>
            <a:pPr indent="0" marL="0">
              <a:buNone/>
            </a:pPr>
            <a:r>
              <a:rPr lang="en-US" sz="1200" dirty="0">
                <a:solidFill>
                  <a:schemeClr val="tx2"/>
                </a:solidFill>
              </a:rPr>
              <a:t>Identity, verification, beneficial ownership, risk assessment</a:t>
            </a:r>
            <a:endParaRPr lang="en-US" sz="1200" dirty="0"/>
          </a:p>
        </p:txBody>
      </p:sp>
      <p:sp>
        <p:nvSpPr>
          <p:cNvPr id="13" name="Record card"/>
          <p:cNvSpPr/>
          <p:nvPr/>
        </p:nvSpPr>
        <p:spPr>
          <a:xfrm>
            <a:off x="8183880" y="1828800"/>
            <a:ext cx="3200400" cy="1965960"/>
          </a:xfrm>
          <a:prstGeom prst="roundRect">
            <a:avLst>
              <a:gd name="adj" fmla="val 5581"/>
            </a:avLst>
          </a:prstGeom>
          <a:solidFill>
            <a:schemeClr val="bg1"/>
          </a:solidFill>
          <a:ln/>
          <a:effectLst>
            <a:outerShdw sx="100000" sy="100000" kx="0" ky="0" algn="bl" rotWithShape="0" blurRad="177800" dist="38100" dir="5400000">
              <a:srgbClr val="0B1F2A">
                <a:alpha val="10000"/>
              </a:srgbClr>
            </a:outerShdw>
          </a:effectLst>
        </p:spPr>
      </p:sp>
      <p:sp>
        <p:nvSpPr>
          <p:cNvPr id="14" name="Icon disc"/>
          <p:cNvSpPr/>
          <p:nvPr/>
        </p:nvSpPr>
        <p:spPr>
          <a:xfrm>
            <a:off x="8458200" y="2103120"/>
            <a:ext cx="548640" cy="548640"/>
          </a:xfrm>
          <a:prstGeom prst="ellipse">
            <a:avLst/>
          </a:prstGeom>
          <a:solidFill>
            <a:schemeClr val="accent1"/>
          </a:solidFill>
          <a:ln/>
        </p:spPr>
      </p:sp>
      <p:pic>
        <p:nvPicPr>
          <p:cNvPr id="15" name="Image 1" descr="FileText icon">    </p:cNvPr>
          <p:cNvPicPr>
            <a:picLocks noChangeAspect="1"/>
          </p:cNvPicPr>
          <p:nvPr/>
        </p:nvPicPr>
        <p:blipFill>
          <a:blip r:embed="rId2"/>
          <a:stretch>
            <a:fillRect/>
          </a:stretch>
        </p:blipFill>
        <p:spPr>
          <a:xfrm>
            <a:off x="8595360" y="2240280"/>
            <a:ext cx="274320" cy="274320"/>
          </a:xfrm>
          <a:prstGeom prst="rect">
            <a:avLst/>
          </a:prstGeom>
        </p:spPr>
      </p:pic>
      <p:sp>
        <p:nvSpPr>
          <p:cNvPr id="16" name="Text 11"/>
          <p:cNvSpPr txBox="1"/>
          <p:nvPr/>
        </p:nvSpPr>
        <p:spPr>
          <a:xfrm>
            <a:off x="8458200" y="2743200"/>
            <a:ext cx="2651760" cy="3474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Transactions</a:t>
            </a:r>
            <a:endParaRPr lang="en-US" sz="1700" dirty="0"/>
          </a:p>
        </p:txBody>
      </p:sp>
      <p:sp>
        <p:nvSpPr>
          <p:cNvPr id="17" name="Text 12"/>
          <p:cNvSpPr txBox="1"/>
          <p:nvPr/>
        </p:nvSpPr>
        <p:spPr>
          <a:xfrm>
            <a:off x="8458200" y="3090672"/>
            <a:ext cx="2697480" cy="502920"/>
          </a:xfrm>
          <a:prstGeom prst="rect">
            <a:avLst/>
          </a:prstGeom>
          <a:noFill/>
          <a:ln/>
        </p:spPr>
        <p:txBody>
          <a:bodyPr wrap="square" lIns="0" tIns="0" rIns="0" bIns="0" rtlCol="0" anchor="t"/>
          <a:lstStyle/>
          <a:p>
            <a:pPr indent="0" marL="0">
              <a:buNone/>
            </a:pPr>
            <a:r>
              <a:rPr lang="en-US" sz="1200" dirty="0">
                <a:solidFill>
                  <a:schemeClr val="tx2"/>
                </a:solidFill>
              </a:rPr>
              <a:t>Enough detail to reconstruct each transaction</a:t>
            </a:r>
            <a:endParaRPr lang="en-US" sz="1200" dirty="0"/>
          </a:p>
        </p:txBody>
      </p:sp>
      <p:sp>
        <p:nvSpPr>
          <p:cNvPr id="18" name="Record card"/>
          <p:cNvSpPr/>
          <p:nvPr/>
        </p:nvSpPr>
        <p:spPr>
          <a:xfrm>
            <a:off x="4754880" y="4023360"/>
            <a:ext cx="3200400" cy="1965960"/>
          </a:xfrm>
          <a:prstGeom prst="roundRect">
            <a:avLst>
              <a:gd name="adj" fmla="val 5581"/>
            </a:avLst>
          </a:prstGeom>
          <a:solidFill>
            <a:schemeClr val="bg1"/>
          </a:solidFill>
          <a:ln/>
          <a:effectLst>
            <a:outerShdw sx="100000" sy="100000" kx="0" ky="0" algn="bl" rotWithShape="0" blurRad="177800" dist="38100" dir="5400000">
              <a:srgbClr val="0B1F2A">
                <a:alpha val="10000"/>
              </a:srgbClr>
            </a:outerShdw>
          </a:effectLst>
        </p:spPr>
      </p:sp>
      <p:sp>
        <p:nvSpPr>
          <p:cNvPr id="19" name="Icon disc"/>
          <p:cNvSpPr/>
          <p:nvPr/>
        </p:nvSpPr>
        <p:spPr>
          <a:xfrm>
            <a:off x="5029200" y="4297680"/>
            <a:ext cx="548640" cy="548640"/>
          </a:xfrm>
          <a:prstGeom prst="ellipse">
            <a:avLst/>
          </a:prstGeom>
          <a:solidFill>
            <a:schemeClr val="accent1"/>
          </a:solidFill>
          <a:ln/>
        </p:spPr>
      </p:sp>
      <p:pic>
        <p:nvPicPr>
          <p:cNvPr id="20" name="Image 2" descr="FileLock icon">    </p:cNvPr>
          <p:cNvPicPr>
            <a:picLocks noChangeAspect="1"/>
          </p:cNvPicPr>
          <p:nvPr/>
        </p:nvPicPr>
        <p:blipFill>
          <a:blip r:embed="rId3"/>
          <a:stretch>
            <a:fillRect/>
          </a:stretch>
        </p:blipFill>
        <p:spPr>
          <a:xfrm>
            <a:off x="5166360" y="4434840"/>
            <a:ext cx="274320" cy="274320"/>
          </a:xfrm>
          <a:prstGeom prst="rect">
            <a:avLst/>
          </a:prstGeom>
        </p:spPr>
      </p:pic>
      <p:sp>
        <p:nvSpPr>
          <p:cNvPr id="21" name="Text 15"/>
          <p:cNvSpPr txBox="1"/>
          <p:nvPr/>
        </p:nvSpPr>
        <p:spPr>
          <a:xfrm>
            <a:off x="5029200" y="4937760"/>
            <a:ext cx="2651760" cy="3474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Reports</a:t>
            </a:r>
            <a:endParaRPr lang="en-US" sz="1700" dirty="0"/>
          </a:p>
        </p:txBody>
      </p:sp>
      <p:sp>
        <p:nvSpPr>
          <p:cNvPr id="22" name="Text 16"/>
          <p:cNvSpPr txBox="1"/>
          <p:nvPr/>
        </p:nvSpPr>
        <p:spPr>
          <a:xfrm>
            <a:off x="5029200" y="5285232"/>
            <a:ext cx="2697480" cy="502920"/>
          </a:xfrm>
          <a:prstGeom prst="rect">
            <a:avLst/>
          </a:prstGeom>
          <a:noFill/>
          <a:ln/>
        </p:spPr>
        <p:txBody>
          <a:bodyPr wrap="square" lIns="0" tIns="0" rIns="0" bIns="0" rtlCol="0" anchor="t"/>
          <a:lstStyle/>
          <a:p>
            <a:pPr indent="0" marL="0">
              <a:buNone/>
            </a:pPr>
            <a:r>
              <a:rPr lang="en-US" sz="1200" dirty="0">
                <a:solidFill>
                  <a:schemeClr val="tx2"/>
                </a:solidFill>
              </a:rPr>
              <a:t>Internal reports, MLRO decisions, SARs filed</a:t>
            </a:r>
            <a:endParaRPr lang="en-US" sz="1200" dirty="0"/>
          </a:p>
        </p:txBody>
      </p:sp>
      <p:sp>
        <p:nvSpPr>
          <p:cNvPr id="23" name="Record card"/>
          <p:cNvSpPr/>
          <p:nvPr/>
        </p:nvSpPr>
        <p:spPr>
          <a:xfrm>
            <a:off x="8183880" y="4023360"/>
            <a:ext cx="3200400" cy="1965960"/>
          </a:xfrm>
          <a:prstGeom prst="roundRect">
            <a:avLst>
              <a:gd name="adj" fmla="val 5581"/>
            </a:avLst>
          </a:prstGeom>
          <a:solidFill>
            <a:schemeClr val="bg1"/>
          </a:solidFill>
          <a:ln/>
          <a:effectLst>
            <a:outerShdw sx="100000" sy="100000" kx="0" ky="0" algn="bl" rotWithShape="0" blurRad="177800" dist="38100" dir="5400000">
              <a:srgbClr val="0B1F2A">
                <a:alpha val="10000"/>
              </a:srgbClr>
            </a:outerShdw>
          </a:effectLst>
        </p:spPr>
      </p:sp>
      <p:sp>
        <p:nvSpPr>
          <p:cNvPr id="24" name="Icon disc"/>
          <p:cNvSpPr/>
          <p:nvPr/>
        </p:nvSpPr>
        <p:spPr>
          <a:xfrm>
            <a:off x="8458200" y="4297680"/>
            <a:ext cx="548640" cy="548640"/>
          </a:xfrm>
          <a:prstGeom prst="ellipse">
            <a:avLst/>
          </a:prstGeom>
          <a:solidFill>
            <a:schemeClr val="accent1"/>
          </a:solidFill>
          <a:ln/>
        </p:spPr>
      </p:sp>
      <p:pic>
        <p:nvPicPr>
          <p:cNvPr id="25" name="Image 3" descr="CalendarCheck icon">    </p:cNvPr>
          <p:cNvPicPr>
            <a:picLocks noChangeAspect="1"/>
          </p:cNvPicPr>
          <p:nvPr/>
        </p:nvPicPr>
        <p:blipFill>
          <a:blip r:embed="rId4"/>
          <a:stretch>
            <a:fillRect/>
          </a:stretch>
        </p:blipFill>
        <p:spPr>
          <a:xfrm>
            <a:off x="8595360" y="4434840"/>
            <a:ext cx="274320" cy="274320"/>
          </a:xfrm>
          <a:prstGeom prst="rect">
            <a:avLst/>
          </a:prstGeom>
        </p:spPr>
      </p:pic>
      <p:sp>
        <p:nvSpPr>
          <p:cNvPr id="26" name="Text 19"/>
          <p:cNvSpPr txBox="1"/>
          <p:nvPr/>
        </p:nvSpPr>
        <p:spPr>
          <a:xfrm>
            <a:off x="8458200" y="4937760"/>
            <a:ext cx="2651760" cy="3474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Training</a:t>
            </a:r>
            <a:endParaRPr lang="en-US" sz="1700" dirty="0"/>
          </a:p>
        </p:txBody>
      </p:sp>
      <p:sp>
        <p:nvSpPr>
          <p:cNvPr id="27" name="Text 20"/>
          <p:cNvSpPr txBox="1"/>
          <p:nvPr/>
        </p:nvSpPr>
        <p:spPr>
          <a:xfrm>
            <a:off x="8458200" y="5285232"/>
            <a:ext cx="2697480" cy="502920"/>
          </a:xfrm>
          <a:prstGeom prst="rect">
            <a:avLst/>
          </a:prstGeom>
          <a:noFill/>
          <a:ln/>
        </p:spPr>
        <p:txBody>
          <a:bodyPr wrap="square" lIns="0" tIns="0" rIns="0" bIns="0" rtlCol="0" anchor="t"/>
          <a:lstStyle/>
          <a:p>
            <a:pPr indent="0" marL="0">
              <a:buNone/>
            </a:pPr>
            <a:r>
              <a:rPr lang="en-US" sz="1200" dirty="0">
                <a:solidFill>
                  <a:schemeClr val="tx2"/>
                </a:solidFill>
              </a:rPr>
              <a:t>Who attended, when, and what was covered</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KNOWLEDGE CHECK</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Five questions before you go</a:t>
            </a:r>
            <a:endParaRPr lang="en-US" sz="3400" dirty="0"/>
          </a:p>
        </p:txBody>
      </p:sp>
      <p:sp>
        <p:nvSpPr>
          <p:cNvPr id="5" name="Question card"/>
          <p:cNvSpPr/>
          <p:nvPr/>
        </p:nvSpPr>
        <p:spPr>
          <a:xfrm>
            <a:off x="685800" y="1810512"/>
            <a:ext cx="10817352" cy="694944"/>
          </a:xfrm>
          <a:prstGeom prst="roundRect">
            <a:avLst>
              <a:gd name="adj" fmla="val 15789"/>
            </a:avLst>
          </a:prstGeom>
          <a:solidFill>
            <a:schemeClr val="bg1"/>
          </a:solidFill>
          <a:ln/>
          <a:effectLst>
            <a:outerShdw sx="100000" sy="100000" kx="0" ky="0" algn="bl" rotWithShape="0" blurRad="177800" dist="38100" dir="5400000">
              <a:srgbClr val="0B1F2A">
                <a:alpha val="10000"/>
              </a:srgbClr>
            </a:outerShdw>
          </a:effectLst>
        </p:spPr>
      </p:sp>
      <p:sp>
        <p:nvSpPr>
          <p:cNvPr id="6" name="Number disc"/>
          <p:cNvSpPr/>
          <p:nvPr/>
        </p:nvSpPr>
        <p:spPr>
          <a:xfrm>
            <a:off x="868680" y="1929384"/>
            <a:ext cx="457200" cy="457200"/>
          </a:xfrm>
          <a:prstGeom prst="ellipse">
            <a:avLst/>
          </a:prstGeom>
          <a:solidFill>
            <a:schemeClr val="accent1"/>
          </a:solidFill>
          <a:ln/>
        </p:spPr>
      </p:sp>
      <p:sp>
        <p:nvSpPr>
          <p:cNvPr id="7" name="Text 4"/>
          <p:cNvSpPr txBox="1"/>
          <p:nvPr/>
        </p:nvSpPr>
        <p:spPr>
          <a:xfrm>
            <a:off x="868680" y="19293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554480" y="1929384"/>
            <a:ext cx="9784080" cy="457200"/>
          </a:xfrm>
          <a:prstGeom prst="rect">
            <a:avLst/>
          </a:prstGeom>
          <a:noFill/>
          <a:ln/>
        </p:spPr>
        <p:txBody>
          <a:bodyPr wrap="square" lIns="0" tIns="0" rIns="0" bIns="0" rtlCol="0" anchor="ctr"/>
          <a:lstStyle/>
          <a:p>
            <a:pPr indent="0" marL="0">
              <a:buNone/>
            </a:pPr>
            <a:r>
              <a:rPr lang="en-US" sz="1600" dirty="0">
                <a:solidFill>
                  <a:schemeClr val="tx1"/>
                </a:solidFill>
              </a:rPr>
              <a:t>A partner says not to worry about a client's odd payment. Is mentioning it to them enough?</a:t>
            </a:r>
            <a:endParaRPr lang="en-US" sz="1600" dirty="0"/>
          </a:p>
        </p:txBody>
      </p:sp>
      <p:sp>
        <p:nvSpPr>
          <p:cNvPr id="9" name="Question card"/>
          <p:cNvSpPr/>
          <p:nvPr/>
        </p:nvSpPr>
        <p:spPr>
          <a:xfrm>
            <a:off x="685800" y="2633472"/>
            <a:ext cx="10817352" cy="694944"/>
          </a:xfrm>
          <a:prstGeom prst="roundRect">
            <a:avLst>
              <a:gd name="adj" fmla="val 15789"/>
            </a:avLst>
          </a:prstGeom>
          <a:solidFill>
            <a:schemeClr val="bg1"/>
          </a:solidFill>
          <a:ln/>
          <a:effectLst>
            <a:outerShdw sx="100000" sy="100000" kx="0" ky="0" algn="bl" rotWithShape="0" blurRad="177800" dist="38100" dir="5400000">
              <a:srgbClr val="0B1F2A">
                <a:alpha val="10000"/>
              </a:srgbClr>
            </a:outerShdw>
          </a:effectLst>
        </p:spPr>
      </p:sp>
      <p:sp>
        <p:nvSpPr>
          <p:cNvPr id="10" name="Number disc"/>
          <p:cNvSpPr/>
          <p:nvPr/>
        </p:nvSpPr>
        <p:spPr>
          <a:xfrm>
            <a:off x="868680" y="2752344"/>
            <a:ext cx="457200" cy="457200"/>
          </a:xfrm>
          <a:prstGeom prst="ellipse">
            <a:avLst/>
          </a:prstGeom>
          <a:solidFill>
            <a:schemeClr val="accent1"/>
          </a:solidFill>
          <a:ln/>
        </p:spPr>
      </p:sp>
      <p:sp>
        <p:nvSpPr>
          <p:cNvPr id="11" name="Text 8"/>
          <p:cNvSpPr txBox="1"/>
          <p:nvPr/>
        </p:nvSpPr>
        <p:spPr>
          <a:xfrm>
            <a:off x="868680" y="27523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554480" y="2752344"/>
            <a:ext cx="9784080" cy="457200"/>
          </a:xfrm>
          <a:prstGeom prst="rect">
            <a:avLst/>
          </a:prstGeom>
          <a:noFill/>
          <a:ln/>
        </p:spPr>
        <p:txBody>
          <a:bodyPr wrap="square" lIns="0" tIns="0" rIns="0" bIns="0" rtlCol="0" anchor="ctr"/>
          <a:lstStyle/>
          <a:p>
            <a:pPr indent="0" marL="0">
              <a:buNone/>
            </a:pPr>
            <a:r>
              <a:rPr lang="en-US" sz="1600" dirty="0">
                <a:solidFill>
                  <a:schemeClr val="tx1"/>
                </a:solidFill>
              </a:rPr>
              <a:t>What's the difference between source of funds and source of wealth?</a:t>
            </a:r>
            <a:endParaRPr lang="en-US" sz="1600" dirty="0"/>
          </a:p>
        </p:txBody>
      </p:sp>
      <p:sp>
        <p:nvSpPr>
          <p:cNvPr id="13" name="Question card"/>
          <p:cNvSpPr/>
          <p:nvPr/>
        </p:nvSpPr>
        <p:spPr>
          <a:xfrm>
            <a:off x="685800" y="3456432"/>
            <a:ext cx="10817352" cy="694944"/>
          </a:xfrm>
          <a:prstGeom prst="roundRect">
            <a:avLst>
              <a:gd name="adj" fmla="val 15789"/>
            </a:avLst>
          </a:prstGeom>
          <a:solidFill>
            <a:schemeClr val="bg1"/>
          </a:solidFill>
          <a:ln/>
          <a:effectLst>
            <a:outerShdw sx="100000" sy="100000" kx="0" ky="0" algn="bl" rotWithShape="0" blurRad="177800" dist="38100" dir="5400000">
              <a:srgbClr val="0B1F2A">
                <a:alpha val="10000"/>
              </a:srgbClr>
            </a:outerShdw>
          </a:effectLst>
        </p:spPr>
      </p:sp>
      <p:sp>
        <p:nvSpPr>
          <p:cNvPr id="14" name="Number disc"/>
          <p:cNvSpPr/>
          <p:nvPr/>
        </p:nvSpPr>
        <p:spPr>
          <a:xfrm>
            <a:off x="868680" y="3575304"/>
            <a:ext cx="457200" cy="457200"/>
          </a:xfrm>
          <a:prstGeom prst="ellipse">
            <a:avLst/>
          </a:prstGeom>
          <a:solidFill>
            <a:schemeClr val="accent1"/>
          </a:solidFill>
          <a:ln/>
        </p:spPr>
      </p:sp>
      <p:sp>
        <p:nvSpPr>
          <p:cNvPr id="15" name="Text 12"/>
          <p:cNvSpPr txBox="1"/>
          <p:nvPr/>
        </p:nvSpPr>
        <p:spPr>
          <a:xfrm>
            <a:off x="868680" y="35753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554480" y="3575304"/>
            <a:ext cx="9784080" cy="457200"/>
          </a:xfrm>
          <a:prstGeom prst="rect">
            <a:avLst/>
          </a:prstGeom>
          <a:noFill/>
          <a:ln/>
        </p:spPr>
        <p:txBody>
          <a:bodyPr wrap="square" lIns="0" tIns="0" rIns="0" bIns="0" rtlCol="0" anchor="ctr"/>
          <a:lstStyle/>
          <a:p>
            <a:pPr indent="0" marL="0">
              <a:buNone/>
            </a:pPr>
            <a:r>
              <a:rPr lang="en-US" sz="1600" dirty="0">
                <a:solidFill>
                  <a:schemeClr val="tx1"/>
                </a:solidFill>
              </a:rPr>
              <a:t>A client asks why their completion is delayed. Can you say compliance is reviewing their funds?</a:t>
            </a:r>
            <a:endParaRPr lang="en-US" sz="1600" dirty="0"/>
          </a:p>
        </p:txBody>
      </p:sp>
      <p:sp>
        <p:nvSpPr>
          <p:cNvPr id="17" name="Question card"/>
          <p:cNvSpPr/>
          <p:nvPr/>
        </p:nvSpPr>
        <p:spPr>
          <a:xfrm>
            <a:off x="685800" y="4279392"/>
            <a:ext cx="10817352" cy="694944"/>
          </a:xfrm>
          <a:prstGeom prst="roundRect">
            <a:avLst>
              <a:gd name="adj" fmla="val 15789"/>
            </a:avLst>
          </a:prstGeom>
          <a:solidFill>
            <a:schemeClr val="bg1"/>
          </a:solidFill>
          <a:ln/>
          <a:effectLst>
            <a:outerShdw sx="100000" sy="100000" kx="0" ky="0" algn="bl" rotWithShape="0" blurRad="177800" dist="38100" dir="5400000">
              <a:srgbClr val="0B1F2A">
                <a:alpha val="10000"/>
              </a:srgbClr>
            </a:outerShdw>
          </a:effectLst>
        </p:spPr>
      </p:sp>
      <p:sp>
        <p:nvSpPr>
          <p:cNvPr id="18" name="Number disc"/>
          <p:cNvSpPr/>
          <p:nvPr/>
        </p:nvSpPr>
        <p:spPr>
          <a:xfrm>
            <a:off x="868680" y="4398264"/>
            <a:ext cx="457200" cy="457200"/>
          </a:xfrm>
          <a:prstGeom prst="ellipse">
            <a:avLst/>
          </a:prstGeom>
          <a:solidFill>
            <a:schemeClr val="accent1"/>
          </a:solidFill>
          <a:ln/>
        </p:spPr>
      </p:sp>
      <p:sp>
        <p:nvSpPr>
          <p:cNvPr id="19" name="Text 16"/>
          <p:cNvSpPr txBox="1"/>
          <p:nvPr/>
        </p:nvSpPr>
        <p:spPr>
          <a:xfrm>
            <a:off x="868680" y="439826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7"/>
          <p:cNvSpPr txBox="1"/>
          <p:nvPr/>
        </p:nvSpPr>
        <p:spPr>
          <a:xfrm>
            <a:off x="1554480" y="4398264"/>
            <a:ext cx="9784080" cy="457200"/>
          </a:xfrm>
          <a:prstGeom prst="rect">
            <a:avLst/>
          </a:prstGeom>
          <a:noFill/>
          <a:ln/>
        </p:spPr>
        <p:txBody>
          <a:bodyPr wrap="square" lIns="0" tIns="0" rIns="0" bIns="0" rtlCol="0" anchor="ctr"/>
          <a:lstStyle/>
          <a:p>
            <a:pPr indent="0" marL="0">
              <a:buNone/>
            </a:pPr>
            <a:r>
              <a:rPr lang="en-US" sz="1600" dirty="0">
                <a:solidFill>
                  <a:schemeClr val="tx1"/>
                </a:solidFill>
              </a:rPr>
              <a:t>Does CDD apply to a small transaction if you suspect money laundering?</a:t>
            </a:r>
            <a:endParaRPr lang="en-US" sz="1600" dirty="0"/>
          </a:p>
        </p:txBody>
      </p:sp>
      <p:sp>
        <p:nvSpPr>
          <p:cNvPr id="21" name="Question card"/>
          <p:cNvSpPr/>
          <p:nvPr/>
        </p:nvSpPr>
        <p:spPr>
          <a:xfrm>
            <a:off x="685800" y="5102352"/>
            <a:ext cx="10817352" cy="694944"/>
          </a:xfrm>
          <a:prstGeom prst="roundRect">
            <a:avLst>
              <a:gd name="adj" fmla="val 15789"/>
            </a:avLst>
          </a:prstGeom>
          <a:solidFill>
            <a:schemeClr val="bg1"/>
          </a:solidFill>
          <a:ln/>
          <a:effectLst>
            <a:outerShdw sx="100000" sy="100000" kx="0" ky="0" algn="bl" rotWithShape="0" blurRad="177800" dist="38100" dir="5400000">
              <a:srgbClr val="0B1F2A">
                <a:alpha val="10000"/>
              </a:srgbClr>
            </a:outerShdw>
          </a:effectLst>
        </p:spPr>
      </p:sp>
      <p:sp>
        <p:nvSpPr>
          <p:cNvPr id="22" name="Number disc"/>
          <p:cNvSpPr/>
          <p:nvPr/>
        </p:nvSpPr>
        <p:spPr>
          <a:xfrm>
            <a:off x="868680" y="5221224"/>
            <a:ext cx="457200" cy="457200"/>
          </a:xfrm>
          <a:prstGeom prst="ellipse">
            <a:avLst/>
          </a:prstGeom>
          <a:solidFill>
            <a:schemeClr val="accent1"/>
          </a:solidFill>
          <a:ln/>
        </p:spPr>
      </p:sp>
      <p:sp>
        <p:nvSpPr>
          <p:cNvPr id="23" name="Text 20"/>
          <p:cNvSpPr txBox="1"/>
          <p:nvPr/>
        </p:nvSpPr>
        <p:spPr>
          <a:xfrm>
            <a:off x="868680" y="522122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4" name="Text 21"/>
          <p:cNvSpPr txBox="1"/>
          <p:nvPr/>
        </p:nvSpPr>
        <p:spPr>
          <a:xfrm>
            <a:off x="1554480" y="5221224"/>
            <a:ext cx="9784080" cy="457200"/>
          </a:xfrm>
          <a:prstGeom prst="rect">
            <a:avLst/>
          </a:prstGeom>
          <a:noFill/>
          <a:ln/>
        </p:spPr>
        <p:txBody>
          <a:bodyPr wrap="square" lIns="0" tIns="0" rIns="0" bIns="0" rtlCol="0" anchor="ctr"/>
          <a:lstStyle/>
          <a:p>
            <a:pPr indent="0" marL="0">
              <a:buNone/>
            </a:pPr>
            <a:r>
              <a:rPr lang="en-US" sz="1600" dirty="0">
                <a:solidFill>
                  <a:schemeClr val="tx1"/>
                </a:solidFill>
              </a:rPr>
              <a:t>How long must CDD records be kept?</a:t>
            </a:r>
            <a:endParaRPr lang="en-US" sz="16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5"/>
                </a:solidFill>
              </a:rPr>
              <a:t>YOUR COMMITMENT</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bg1"/>
                </a:solidFill>
                <a:latin typeface="Cambria" pitchFamily="34" charset="0"/>
                <a:ea typeface="Cambria" pitchFamily="34" charset="-122"/>
                <a:cs typeface="Cambria" pitchFamily="34" charset="-120"/>
              </a:rPr>
              <a:t>If in doubt, speak up</a:t>
            </a:r>
            <a:endParaRPr lang="en-US" sz="3400" dirty="0"/>
          </a:p>
        </p:txBody>
      </p:sp>
      <p:sp>
        <p:nvSpPr>
          <p:cNvPr id="5" name="Icon disc"/>
          <p:cNvSpPr/>
          <p:nvPr/>
        </p:nvSpPr>
        <p:spPr>
          <a:xfrm>
            <a:off x="685800" y="2011680"/>
            <a:ext cx="640080" cy="640080"/>
          </a:xfrm>
          <a:prstGeom prst="ellipse">
            <a:avLst/>
          </a:prstGeom>
          <a:solidFill>
            <a:schemeClr val="accent1"/>
          </a:solidFill>
          <a:ln/>
        </p:spPr>
      </p:sp>
      <p:pic>
        <p:nvPicPr>
          <p:cNvPr id="6" name="Image 0" descr="CircleCheck icon">    </p:cNvPr>
          <p:cNvPicPr>
            <a:picLocks noChangeAspect="1"/>
          </p:cNvPicPr>
          <p:nvPr/>
        </p:nvPicPr>
        <p:blipFill>
          <a:blip r:embed="rId1"/>
          <a:stretch>
            <a:fillRect/>
          </a:stretch>
        </p:blipFill>
        <p:spPr>
          <a:xfrm>
            <a:off x="845820" y="2171700"/>
            <a:ext cx="320040" cy="320040"/>
          </a:xfrm>
          <a:prstGeom prst="rect">
            <a:avLst/>
          </a:prstGeom>
        </p:spPr>
      </p:pic>
      <p:sp>
        <p:nvSpPr>
          <p:cNvPr id="7" name="Text 3"/>
          <p:cNvSpPr txBox="1"/>
          <p:nvPr/>
        </p:nvSpPr>
        <p:spPr>
          <a:xfrm>
            <a:off x="685800" y="2834640"/>
            <a:ext cx="2148840" cy="36576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Follow procedure</a:t>
            </a:r>
            <a:endParaRPr lang="en-US" sz="1700" dirty="0"/>
          </a:p>
        </p:txBody>
      </p:sp>
      <p:sp>
        <p:nvSpPr>
          <p:cNvPr id="8" name="Text 4"/>
          <p:cNvSpPr txBox="1"/>
          <p:nvPr/>
        </p:nvSpPr>
        <p:spPr>
          <a:xfrm>
            <a:off x="685800" y="3246120"/>
            <a:ext cx="2103120" cy="914400"/>
          </a:xfrm>
          <a:prstGeom prst="rect">
            <a:avLst/>
          </a:prstGeom>
          <a:noFill/>
          <a:ln/>
        </p:spPr>
        <p:txBody>
          <a:bodyPr wrap="square" lIns="0" tIns="0" rIns="0" bIns="0" rtlCol="0" anchor="t"/>
          <a:lstStyle/>
          <a:p>
            <a:pPr indent="0" marL="0">
              <a:buNone/>
            </a:pPr>
            <a:r>
              <a:rPr lang="en-US" sz="1300" dirty="0">
                <a:solidFill>
                  <a:schemeClr val="accent6"/>
                </a:solidFill>
              </a:rPr>
              <a:t>Complete CDD before acting. No shortcuts, no exceptions.</a:t>
            </a:r>
            <a:endParaRPr lang="en-US" sz="1300" dirty="0"/>
          </a:p>
        </p:txBody>
      </p:sp>
      <p:sp>
        <p:nvSpPr>
          <p:cNvPr id="9" name="Icon disc"/>
          <p:cNvSpPr/>
          <p:nvPr/>
        </p:nvSpPr>
        <p:spPr>
          <a:xfrm>
            <a:off x="3017520" y="2011680"/>
            <a:ext cx="640080" cy="640080"/>
          </a:xfrm>
          <a:prstGeom prst="ellipse">
            <a:avLst/>
          </a:prstGeom>
          <a:solidFill>
            <a:schemeClr val="accent1"/>
          </a:solidFill>
          <a:ln/>
        </p:spPr>
      </p:sp>
      <p:pic>
        <p:nvPicPr>
          <p:cNvPr id="10" name="Image 1" descr="Flag icon">    </p:cNvPr>
          <p:cNvPicPr>
            <a:picLocks noChangeAspect="1"/>
          </p:cNvPicPr>
          <p:nvPr/>
        </p:nvPicPr>
        <p:blipFill>
          <a:blip r:embed="rId2"/>
          <a:stretch>
            <a:fillRect/>
          </a:stretch>
        </p:blipFill>
        <p:spPr>
          <a:xfrm>
            <a:off x="3177540" y="2171700"/>
            <a:ext cx="320040" cy="320040"/>
          </a:xfrm>
          <a:prstGeom prst="rect">
            <a:avLst/>
          </a:prstGeom>
        </p:spPr>
      </p:pic>
      <p:sp>
        <p:nvSpPr>
          <p:cNvPr id="11" name="Text 6"/>
          <p:cNvSpPr txBox="1"/>
          <p:nvPr/>
        </p:nvSpPr>
        <p:spPr>
          <a:xfrm>
            <a:off x="3017520" y="2834640"/>
            <a:ext cx="2148840" cy="36576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Report internally</a:t>
            </a:r>
            <a:endParaRPr lang="en-US" sz="1700" dirty="0"/>
          </a:p>
        </p:txBody>
      </p:sp>
      <p:sp>
        <p:nvSpPr>
          <p:cNvPr id="12" name="Text 7"/>
          <p:cNvSpPr txBox="1"/>
          <p:nvPr/>
        </p:nvSpPr>
        <p:spPr>
          <a:xfrm>
            <a:off x="3017520" y="3246120"/>
            <a:ext cx="2103120" cy="914400"/>
          </a:xfrm>
          <a:prstGeom prst="rect">
            <a:avLst/>
          </a:prstGeom>
          <a:noFill/>
          <a:ln/>
        </p:spPr>
        <p:txBody>
          <a:bodyPr wrap="square" lIns="0" tIns="0" rIns="0" bIns="0" rtlCol="0" anchor="t"/>
          <a:lstStyle/>
          <a:p>
            <a:pPr indent="0" marL="0">
              <a:buNone/>
            </a:pPr>
            <a:r>
              <a:rPr lang="en-US" sz="1300" dirty="0">
                <a:solidFill>
                  <a:schemeClr val="accent6"/>
                </a:solidFill>
              </a:rPr>
              <a:t>In writing to the MLRO, as soon as practicable.</a:t>
            </a:r>
            <a:endParaRPr lang="en-US" sz="1300" dirty="0"/>
          </a:p>
        </p:txBody>
      </p:sp>
      <p:sp>
        <p:nvSpPr>
          <p:cNvPr id="13" name="Icon disc"/>
          <p:cNvSpPr/>
          <p:nvPr/>
        </p:nvSpPr>
        <p:spPr>
          <a:xfrm>
            <a:off x="5349240" y="2011680"/>
            <a:ext cx="640080" cy="640080"/>
          </a:xfrm>
          <a:prstGeom prst="ellipse">
            <a:avLst/>
          </a:prstGeom>
          <a:solidFill>
            <a:schemeClr val="accent1"/>
          </a:solidFill>
          <a:ln/>
        </p:spPr>
      </p:sp>
      <p:pic>
        <p:nvPicPr>
          <p:cNvPr id="14" name="Image 2" descr="EyeOff icon">    </p:cNvPr>
          <p:cNvPicPr>
            <a:picLocks noChangeAspect="1"/>
          </p:cNvPicPr>
          <p:nvPr/>
        </p:nvPicPr>
        <p:blipFill>
          <a:blip r:embed="rId3"/>
          <a:stretch>
            <a:fillRect/>
          </a:stretch>
        </p:blipFill>
        <p:spPr>
          <a:xfrm>
            <a:off x="5509260" y="2171700"/>
            <a:ext cx="320040" cy="320040"/>
          </a:xfrm>
          <a:prstGeom prst="rect">
            <a:avLst/>
          </a:prstGeom>
        </p:spPr>
      </p:pic>
      <p:sp>
        <p:nvSpPr>
          <p:cNvPr id="15" name="Text 9"/>
          <p:cNvSpPr txBox="1"/>
          <p:nvPr/>
        </p:nvSpPr>
        <p:spPr>
          <a:xfrm>
            <a:off x="5349240" y="2834640"/>
            <a:ext cx="2148840" cy="36576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Never tip off</a:t>
            </a:r>
            <a:endParaRPr lang="en-US" sz="1700" dirty="0"/>
          </a:p>
        </p:txBody>
      </p:sp>
      <p:sp>
        <p:nvSpPr>
          <p:cNvPr id="16" name="Text 10"/>
          <p:cNvSpPr txBox="1"/>
          <p:nvPr/>
        </p:nvSpPr>
        <p:spPr>
          <a:xfrm>
            <a:off x="5349240" y="3246120"/>
            <a:ext cx="2103120" cy="914400"/>
          </a:xfrm>
          <a:prstGeom prst="rect">
            <a:avLst/>
          </a:prstGeom>
          <a:noFill/>
          <a:ln/>
        </p:spPr>
        <p:txBody>
          <a:bodyPr wrap="square" lIns="0" tIns="0" rIns="0" bIns="0" rtlCol="0" anchor="t"/>
          <a:lstStyle/>
          <a:p>
            <a:pPr indent="0" marL="0">
              <a:buNone/>
            </a:pPr>
            <a:r>
              <a:rPr lang="en-US" sz="1300" dirty="0">
                <a:solidFill>
                  <a:schemeClr val="accent6"/>
                </a:solidFill>
              </a:rPr>
              <a:t>Neutral words with clients. Ask if unsure.</a:t>
            </a:r>
            <a:endParaRPr lang="en-US" sz="1300" dirty="0"/>
          </a:p>
        </p:txBody>
      </p:sp>
      <p:sp>
        <p:nvSpPr>
          <p:cNvPr id="17" name="Contacts card"/>
          <p:cNvSpPr/>
          <p:nvPr/>
        </p:nvSpPr>
        <p:spPr>
          <a:xfrm>
            <a:off x="7863840" y="1783080"/>
            <a:ext cx="3639312" cy="3977640"/>
          </a:xfrm>
          <a:prstGeom prst="roundRect">
            <a:avLst>
              <a:gd name="adj" fmla="val 3015"/>
            </a:avLst>
          </a:prstGeom>
          <a:solidFill>
            <a:schemeClr val="bg1"/>
          </a:solidFill>
          <a:ln/>
          <a:effectLst>
            <a:outerShdw sx="100000" sy="100000" kx="0" ky="0" algn="bl" rotWithShape="0" blurRad="177800" dist="38100" dir="5400000">
              <a:srgbClr val="0B1F2A">
                <a:alpha val="10000"/>
              </a:srgbClr>
            </a:outerShdw>
          </a:effectLst>
        </p:spPr>
      </p:sp>
      <p:sp>
        <p:nvSpPr>
          <p:cNvPr id="18" name="Text 12"/>
          <p:cNvSpPr txBox="1"/>
          <p:nvPr/>
        </p:nvSpPr>
        <p:spPr>
          <a:xfrm>
            <a:off x="8183880" y="2057400"/>
            <a:ext cx="2743200" cy="274320"/>
          </a:xfrm>
          <a:prstGeom prst="rect">
            <a:avLst/>
          </a:prstGeom>
          <a:noFill/>
          <a:ln/>
        </p:spPr>
        <p:txBody>
          <a:bodyPr wrap="square" lIns="0" tIns="0" rIns="0" bIns="0" rtlCol="0" anchor="t"/>
          <a:lstStyle/>
          <a:p>
            <a:pPr indent="0" marL="0">
              <a:buNone/>
            </a:pPr>
            <a:r>
              <a:rPr lang="en-US" sz="1000" b="1" spc="300" kern="0" dirty="0">
                <a:solidFill>
                  <a:schemeClr val="accent1"/>
                </a:solidFill>
              </a:rPr>
              <a:t>YOUR CONTACTS</a:t>
            </a:r>
            <a:endParaRPr lang="en-US" sz="1000" dirty="0"/>
          </a:p>
        </p:txBody>
      </p:sp>
      <p:sp>
        <p:nvSpPr>
          <p:cNvPr id="19" name="Text 13"/>
          <p:cNvSpPr txBox="1"/>
          <p:nvPr/>
        </p:nvSpPr>
        <p:spPr>
          <a:xfrm>
            <a:off x="8183880" y="2468880"/>
            <a:ext cx="3017520" cy="256032"/>
          </a:xfrm>
          <a:prstGeom prst="rect">
            <a:avLst/>
          </a:prstGeom>
          <a:noFill/>
          <a:ln/>
        </p:spPr>
        <p:txBody>
          <a:bodyPr wrap="square" lIns="0" tIns="0" rIns="0" bIns="0" rtlCol="0" anchor="t"/>
          <a:lstStyle/>
          <a:p>
            <a:pPr indent="0" marL="0">
              <a:buNone/>
            </a:pPr>
            <a:r>
              <a:rPr lang="en-US" sz="1100" b="1" dirty="0">
                <a:solidFill>
                  <a:schemeClr val="accent4"/>
                </a:solidFill>
              </a:rPr>
              <a:t>MLRO</a:t>
            </a:r>
            <a:endParaRPr lang="en-US" sz="1100" dirty="0"/>
          </a:p>
        </p:txBody>
      </p:sp>
      <p:sp>
        <p:nvSpPr>
          <p:cNvPr id="20" name="Text 14"/>
          <p:cNvSpPr txBox="1"/>
          <p:nvPr/>
        </p:nvSpPr>
        <p:spPr>
          <a:xfrm>
            <a:off x="8183880" y="2724912"/>
            <a:ext cx="3017520" cy="347472"/>
          </a:xfrm>
          <a:prstGeom prst="rect">
            <a:avLst/>
          </a:prstGeom>
          <a:noFill/>
          <a:ln/>
        </p:spPr>
        <p:txBody>
          <a:bodyPr wrap="square" lIns="0" tIns="0" rIns="0" bIns="0" rtlCol="0" anchor="t"/>
          <a:lstStyle/>
          <a:p>
            <a:pPr indent="0" marL="0">
              <a:buNone/>
            </a:pPr>
            <a:r>
              <a:rPr lang="en-US" sz="1700" dirty="0">
                <a:solidFill>
                  <a:schemeClr val="tx1"/>
                </a:solidFill>
                <a:latin typeface="Cambria" pitchFamily="34" charset="0"/>
                <a:ea typeface="Cambria" pitchFamily="34" charset="-122"/>
                <a:cs typeface="Cambria" pitchFamily="34" charset="-120"/>
              </a:rPr>
              <a:t>[Name]</a:t>
            </a:r>
            <a:endParaRPr lang="en-US" sz="1700" dirty="0"/>
          </a:p>
        </p:txBody>
      </p:sp>
      <p:sp>
        <p:nvSpPr>
          <p:cNvPr id="21" name="Text 15"/>
          <p:cNvSpPr txBox="1"/>
          <p:nvPr/>
        </p:nvSpPr>
        <p:spPr>
          <a:xfrm>
            <a:off x="8183880" y="3072384"/>
            <a:ext cx="3017520" cy="274320"/>
          </a:xfrm>
          <a:prstGeom prst="rect">
            <a:avLst/>
          </a:prstGeom>
          <a:noFill/>
          <a:ln/>
        </p:spPr>
        <p:txBody>
          <a:bodyPr wrap="square" lIns="0" tIns="0" rIns="0" bIns="0" rtlCol="0" anchor="t"/>
          <a:lstStyle/>
          <a:p>
            <a:pPr indent="0" marL="0">
              <a:buNone/>
            </a:pPr>
            <a:r>
              <a:rPr lang="en-US" sz="1200" dirty="0">
                <a:solidFill>
                  <a:schemeClr val="tx2"/>
                </a:solidFill>
              </a:rPr>
              <a:t>[email] · [ext.]</a:t>
            </a:r>
            <a:endParaRPr lang="en-US" sz="1200" dirty="0"/>
          </a:p>
        </p:txBody>
      </p:sp>
      <p:sp>
        <p:nvSpPr>
          <p:cNvPr id="22" name="Text 16"/>
          <p:cNvSpPr txBox="1"/>
          <p:nvPr/>
        </p:nvSpPr>
        <p:spPr>
          <a:xfrm>
            <a:off x="8183880" y="3520440"/>
            <a:ext cx="3017520" cy="256032"/>
          </a:xfrm>
          <a:prstGeom prst="rect">
            <a:avLst/>
          </a:prstGeom>
          <a:noFill/>
          <a:ln/>
        </p:spPr>
        <p:txBody>
          <a:bodyPr wrap="square" lIns="0" tIns="0" rIns="0" bIns="0" rtlCol="0" anchor="t"/>
          <a:lstStyle/>
          <a:p>
            <a:pPr indent="0" marL="0">
              <a:buNone/>
            </a:pPr>
            <a:r>
              <a:rPr lang="en-US" sz="1100" b="1" dirty="0">
                <a:solidFill>
                  <a:schemeClr val="accent4"/>
                </a:solidFill>
              </a:rPr>
              <a:t>MLCO</a:t>
            </a:r>
            <a:endParaRPr lang="en-US" sz="1100" dirty="0"/>
          </a:p>
        </p:txBody>
      </p:sp>
      <p:sp>
        <p:nvSpPr>
          <p:cNvPr id="23" name="Text 17"/>
          <p:cNvSpPr txBox="1"/>
          <p:nvPr/>
        </p:nvSpPr>
        <p:spPr>
          <a:xfrm>
            <a:off x="8183880" y="3776472"/>
            <a:ext cx="3017520" cy="347472"/>
          </a:xfrm>
          <a:prstGeom prst="rect">
            <a:avLst/>
          </a:prstGeom>
          <a:noFill/>
          <a:ln/>
        </p:spPr>
        <p:txBody>
          <a:bodyPr wrap="square" lIns="0" tIns="0" rIns="0" bIns="0" rtlCol="0" anchor="t"/>
          <a:lstStyle/>
          <a:p>
            <a:pPr indent="0" marL="0">
              <a:buNone/>
            </a:pPr>
            <a:r>
              <a:rPr lang="en-US" sz="1700" dirty="0">
                <a:solidFill>
                  <a:schemeClr val="tx1"/>
                </a:solidFill>
                <a:latin typeface="Cambria" pitchFamily="34" charset="0"/>
                <a:ea typeface="Cambria" pitchFamily="34" charset="-122"/>
                <a:cs typeface="Cambria" pitchFamily="34" charset="-120"/>
              </a:rPr>
              <a:t>[Name]</a:t>
            </a:r>
            <a:endParaRPr lang="en-US" sz="1700" dirty="0"/>
          </a:p>
        </p:txBody>
      </p:sp>
      <p:sp>
        <p:nvSpPr>
          <p:cNvPr id="24" name="Text 18"/>
          <p:cNvSpPr txBox="1"/>
          <p:nvPr/>
        </p:nvSpPr>
        <p:spPr>
          <a:xfrm>
            <a:off x="8183880" y="4123944"/>
            <a:ext cx="3017520" cy="274320"/>
          </a:xfrm>
          <a:prstGeom prst="rect">
            <a:avLst/>
          </a:prstGeom>
          <a:noFill/>
          <a:ln/>
        </p:spPr>
        <p:txBody>
          <a:bodyPr wrap="square" lIns="0" tIns="0" rIns="0" bIns="0" rtlCol="0" anchor="t"/>
          <a:lstStyle/>
          <a:p>
            <a:pPr indent="0" marL="0">
              <a:buNone/>
            </a:pPr>
            <a:r>
              <a:rPr lang="en-US" sz="1200" dirty="0">
                <a:solidFill>
                  <a:schemeClr val="tx2"/>
                </a:solidFill>
              </a:rPr>
              <a:t>[email] · [ext.]</a:t>
            </a:r>
            <a:endParaRPr lang="en-US" sz="1200" dirty="0"/>
          </a:p>
        </p:txBody>
      </p:sp>
      <p:sp>
        <p:nvSpPr>
          <p:cNvPr id="25" name="Text 19"/>
          <p:cNvSpPr txBox="1"/>
          <p:nvPr/>
        </p:nvSpPr>
        <p:spPr>
          <a:xfrm>
            <a:off x="8183880" y="4572000"/>
            <a:ext cx="3017520" cy="256032"/>
          </a:xfrm>
          <a:prstGeom prst="rect">
            <a:avLst/>
          </a:prstGeom>
          <a:noFill/>
          <a:ln/>
        </p:spPr>
        <p:txBody>
          <a:bodyPr wrap="square" lIns="0" tIns="0" rIns="0" bIns="0" rtlCol="0" anchor="t"/>
          <a:lstStyle/>
          <a:p>
            <a:pPr indent="0" marL="0">
              <a:buNone/>
            </a:pPr>
            <a:r>
              <a:rPr lang="en-US" sz="1100" b="1" dirty="0">
                <a:solidFill>
                  <a:schemeClr val="accent4"/>
                </a:solidFill>
              </a:rPr>
              <a:t>Compliance Officer</a:t>
            </a:r>
            <a:endParaRPr lang="en-US" sz="1100" dirty="0"/>
          </a:p>
        </p:txBody>
      </p:sp>
      <p:sp>
        <p:nvSpPr>
          <p:cNvPr id="26" name="Text 20"/>
          <p:cNvSpPr txBox="1"/>
          <p:nvPr/>
        </p:nvSpPr>
        <p:spPr>
          <a:xfrm>
            <a:off x="8183880" y="4828032"/>
            <a:ext cx="3017520" cy="347472"/>
          </a:xfrm>
          <a:prstGeom prst="rect">
            <a:avLst/>
          </a:prstGeom>
          <a:noFill/>
          <a:ln/>
        </p:spPr>
        <p:txBody>
          <a:bodyPr wrap="square" lIns="0" tIns="0" rIns="0" bIns="0" rtlCol="0" anchor="t"/>
          <a:lstStyle/>
          <a:p>
            <a:pPr indent="0" marL="0">
              <a:buNone/>
            </a:pPr>
            <a:r>
              <a:rPr lang="en-US" sz="1700" dirty="0">
                <a:solidFill>
                  <a:schemeClr val="tx1"/>
                </a:solidFill>
                <a:latin typeface="Cambria" pitchFamily="34" charset="0"/>
                <a:ea typeface="Cambria" pitchFamily="34" charset="-122"/>
                <a:cs typeface="Cambria" pitchFamily="34" charset="-120"/>
              </a:rPr>
              <a:t>[Your name]</a:t>
            </a:r>
            <a:endParaRPr lang="en-US" sz="1700" dirty="0"/>
          </a:p>
        </p:txBody>
      </p:sp>
      <p:sp>
        <p:nvSpPr>
          <p:cNvPr id="27" name="Text 21"/>
          <p:cNvSpPr txBox="1"/>
          <p:nvPr/>
        </p:nvSpPr>
        <p:spPr>
          <a:xfrm>
            <a:off x="8183880" y="5175504"/>
            <a:ext cx="3017520" cy="274320"/>
          </a:xfrm>
          <a:prstGeom prst="rect">
            <a:avLst/>
          </a:prstGeom>
          <a:noFill/>
          <a:ln/>
        </p:spPr>
        <p:txBody>
          <a:bodyPr wrap="square" lIns="0" tIns="0" rIns="0" bIns="0" rtlCol="0" anchor="t"/>
          <a:lstStyle/>
          <a:p>
            <a:pPr indent="0" marL="0">
              <a:buNone/>
            </a:pPr>
            <a:r>
              <a:rPr lang="en-US" sz="1200" dirty="0">
                <a:solidFill>
                  <a:schemeClr val="tx2"/>
                </a:solidFill>
              </a:rPr>
              <a:t>[email] · [ext.]</a:t>
            </a:r>
            <a:endParaRPr lang="en-US" sz="1200" dirty="0"/>
          </a:p>
        </p:txBody>
      </p:sp>
      <p:sp>
        <p:nvSpPr>
          <p:cNvPr id="28" name="Text 22"/>
          <p:cNvSpPr txBox="1"/>
          <p:nvPr/>
        </p:nvSpPr>
        <p:spPr>
          <a:xfrm>
            <a:off x="685800" y="4892040"/>
            <a:ext cx="6675120" cy="365760"/>
          </a:xfrm>
          <a:prstGeom prst="rect">
            <a:avLst/>
          </a:prstGeom>
          <a:noFill/>
          <a:ln/>
        </p:spPr>
        <p:txBody>
          <a:bodyPr wrap="square" lIns="0" tIns="0" rIns="0" bIns="0" rtlCol="0" anchor="t"/>
          <a:lstStyle/>
          <a:p>
            <a:pPr indent="0" marL="0">
              <a:buNone/>
            </a:pPr>
            <a:r>
              <a:rPr lang="en-US" sz="1500" i="1" dirty="0">
                <a:solidFill>
                  <a:schemeClr val="accent5"/>
                </a:solidFill>
              </a:rPr>
              <a:t>Please sign the training attestation before you leave today.</a:t>
            </a:r>
            <a:endParaRPr lang="en-US" sz="15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27</a:t>
            </a:fld>
            <a:endParaRPr lang="en-US"/>
          </a:p>
        </p:txBody>
      </p:sp>
    </p:spTree>
  </p:cSld>
  <p:clrMapOvr>
    <a:masterClrMapping/>
  </p:clrMapOvr>
</p:sld>
</file>

<file path=ppt/theme/theme1.xml><?xml version="1.0" encoding="utf-8"?>
<a:theme xmlns:a="http://schemas.openxmlformats.org/drawingml/2006/main" name="Missick Stanbrook Compliance">
  <a:themeElements>
    <a:clrScheme name="Missick Stanbrook Compliance">
      <a:dk1>
        <a:srgbClr val="0B1F2A"/>
      </a:dk1>
      <a:lt1>
        <a:srgbClr val="FFFFFF"/>
      </a:lt1>
      <a:dk2>
        <a:srgbClr val="0F3B4C"/>
      </a:dk2>
      <a:lt2>
        <a:srgbClr val="EEF4F5"/>
      </a:lt2>
      <a:accent1>
        <a:srgbClr val="13A89E"/>
      </a:accent1>
      <a:accent2>
        <a:srgbClr val="E07A5F"/>
      </a:accent2>
      <a:accent3>
        <a:srgbClr val="C9A86A"/>
      </a:accent3>
      <a:accent4>
        <a:srgbClr val="5B7C8A"/>
      </a:accent4>
      <a:accent5>
        <a:srgbClr val="7FD1C7"/>
      </a:accent5>
      <a:accent6>
        <a:srgbClr val="A9BCC4"/>
      </a:accent6>
      <a:hlink>
        <a:srgbClr val="13A89E"/>
      </a:hlink>
      <a:folHlink>
        <a:srgbClr val="5B7C8A"/>
      </a:folHlink>
    </a:clrScheme>
    <a:fontScheme name="Missick Stanbrook Compli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Missick &amp; Stanbrook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AML/CFT Staff Induction</dc:title>
  <dc:subject>PptxGenJS Presentation</dc:subject>
  <dc:creator>Compliance Department</dc:creator>
  <cp:lastModifiedBy>Compliance Department</cp:lastModifiedBy>
  <cp:revision>1</cp:revision>
  <dcterms:created xsi:type="dcterms:W3CDTF">2026-10-25T16:09:58Z</dcterms:created>
  <dcterms:modified xsi:type="dcterms:W3CDTF">2026-10-25T16:09:58Z</dcterms:modified>
</cp:coreProperties>
</file>