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442ac82e-acd2-1385-5835-6ed2f14001e4}">
          <p14:sldIdLst>
            <p14:sldId id="257"/>
          </p14:sldIdLst>
        </p14:section>
        <p14:section name="Default-1" id="{92b07078-58b4-91d4-7ff6-9735fbd2a11e}">
          <p14:sldIdLst>
            <p14:sldId id="256"/>
          </p14:sldIdLst>
        </p14:section>
        <p14:section name="The year in review" id="{a39fca0b-9f56-049c-9caa-5560b2415f94}">
          <p14:sldIdLst>
            <p14:sldId id="258"/>
            <p14:sldId id="259"/>
            <p14:sldId id="260"/>
            <p14:sldId id="261"/>
          </p14:sldIdLst>
        </p14:section>
        <p14:section name="Essentials, refreshed" id="{154ddbec-d935-2cdb-75bb-6b122a8880e0}">
          <p14:sldIdLst>
            <p14:sldId id="262"/>
            <p14:sldId id="263"/>
            <p14:sldId id="264"/>
            <p14:sldId id="265"/>
          </p14:sldIdLst>
        </p14:section>
        <p14:section name="Emerging threats" id="{d6f07f79-2e50-8161-012f-ac581f0ceb0c}">
          <p14:sldIdLst>
            <p14:sldId id="266"/>
            <p14:sldId id="267"/>
            <p14:sldId id="268"/>
            <p14:sldId id="269"/>
          </p14:sldIdLst>
        </p14:section>
        <p14:section name="Case studies" id="{017d1ee1-c70d-79cc-a5da-9662a60943d5}">
          <p14:sldIdLst>
            <p14:sldId id="270"/>
            <p14:sldId id="271"/>
            <p14:sldId id="272"/>
            <p14:sldId id="273"/>
            <p14:sldId id="274"/>
            <p14:sldId id="275"/>
            <p14:sldId id="276"/>
            <p14:sldId id="277"/>
            <p14:sldId id="278"/>
          </p14:sldIdLst>
        </p14:section>
        <p14:section name="Getting it right" id="{9c75068a-34fc-7595-ca5f-6d4764637943}">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year's annual training. It's mandatory for everyone, and attendance and assessment results are kept as part of our training records for the Financial Services Commission. The session runs about 90 minutes, including four case studies and a short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 agenda. Most of our time goes on parts three and four: the threats we're seeing now and the case studies. They make the training stick, so encourage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 changes. In October 2024, amendments to the AML/PTF Regulations came into force through Legal Notice 33 of 2024. They affect regulations 21, 22 and 26 and Schedule 3, and add new regulations 29A and 29B. In practice, the appointment of a Money Laundering Compliance Officer now needs the FSC's prior written approval, and DNFBPs file annual returns by 31 March each year. The Proceeds of Crime Ordinance was also amended in 2024. In November 2024 the FSC issued a regulatory advisory on MLROs, MLCOs, DNFBPs and administrative fines. Before delivering, add any developments from 2025 and 2026: new FSC advisories, Code amendments, an updated National Risk Assessment, or FATF/CFATF list changes. The last card is reserved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CFATF's fourth-round Mutual Evaluation of the TCI was published in January 2020 and placed the Islands under enhanced follow-up. Through follow-up reports, the last published in 2023, the TCI is now rated compliant or largely compliant on 37 of the 40 FATF Recommendations. Recommendation 28, supervision of DNFBPs like us, was upgraded to compliant. That's the technical framework. The next round of evaluations focuses heavily on effectiveness: whether firms like ours actually apply the rules well. Our files are part of the evidence the assessors look at. Check for any newer follow-up report before delivering.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firm's figures for the year from the MLRO's register and the compliance monitoring log. Never show anything that could identify a client or a specific report. Use the numbers to praise good practice: internal reports are a sign of a healthy culture, not a problem. Mention one or two anonymised themes from this year's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reminder of the fundamentals from induction. Know your client, including the beneficial owner. Question anything that doesn't make sense. Record what you did and why. Report suspicion to the MLRO in writing, as soon as practicable; that discharges your personal duty. And never tip off. Remember the failure to disclose test is objective: having reasonable grounds to suspect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CDD isn't a one-off. Files must be reviewed periodically according to risk, and whenever something material changes. The frequencies shown are a proposed standard for the firm. The MLCO should confirm them in the firm's policy. Trigger events matter just as much as the calendar: a change in ownership, a new type of instruction, a move to a higher-risk country, adverse media, or a sanctions designation.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UK financial sanctions regimes are extended to the Turks and Caicos Islands by Order in Council, so designations on the UK sanctions list apply here. Unlike money laundering, sanctions are strict: there's no minimum amount and no 'risk-based' discretion once there's a match. We screen clients, beneficial owners and relevant counterparties at onboarding, whenever the lists change, and before making payments. If there's a potential match: stop, don't tip off, escalate to the MLRO, freeze where required, and report as set out in the FSC's Financial Sanctions Guidance. The Governor's Office is the competent authority in the Territory, so confirm current reporting channels in that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overview of six threats we'll keep in mind for the rest of the session. Real estate remains a priority risk for the Islands, and the FSC publishes sector risk outlooks. Virtual assets increasingly sit behind property purchases and investment funds. Sanctions evasion uses property, yachts and trusts held through proxies. Business email compromise targets law firms because we move large sums at known moments. AI-generated identity documents and deepfakes are making remote onboarding harder. And nominee and layered structures remain the classic way to hide a beneficial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Crypto wealth is legitimate for many clients, but it's harder to evidence. The key is tracing: from the original acquisition of the crypto, through the exchanges used, to the conversion into fiat and the bank account that pays us. Ask for exchange statements, wallet addresses, transaction histories, and tax records where they exist. Be cautious with privacy coins, mixers, unregulated exchanges, and wallets that can't be linked to the client. If the trail can't be evidenced, treat it as a source-of-funds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fast-growing threats. First, AI-generated identity documents, and deepfake video and voice that can pass a casual remote check. Second, business email compromise, where fraudsters intercept or spoof emails to redirect completion funds. Law firms are prime targets because we hold large sums and transactions have predictable timelines. The defences are simple but must be followed every time. Verify identity using reliable sources, not just an image. Use liveness checks or certified documents for remote onboarding. Always confirm payment details by phone, using a number you already hold, never one from the email. Remember that fraud proceeds are criminal property: if we receive them, ML obligations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groups about five minutes. Then reveal the debrief. Let groups share their answers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teaching points. The combination of flags matters more than any single one. Refunding a deposit can itself move criminal property, so involve the MLRO before any refund. Pressure from the client or from colleagues to meet a deadline is never a reason to skip CDD.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does a long-standing relationship lower the bar? No. This is a new, significant instruction, and the PEP connection triggers enhanced due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points. PEP status extends to family members and close associates. Beneficial ownership in trusts looks at control, not just legal title. A protector who takes instructions may mean the settlor still effectively controls the assets. Periodic review triggers include significant new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email compromise. This happens to law firms worldwide every week, so let people discuss how they would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points. Always verify payment details by a call to a number you already hold. If funds have already been sent, act immediately: call the bank to recall them and inform the MLRO. Fraud proceeds are criminal property, and our duties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classic way to use a law firm's client account to 'clean' money. The money goes in from one source and comes back out with our firm's name as the payer.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points. Our client account must only be used for genuine underlying legal transactions. Refunds go back to the original source, and only after the MLRO has cleared it. If a report is made, the MLRO will advise whether, when and how the refund can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themes that AML supervisors commonly find at law firms and trust businesses internationally. Use them to check our own files. Each one is fixable with discipline: evidence, a written rationale, timely reviews, and full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False. Failure to disclose uses an objective test, so reasonable grounds to suspect are enough. 2: Source of funds. 3: Yes. PEP status extends to family members and close associates, so EDD applies. 4: No. Refunds go to the original source, and only after MLRO clearance. 5: Call back on a number you already hold. 6: No. There is no minimum amount for sanctions. 7: Possibly tipping off. Use neutral language. 8: Report it to the MLRO. That discharges your personal duty. Collect answer sheets for the training records, and set a pass mark in firm policy, for example 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each person to sign the annual attestation, confirming they attended, understood the training and have read the firm's AML/CFT policy. File the signed attestations, attendance list and assessment results as training records. Remind everyone of the MLRO's contact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Content-Contour-image-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Statem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bg1"/>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ph idx="101" type="body" hasCustomPrompt="1"/>
          </p:nvPr>
        </p:nvSpPr>
        <p:spPr>
          <a:xfrm>
            <a:off x="685800" y="1417320"/>
            <a:ext cx="7315200" cy="365760"/>
          </a:xfrm>
          <a:prstGeom prst="rect">
            <a:avLst/>
          </a:prstGeom>
          <a:noFill/>
          <a:ln/>
        </p:spPr>
        <p:txBody>
          <a:bodyPr wrap="square" rtlCol="0"/>
          <a:lstStyle>
            <a:lvl1pPr algn="l" indent="0" marL="0">
              <a:buNone/>
              <a:defRPr lang="en-US" sz="1300" b="1" spc="400" kern="0" dirty="0">
                <a:solidFill>
                  <a:schemeClr val="accent5"/>
                </a:solidFill>
              </a:defRPr>
            </a:lvl1pPr>
          </a:lstStyle>
          <a:p>
            <a:pPr algn="l" indent="0" marL="0">
              <a:buNone/>
            </a:pPr>
            <a:endParaRPr lang="en-US" sz="1300" dirty="0"/>
          </a:p>
        </p:txBody>
      </p:sp>
      <p:sp>
        <p:nvSpPr>
          <p:cNvPr id="4" name="Text 1"/>
          <p:cNvSpPr/>
          <p:nvPr>
            <p:ph idx="102" type="title" hasCustomPrompt="1"/>
          </p:nvPr>
        </p:nvSpPr>
        <p:spPr>
          <a:xfrm>
            <a:off x="685800" y="1874520"/>
            <a:ext cx="7863840" cy="2194560"/>
          </a:xfrm>
          <a:prstGeom prst="rect">
            <a:avLst/>
          </a:prstGeom>
          <a:noFill/>
          <a:ln/>
        </p:spPr>
        <p:txBody>
          <a:bodyPr wrap="square" rtlCol="0"/>
          <a:lstStyle>
            <a:lvl1pPr algn="l" indent="0" marL="0">
              <a:buNone/>
              <a:defRPr lang="en-US" sz="5800" dirty="0">
                <a:solidFill>
                  <a:schemeClr val="bg1"/>
                </a:solidFill>
                <a:latin typeface="Cambria" pitchFamily="34" charset="0"/>
                <a:ea typeface="Cambria" pitchFamily="34" charset="-122"/>
                <a:cs typeface="Cambria" pitchFamily="34" charset="-120"/>
              </a:defRPr>
            </a:lvl1pPr>
          </a:lstStyle>
          <a:p>
            <a:pPr algn="l" indent="0" marL="0">
              <a:buNone/>
            </a:pPr>
            <a:endParaRPr lang="en-US" sz="5800" dirty="0"/>
          </a:p>
        </p:txBody>
      </p:sp>
      <p:sp>
        <p:nvSpPr>
          <p:cNvPr id="5" name="Text 1"/>
          <p:cNvSpPr/>
          <p:nvPr>
            <p:ph idx="103" type="body" hasCustomPrompt="1"/>
          </p:nvPr>
        </p:nvSpPr>
        <p:spPr>
          <a:xfrm>
            <a:off x="685800" y="4206240"/>
            <a:ext cx="6949440" cy="91440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6" name="Text 1"/>
          <p:cNvSpPr/>
          <p:nvPr>
            <p:ph idx="104" type="body" hasCustomPrompt="1"/>
          </p:nvPr>
        </p:nvSpPr>
        <p:spPr>
          <a:xfrm>
            <a:off x="685800" y="5349240"/>
            <a:ext cx="7315200" cy="548640"/>
          </a:xfrm>
          <a:prstGeom prst="rect">
            <a:avLst/>
          </a:prstGeom>
          <a:noFill/>
          <a:ln/>
        </p:spPr>
        <p:txBody>
          <a:bodyPr wrap="square" rtlCol="0"/>
          <a:lstStyle>
            <a:lvl1pPr algn="l" indent="0" marL="0">
              <a:buNone/>
              <a:defRPr lang="en-US" sz="1200" dirty="0">
                <a:solidFill>
                  <a:schemeClr val="bg1"/>
                </a:solidFill>
              </a:defRPr>
            </a:lvl1pPr>
          </a:lstStyle>
          <a:p>
            <a:pPr algn="l"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bg1"/>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nvSpPr>
        <p:spPr>
          <a:xfrm>
            <a:off x="4206240" y="6327648"/>
            <a:ext cx="6217920" cy="274320"/>
          </a:xfrm>
          <a:prstGeom prst="rect">
            <a:avLst/>
          </a:prstGeom>
          <a:noFill/>
          <a:ln/>
        </p:spPr>
        <p:txBody>
          <a:bodyPr wrap="square" lIns="0" tIns="0" rIns="0" bIns="0" rtlCol="0" anchor="ctr"/>
          <a:lstStyle/>
          <a:p>
            <a:pPr algn="r" indent="0" marL="0">
              <a:buNone/>
            </a:pPr>
            <a:r>
              <a:rPr lang="en-US" sz="900" dirty="0">
                <a:solidFill>
                  <a:schemeClr val="accent6"/>
                </a:solidFill>
              </a:rPr>
              <a:t>Annual AML/CFT/CPF Training 2026   ·   Internal use only</a:t>
            </a:r>
            <a:endParaRPr lang="en-US" sz="900" dirty="0"/>
          </a:p>
        </p:txBody>
      </p:sp>
      <p:sp>
        <p:nvSpPr>
          <p:cNvPr id="4" name="Text 2"/>
          <p:cNvSpPr/>
          <p:nvPr>
            <p:ph idx="102" type="body" hasCustomPrompt="1"/>
          </p:nvPr>
        </p:nvSpPr>
        <p:spPr>
          <a:xfrm>
            <a:off x="685800" y="1097280"/>
            <a:ext cx="3657600" cy="1645920"/>
          </a:xfrm>
          <a:prstGeom prst="rect">
            <a:avLst/>
          </a:prstGeom>
          <a:noFill/>
          <a:ln/>
        </p:spPr>
        <p:txBody>
          <a:bodyPr wrap="square" rtlCol="0"/>
          <a:lstStyle>
            <a:lvl1pPr algn="l" indent="0" marL="0">
              <a:buNone/>
              <a:defRPr lang="en-US" sz="11000" dirty="0">
                <a:solidFill>
                  <a:schemeClr val="accent1"/>
                </a:solidFill>
                <a:latin typeface="Cambria" pitchFamily="34" charset="0"/>
                <a:ea typeface="Cambria" pitchFamily="34" charset="-122"/>
                <a:cs typeface="Cambria" pitchFamily="34" charset="-120"/>
              </a:defRPr>
            </a:lvl1pPr>
          </a:lstStyle>
          <a:p>
            <a:pPr algn="l" indent="0" marL="0">
              <a:buNone/>
            </a:pPr>
            <a:endParaRPr lang="en-US" sz="11000" dirty="0"/>
          </a:p>
        </p:txBody>
      </p:sp>
      <p:sp>
        <p:nvSpPr>
          <p:cNvPr id="5" name="Text 2"/>
          <p:cNvSpPr/>
          <p:nvPr>
            <p:ph idx="103" type="title" hasCustomPrompt="1"/>
          </p:nvPr>
        </p:nvSpPr>
        <p:spPr>
          <a:xfrm>
            <a:off x="685800" y="2880360"/>
            <a:ext cx="8229600" cy="1188720"/>
          </a:xfrm>
          <a:prstGeom prst="rect">
            <a:avLst/>
          </a:prstGeom>
          <a:noFill/>
          <a:ln/>
        </p:spPr>
        <p:txBody>
          <a:bodyPr wrap="square" rtlCol="0"/>
          <a:lstStyle>
            <a:lvl1pPr algn="l" indent="0" marL="0">
              <a:buNone/>
              <a:defRPr lang="en-US" sz="4400"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6" name="Text 2"/>
          <p:cNvSpPr/>
          <p:nvPr>
            <p:ph idx="104" type="body" hasCustomPrompt="1"/>
          </p:nvPr>
        </p:nvSpPr>
        <p:spPr>
          <a:xfrm>
            <a:off x="685800" y="4160520"/>
            <a:ext cx="6583680" cy="10972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tx2"/>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nvSpPr>
        <p:spPr>
          <a:xfrm>
            <a:off x="4206240" y="6327648"/>
            <a:ext cx="6217920" cy="274320"/>
          </a:xfrm>
          <a:prstGeom prst="rect">
            <a:avLst/>
          </a:prstGeom>
          <a:noFill/>
          <a:ln/>
        </p:spPr>
        <p:txBody>
          <a:bodyPr wrap="square" lIns="0" tIns="0" rIns="0" bIns="0" rtlCol="0" anchor="ctr"/>
          <a:lstStyle/>
          <a:p>
            <a:pPr algn="r" indent="0" marL="0">
              <a:buNone/>
            </a:pPr>
            <a:r>
              <a:rPr lang="en-US" sz="900" dirty="0">
                <a:solidFill>
                  <a:schemeClr val="accent4"/>
                </a:solidFill>
              </a:rPr>
              <a:t>Annual AML/CFT/CPF Training 2026   ·   Internal use only</a:t>
            </a:r>
            <a:endParaRPr lang="en-US" sz="900" dirty="0"/>
          </a:p>
        </p:txBody>
      </p:sp>
      <p:sp>
        <p:nvSpPr>
          <p:cNvPr id="4" name="Text 2"/>
          <p:cNvSpPr/>
          <p:nvPr>
            <p:ph idx="102" type="body" hasCustomPrompt="1"/>
          </p:nvPr>
        </p:nvSpPr>
        <p:spPr>
          <a:xfrm>
            <a:off x="685800" y="411480"/>
            <a:ext cx="9144000" cy="274320"/>
          </a:xfrm>
          <a:prstGeom prst="rect">
            <a:avLst/>
          </a:prstGeom>
          <a:noFill/>
          <a:ln/>
        </p:spPr>
        <p:txBody>
          <a:bodyPr wrap="square" rtlCol="0"/>
          <a:lstStyle>
            <a:lvl1pPr algn="l" indent="0" marL="0">
              <a:buNone/>
              <a:defRPr lang="en-US" sz="1100" b="1" spc="400" kern="0" dirty="0">
                <a:solidFill>
                  <a:schemeClr val="accent1"/>
                </a:solidFill>
              </a:defRPr>
            </a:lvl1pPr>
          </a:lstStyle>
          <a:p>
            <a:pPr algn="l" indent="0" marL="0">
              <a:buNone/>
            </a:pPr>
            <a:endParaRPr lang="en-US" sz="1100" dirty="0"/>
          </a:p>
        </p:txBody>
      </p:sp>
      <p:sp>
        <p:nvSpPr>
          <p:cNvPr id="5" name="Text 2"/>
          <p:cNvSpPr/>
          <p:nvPr>
            <p:ph idx="103" type="title" hasCustomPrompt="1"/>
          </p:nvPr>
        </p:nvSpPr>
        <p:spPr>
          <a:xfrm>
            <a:off x="685800" y="713232"/>
            <a:ext cx="10789920" cy="822960"/>
          </a:xfrm>
          <a:prstGeom prst="rect">
            <a:avLst/>
          </a:prstGeom>
          <a:noFill/>
          <a:ln/>
        </p:spPr>
        <p:txBody>
          <a:bodyPr wrap="square" rtlCol="0"/>
          <a:lstStyle>
            <a:lvl1pPr algn="l" indent="0" marL="0">
              <a:buNone/>
              <a:defRPr lang="en-US" sz="3400"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Contou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tx2"/>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nvSpPr>
        <p:spPr>
          <a:xfrm>
            <a:off x="4206240" y="6327648"/>
            <a:ext cx="6217920" cy="274320"/>
          </a:xfrm>
          <a:prstGeom prst="rect">
            <a:avLst/>
          </a:prstGeom>
          <a:noFill/>
          <a:ln/>
        </p:spPr>
        <p:txBody>
          <a:bodyPr wrap="square" lIns="0" tIns="0" rIns="0" bIns="0" rtlCol="0" anchor="ctr"/>
          <a:lstStyle/>
          <a:p>
            <a:pPr algn="r" indent="0" marL="0">
              <a:buNone/>
            </a:pPr>
            <a:r>
              <a:rPr lang="en-US" sz="900" dirty="0">
                <a:solidFill>
                  <a:schemeClr val="accent4"/>
                </a:solidFill>
              </a:rPr>
              <a:t>Annual AML/CFT/CPF Training 2026   ·   Internal use only</a:t>
            </a:r>
            <a:endParaRPr lang="en-US" sz="900" dirty="0"/>
          </a:p>
        </p:txBody>
      </p:sp>
      <p:sp>
        <p:nvSpPr>
          <p:cNvPr id="4" name="Text 2"/>
          <p:cNvSpPr/>
          <p:nvPr>
            <p:ph idx="102" type="body" hasCustomPrompt="1"/>
          </p:nvPr>
        </p:nvSpPr>
        <p:spPr>
          <a:xfrm>
            <a:off x="685800" y="411480"/>
            <a:ext cx="9144000" cy="274320"/>
          </a:xfrm>
          <a:prstGeom prst="rect">
            <a:avLst/>
          </a:prstGeom>
          <a:noFill/>
          <a:ln/>
        </p:spPr>
        <p:txBody>
          <a:bodyPr wrap="square" rtlCol="0"/>
          <a:lstStyle>
            <a:lvl1pPr algn="l" indent="0" marL="0">
              <a:buNone/>
              <a:defRPr lang="en-US" sz="1100" b="1" spc="400" kern="0" dirty="0">
                <a:solidFill>
                  <a:schemeClr val="accent1"/>
                </a:solidFill>
              </a:defRPr>
            </a:lvl1pPr>
          </a:lstStyle>
          <a:p>
            <a:pPr algn="l" indent="0" marL="0">
              <a:buNone/>
            </a:pPr>
            <a:endParaRPr lang="en-US" sz="1100" dirty="0"/>
          </a:p>
        </p:txBody>
      </p:sp>
      <p:sp>
        <p:nvSpPr>
          <p:cNvPr id="5" name="Text 2"/>
          <p:cNvSpPr/>
          <p:nvPr>
            <p:ph idx="103" type="title" hasCustomPrompt="1"/>
          </p:nvPr>
        </p:nvSpPr>
        <p:spPr>
          <a:xfrm>
            <a:off x="685800" y="713232"/>
            <a:ext cx="10789920" cy="822960"/>
          </a:xfrm>
          <a:prstGeom prst="rect">
            <a:avLst/>
          </a:prstGeom>
          <a:noFill/>
          <a:ln/>
        </p:spPr>
        <p:txBody>
          <a:bodyPr wrap="square" rtlCol="0"/>
          <a:lstStyle>
            <a:lvl1pPr algn="l" indent="0" marL="0">
              <a:buNone/>
              <a:defRPr lang="en-US" sz="3400"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bg1"/>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nvSpPr>
        <p:spPr>
          <a:xfrm>
            <a:off x="4206240" y="6327648"/>
            <a:ext cx="6217920" cy="274320"/>
          </a:xfrm>
          <a:prstGeom prst="rect">
            <a:avLst/>
          </a:prstGeom>
          <a:noFill/>
          <a:ln/>
        </p:spPr>
        <p:txBody>
          <a:bodyPr wrap="square" lIns="0" tIns="0" rIns="0" bIns="0" rtlCol="0" anchor="ctr"/>
          <a:lstStyle/>
          <a:p>
            <a:pPr algn="r" indent="0" marL="0">
              <a:buNone/>
            </a:pPr>
            <a:r>
              <a:rPr lang="en-US" sz="900" dirty="0">
                <a:solidFill>
                  <a:schemeClr val="accent6"/>
                </a:solidFill>
              </a:rPr>
              <a:t>Annual AML/CFT/CPF Training 2026   ·   Internal use only</a:t>
            </a:r>
            <a:endParaRPr lang="en-US" sz="900" dirty="0"/>
          </a:p>
        </p:txBody>
      </p:sp>
      <p:sp>
        <p:nvSpPr>
          <p:cNvPr id="4" name="Text 2"/>
          <p:cNvSpPr/>
          <p:nvPr>
            <p:ph idx="102" type="body" hasCustomPrompt="1"/>
          </p:nvPr>
        </p:nvSpPr>
        <p:spPr>
          <a:xfrm>
            <a:off x="685800" y="411480"/>
            <a:ext cx="9144000" cy="274320"/>
          </a:xfrm>
          <a:prstGeom prst="rect">
            <a:avLst/>
          </a:prstGeom>
          <a:noFill/>
          <a:ln/>
        </p:spPr>
        <p:txBody>
          <a:bodyPr wrap="square" rtlCol="0"/>
          <a:lstStyle>
            <a:lvl1pPr algn="l" indent="0" marL="0">
              <a:buNone/>
              <a:defRPr lang="en-US" sz="1100" b="1" spc="400" kern="0" dirty="0">
                <a:solidFill>
                  <a:schemeClr val="accent5"/>
                </a:solidFill>
              </a:defRPr>
            </a:lvl1pPr>
          </a:lstStyle>
          <a:p>
            <a:pPr algn="l" indent="0" marL="0">
              <a:buNone/>
            </a:pPr>
            <a:endParaRPr lang="en-US" sz="1100" dirty="0"/>
          </a:p>
        </p:txBody>
      </p:sp>
      <p:sp>
        <p:nvSpPr>
          <p:cNvPr id="5" name="Text 2"/>
          <p:cNvSpPr/>
          <p:nvPr>
            <p:ph idx="103" type="title" hasCustomPrompt="1"/>
          </p:nvPr>
        </p:nvSpPr>
        <p:spPr>
          <a:xfrm>
            <a:off x="685800" y="713232"/>
            <a:ext cx="10789920" cy="822960"/>
          </a:xfrm>
          <a:prstGeom prst="rect">
            <a:avLst/>
          </a:prstGeom>
          <a:noFill/>
          <a:ln/>
        </p:spPr>
        <p:txBody>
          <a:bodyPr wrap="square" rtlCol="0"/>
          <a:lstStyle>
            <a:lvl1pPr algn="l" indent="0" marL="0">
              <a:buNone/>
              <a:defRPr lang="en-US" sz="3400"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5.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5.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5.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5.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5.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slideLayout" Target="../slideLayouts/slideLayout4.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6.xml"/><Relationship Id="rId6"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685800" y="1417320"/>
            <a:ext cx="7315200" cy="365760"/>
          </a:xfrm>
          <a:prstGeom prst="rect">
            <a:avLst/>
          </a:prstGeom>
          <a:noFill/>
          <a:ln/>
        </p:spPr>
        <p:txBody>
          <a:bodyPr wrap="square" lIns="0" tIns="0" rIns="0" bIns="0" rtlCol="0"/>
          <a:lstStyle/>
          <a:p>
            <a:pPr algn="l" indent="0" marL="0">
              <a:buNone/>
            </a:pPr>
            <a:r>
              <a:rPr lang="en-US" sz="1300" b="1" spc="400" kern="0" dirty="0">
                <a:solidFill>
                  <a:schemeClr val="accent5"/>
                </a:solidFill>
              </a:rPr>
              <a:t>ANNUAL TRAINING 2026</a:t>
            </a:r>
            <a:endParaRPr lang="en-US" sz="1300" dirty="0"/>
          </a:p>
        </p:txBody>
      </p:sp>
      <p:sp>
        <p:nvSpPr>
          <p:cNvPr id="3" name="Text 1"/>
          <p:cNvSpPr/>
          <p:nvPr>
            <p:ph idx="102" type="title" hasCustomPrompt="1"/>
          </p:nvPr>
        </p:nvSpPr>
        <p:spPr>
          <a:xfrm>
            <a:off x="685800" y="1874520"/>
            <a:ext cx="7863840" cy="2194560"/>
          </a:xfrm>
          <a:prstGeom prst="rect">
            <a:avLst/>
          </a:prstGeom>
          <a:noFill/>
          <a:ln/>
        </p:spPr>
        <p:txBody>
          <a:bodyPr wrap="square" lIns="0" tIns="0" rIns="0" bIns="0" rtlCol="0" anchor="t"/>
          <a:lstStyle/>
          <a:p>
            <a:pPr algn="l" indent="0" marL="0">
              <a:buNone/>
            </a:pPr>
            <a:r>
              <a:rPr lang="en-US" sz="5800" dirty="0">
                <a:solidFill>
                  <a:schemeClr val="bg1"/>
                </a:solidFill>
                <a:latin typeface="Cambria" pitchFamily="34" charset="0"/>
                <a:ea typeface="Cambria" pitchFamily="34" charset="-122"/>
                <a:cs typeface="Cambria" pitchFamily="34" charset="-120"/>
              </a:rPr>
              <a:t>Vigilance,</a:t>
            </a:r>
            <a:endParaRPr lang="en-US" sz="5800" dirty="0"/>
          </a:p>
          <a:p>
            <a:pPr algn="l" indent="0" marL="0">
              <a:buNone/>
            </a:pPr>
            <a:r>
              <a:rPr lang="en-US" sz="5800" dirty="0">
                <a:solidFill>
                  <a:schemeClr val="bg1"/>
                </a:solidFill>
                <a:latin typeface="Cambria" pitchFamily="34" charset="0"/>
                <a:ea typeface="Cambria" pitchFamily="34" charset="-122"/>
                <a:cs typeface="Cambria" pitchFamily="34" charset="-120"/>
              </a:rPr>
              <a:t>renewed</a:t>
            </a:r>
            <a:endParaRPr lang="en-US" sz="5800" dirty="0"/>
          </a:p>
        </p:txBody>
      </p:sp>
      <p:sp>
        <p:nvSpPr>
          <p:cNvPr id="4" name="Text 1"/>
          <p:cNvSpPr/>
          <p:nvPr>
            <p:ph idx="103" type="body" hasCustomPrompt="1"/>
          </p:nvPr>
        </p:nvSpPr>
        <p:spPr>
          <a:xfrm>
            <a:off x="685800" y="4206240"/>
            <a:ext cx="6949440" cy="914400"/>
          </a:xfrm>
          <a:prstGeom prst="rect">
            <a:avLst/>
          </a:prstGeom>
          <a:noFill/>
          <a:ln/>
        </p:spPr>
        <p:txBody>
          <a:bodyPr wrap="square" lIns="0" tIns="0" rIns="0" bIns="0" rtlCol="0" anchor="t"/>
          <a:lstStyle/>
          <a:p>
            <a:pPr algn="l" indent="0" marL="0">
              <a:buNone/>
            </a:pPr>
            <a:r>
              <a:rPr lang="en-US" sz="1800" dirty="0">
                <a:solidFill>
                  <a:schemeClr val="accent6"/>
                </a:solidFill>
              </a:rPr>
              <a:t>Our annual anti-money laundering, counter-terrorist financing and counter-proliferation financing training for all partners and staff</a:t>
            </a:r>
            <a:endParaRPr lang="en-US" sz="1800" dirty="0"/>
          </a:p>
        </p:txBody>
      </p:sp>
      <p:sp>
        <p:nvSpPr>
          <p:cNvPr id="5" name="Text 1"/>
          <p:cNvSpPr/>
          <p:nvPr>
            <p:ph idx="104" type="body" hasCustomPrompt="1"/>
          </p:nvPr>
        </p:nvSpPr>
        <p:spPr>
          <a:xfrm>
            <a:off x="685800" y="5349240"/>
            <a:ext cx="7315200" cy="548640"/>
          </a:xfrm>
          <a:prstGeom prst="rect">
            <a:avLst/>
          </a:prstGeom>
          <a:noFill/>
          <a:ln/>
        </p:spPr>
        <p:txBody>
          <a:bodyPr wrap="square" lIns="0" tIns="0" rIns="0" bIns="0" rtlCol="0" anchor="t"/>
          <a:lstStyle/>
          <a:p>
            <a:pPr algn="l" indent="0" marL="0">
              <a:buNone/>
            </a:pPr>
            <a:r>
              <a:rPr lang="en-US" sz="1200" dirty="0">
                <a:solidFill>
                  <a:schemeClr val="bg1"/>
                </a:solidFill>
              </a:rPr>
              <a:t>Presented by [Name], Compliance Officer   ·   [Date]   ·   Mandatory for all staff</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TODAY</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Five parts, ninety minutes</a:t>
            </a:r>
            <a:endParaRPr lang="en-US" sz="3400" dirty="0"/>
          </a:p>
        </p:txBody>
      </p:sp>
      <p:sp>
        <p:nvSpPr>
          <p:cNvPr id="5" name="Agenda row"/>
          <p:cNvSpPr/>
          <p:nvPr/>
        </p:nvSpPr>
        <p:spPr>
          <a:xfrm>
            <a:off x="685800" y="1810512"/>
            <a:ext cx="10817352" cy="694944"/>
          </a:xfrm>
          <a:prstGeom prst="roundRect">
            <a:avLst>
              <a:gd name="adj" fmla="val 15789"/>
            </a:avLst>
          </a:prstGeom>
          <a:solidFill>
            <a:schemeClr val="bg1"/>
          </a:solidFill>
          <a:ln/>
          <a:effectLst>
            <a:outerShdw sx="100000" sy="100000" kx="0" ky="0" algn="bl" rotWithShape="0" blurRad="177800" dist="38100" dir="5400000">
              <a:srgbClr val="0B1F2A">
                <a:alpha val="10000"/>
              </a:srgbClr>
            </a:outerShdw>
          </a:effectLst>
        </p:spPr>
      </p:sp>
      <p:sp>
        <p:nvSpPr>
          <p:cNvPr id="6" name="Text 3"/>
          <p:cNvSpPr txBox="1"/>
          <p:nvPr/>
        </p:nvSpPr>
        <p:spPr>
          <a:xfrm>
            <a:off x="960120" y="1901952"/>
            <a:ext cx="822960" cy="512064"/>
          </a:xfrm>
          <a:prstGeom prst="rect">
            <a:avLst/>
          </a:prstGeom>
          <a:noFill/>
          <a:ln/>
        </p:spPr>
        <p:txBody>
          <a:bodyPr wrap="square" lIns="0" tIns="0" rIns="0" bIns="0" rtlCol="0" anchor="ctr"/>
          <a:lstStyle/>
          <a:p>
            <a:pPr indent="0" marL="0">
              <a:buNone/>
            </a:pPr>
            <a:r>
              <a:rPr lang="en-US" sz="2600" dirty="0">
                <a:solidFill>
                  <a:schemeClr val="accent1"/>
                </a:solidFill>
                <a:latin typeface="Cambria" pitchFamily="34" charset="0"/>
                <a:ea typeface="Cambria" pitchFamily="34" charset="-122"/>
                <a:cs typeface="Cambria" pitchFamily="34" charset="-120"/>
              </a:rPr>
              <a:t>01</a:t>
            </a:r>
            <a:endParaRPr lang="en-US" sz="2600" dirty="0"/>
          </a:p>
        </p:txBody>
      </p:sp>
      <p:sp>
        <p:nvSpPr>
          <p:cNvPr id="7" name="Text 4"/>
          <p:cNvSpPr txBox="1"/>
          <p:nvPr/>
        </p:nvSpPr>
        <p:spPr>
          <a:xfrm>
            <a:off x="1874520" y="1901952"/>
            <a:ext cx="3291840" cy="512064"/>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The year in review</a:t>
            </a:r>
            <a:endParaRPr lang="en-US" sz="1900" dirty="0"/>
          </a:p>
        </p:txBody>
      </p:sp>
      <p:sp>
        <p:nvSpPr>
          <p:cNvPr id="8" name="Text 5"/>
          <p:cNvSpPr txBox="1"/>
          <p:nvPr/>
        </p:nvSpPr>
        <p:spPr>
          <a:xfrm>
            <a:off x="5257800" y="1901952"/>
            <a:ext cx="4937760" cy="512064"/>
          </a:xfrm>
          <a:prstGeom prst="rect">
            <a:avLst/>
          </a:prstGeom>
          <a:noFill/>
          <a:ln/>
        </p:spPr>
        <p:txBody>
          <a:bodyPr wrap="square" lIns="0" tIns="0" rIns="0" bIns="0" rtlCol="0" anchor="ctr"/>
          <a:lstStyle/>
          <a:p>
            <a:pPr indent="0" marL="0">
              <a:buNone/>
            </a:pPr>
            <a:r>
              <a:rPr lang="en-US" sz="1400" dirty="0">
                <a:solidFill>
                  <a:schemeClr val="tx2"/>
                </a:solidFill>
              </a:rPr>
              <a:t>Regulatory change, the TCI's standing, and our own numbers</a:t>
            </a:r>
            <a:endParaRPr lang="en-US" sz="1400" dirty="0"/>
          </a:p>
        </p:txBody>
      </p:sp>
      <p:sp>
        <p:nvSpPr>
          <p:cNvPr id="9" name="Text 6"/>
          <p:cNvSpPr txBox="1"/>
          <p:nvPr/>
        </p:nvSpPr>
        <p:spPr>
          <a:xfrm>
            <a:off x="10287000" y="1901952"/>
            <a:ext cx="960120" cy="512064"/>
          </a:xfrm>
          <a:prstGeom prst="rect">
            <a:avLst/>
          </a:prstGeom>
          <a:noFill/>
          <a:ln/>
        </p:spPr>
        <p:txBody>
          <a:bodyPr wrap="square" lIns="0" tIns="0" rIns="0" bIns="0" rtlCol="0" anchor="ctr"/>
          <a:lstStyle/>
          <a:p>
            <a:pPr algn="r" indent="0" marL="0">
              <a:buNone/>
            </a:pPr>
            <a:r>
              <a:rPr lang="en-US" sz="1200" b="1" dirty="0">
                <a:solidFill>
                  <a:schemeClr val="accent4"/>
                </a:solidFill>
              </a:rPr>
              <a:t>10 min</a:t>
            </a:r>
            <a:endParaRPr lang="en-US" sz="1200" dirty="0"/>
          </a:p>
        </p:txBody>
      </p:sp>
      <p:sp>
        <p:nvSpPr>
          <p:cNvPr id="10" name="Agenda row"/>
          <p:cNvSpPr/>
          <p:nvPr/>
        </p:nvSpPr>
        <p:spPr>
          <a:xfrm>
            <a:off x="685800" y="2633472"/>
            <a:ext cx="10817352" cy="694944"/>
          </a:xfrm>
          <a:prstGeom prst="roundRect">
            <a:avLst>
              <a:gd name="adj" fmla="val 15789"/>
            </a:avLst>
          </a:prstGeom>
          <a:solidFill>
            <a:schemeClr val="bg1"/>
          </a:solidFill>
          <a:ln/>
          <a:effectLst>
            <a:outerShdw sx="100000" sy="100000" kx="0" ky="0" algn="bl" rotWithShape="0" blurRad="177800" dist="38100" dir="5400000">
              <a:srgbClr val="0B1F2A">
                <a:alpha val="10000"/>
              </a:srgbClr>
            </a:outerShdw>
          </a:effectLst>
        </p:spPr>
      </p:sp>
      <p:sp>
        <p:nvSpPr>
          <p:cNvPr id="11" name="Text 8"/>
          <p:cNvSpPr txBox="1"/>
          <p:nvPr/>
        </p:nvSpPr>
        <p:spPr>
          <a:xfrm>
            <a:off x="960120" y="2724912"/>
            <a:ext cx="822960" cy="512064"/>
          </a:xfrm>
          <a:prstGeom prst="rect">
            <a:avLst/>
          </a:prstGeom>
          <a:noFill/>
          <a:ln/>
        </p:spPr>
        <p:txBody>
          <a:bodyPr wrap="square" lIns="0" tIns="0" rIns="0" bIns="0" rtlCol="0" anchor="ctr"/>
          <a:lstStyle/>
          <a:p>
            <a:pPr indent="0" marL="0">
              <a:buNone/>
            </a:pPr>
            <a:r>
              <a:rPr lang="en-US" sz="2600" dirty="0">
                <a:solidFill>
                  <a:schemeClr val="accent1"/>
                </a:solidFill>
                <a:latin typeface="Cambria" pitchFamily="34" charset="0"/>
                <a:ea typeface="Cambria" pitchFamily="34" charset="-122"/>
                <a:cs typeface="Cambria" pitchFamily="34" charset="-120"/>
              </a:rPr>
              <a:t>02</a:t>
            </a:r>
            <a:endParaRPr lang="en-US" sz="2600" dirty="0"/>
          </a:p>
        </p:txBody>
      </p:sp>
      <p:sp>
        <p:nvSpPr>
          <p:cNvPr id="12" name="Text 9"/>
          <p:cNvSpPr txBox="1"/>
          <p:nvPr/>
        </p:nvSpPr>
        <p:spPr>
          <a:xfrm>
            <a:off x="1874520" y="2724912"/>
            <a:ext cx="3291840" cy="512064"/>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Essentials, refreshed</a:t>
            </a:r>
            <a:endParaRPr lang="en-US" sz="1900" dirty="0"/>
          </a:p>
        </p:txBody>
      </p:sp>
      <p:sp>
        <p:nvSpPr>
          <p:cNvPr id="13" name="Text 10"/>
          <p:cNvSpPr txBox="1"/>
          <p:nvPr/>
        </p:nvSpPr>
        <p:spPr>
          <a:xfrm>
            <a:off x="5257800" y="2724912"/>
            <a:ext cx="4937760" cy="512064"/>
          </a:xfrm>
          <a:prstGeom prst="rect">
            <a:avLst/>
          </a:prstGeom>
          <a:noFill/>
          <a:ln/>
        </p:spPr>
        <p:txBody>
          <a:bodyPr wrap="square" lIns="0" tIns="0" rIns="0" bIns="0" rtlCol="0" anchor="ctr"/>
          <a:lstStyle/>
          <a:p>
            <a:pPr indent="0" marL="0">
              <a:buNone/>
            </a:pPr>
            <a:r>
              <a:rPr lang="en-US" sz="1400" dirty="0">
                <a:solidFill>
                  <a:schemeClr val="tx2"/>
                </a:solidFill>
              </a:rPr>
              <a:t>The rules that never change</a:t>
            </a:r>
            <a:endParaRPr lang="en-US" sz="1400" dirty="0"/>
          </a:p>
        </p:txBody>
      </p:sp>
      <p:sp>
        <p:nvSpPr>
          <p:cNvPr id="14" name="Text 11"/>
          <p:cNvSpPr txBox="1"/>
          <p:nvPr/>
        </p:nvSpPr>
        <p:spPr>
          <a:xfrm>
            <a:off x="10287000" y="2724912"/>
            <a:ext cx="960120" cy="512064"/>
          </a:xfrm>
          <a:prstGeom prst="rect">
            <a:avLst/>
          </a:prstGeom>
          <a:noFill/>
          <a:ln/>
        </p:spPr>
        <p:txBody>
          <a:bodyPr wrap="square" lIns="0" tIns="0" rIns="0" bIns="0" rtlCol="0" anchor="ctr"/>
          <a:lstStyle/>
          <a:p>
            <a:pPr algn="r" indent="0" marL="0">
              <a:buNone/>
            </a:pPr>
            <a:r>
              <a:rPr lang="en-US" sz="1200" b="1" dirty="0">
                <a:solidFill>
                  <a:schemeClr val="accent4"/>
                </a:solidFill>
              </a:rPr>
              <a:t>15 min</a:t>
            </a:r>
            <a:endParaRPr lang="en-US" sz="1200" dirty="0"/>
          </a:p>
        </p:txBody>
      </p:sp>
      <p:sp>
        <p:nvSpPr>
          <p:cNvPr id="15" name="Agenda row"/>
          <p:cNvSpPr/>
          <p:nvPr/>
        </p:nvSpPr>
        <p:spPr>
          <a:xfrm>
            <a:off x="685800" y="3456432"/>
            <a:ext cx="10817352" cy="694944"/>
          </a:xfrm>
          <a:prstGeom prst="roundRect">
            <a:avLst>
              <a:gd name="adj" fmla="val 15789"/>
            </a:avLst>
          </a:prstGeom>
          <a:solidFill>
            <a:schemeClr val="bg1"/>
          </a:solidFill>
          <a:ln/>
          <a:effectLst>
            <a:outerShdw sx="100000" sy="100000" kx="0" ky="0" algn="bl" rotWithShape="0" blurRad="177800" dist="38100" dir="5400000">
              <a:srgbClr val="0B1F2A">
                <a:alpha val="10000"/>
              </a:srgbClr>
            </a:outerShdw>
          </a:effectLst>
        </p:spPr>
      </p:sp>
      <p:sp>
        <p:nvSpPr>
          <p:cNvPr id="16" name="Text 13"/>
          <p:cNvSpPr txBox="1"/>
          <p:nvPr/>
        </p:nvSpPr>
        <p:spPr>
          <a:xfrm>
            <a:off x="960120" y="3547872"/>
            <a:ext cx="822960" cy="512064"/>
          </a:xfrm>
          <a:prstGeom prst="rect">
            <a:avLst/>
          </a:prstGeom>
          <a:noFill/>
          <a:ln/>
        </p:spPr>
        <p:txBody>
          <a:bodyPr wrap="square" lIns="0" tIns="0" rIns="0" bIns="0" rtlCol="0" anchor="ctr"/>
          <a:lstStyle/>
          <a:p>
            <a:pPr indent="0" marL="0">
              <a:buNone/>
            </a:pPr>
            <a:r>
              <a:rPr lang="en-US" sz="2600" dirty="0">
                <a:solidFill>
                  <a:schemeClr val="accent1"/>
                </a:solidFill>
                <a:latin typeface="Cambria" pitchFamily="34" charset="0"/>
                <a:ea typeface="Cambria" pitchFamily="34" charset="-122"/>
                <a:cs typeface="Cambria" pitchFamily="34" charset="-120"/>
              </a:rPr>
              <a:t>03</a:t>
            </a:r>
            <a:endParaRPr lang="en-US" sz="2600" dirty="0"/>
          </a:p>
        </p:txBody>
      </p:sp>
      <p:sp>
        <p:nvSpPr>
          <p:cNvPr id="17" name="Text 14"/>
          <p:cNvSpPr txBox="1"/>
          <p:nvPr/>
        </p:nvSpPr>
        <p:spPr>
          <a:xfrm>
            <a:off x="1874520" y="3547872"/>
            <a:ext cx="3291840" cy="512064"/>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Emerging threats</a:t>
            </a:r>
            <a:endParaRPr lang="en-US" sz="1900" dirty="0"/>
          </a:p>
        </p:txBody>
      </p:sp>
      <p:sp>
        <p:nvSpPr>
          <p:cNvPr id="18" name="Text 15"/>
          <p:cNvSpPr txBox="1"/>
          <p:nvPr/>
        </p:nvSpPr>
        <p:spPr>
          <a:xfrm>
            <a:off x="5257800" y="3547872"/>
            <a:ext cx="4937760" cy="512064"/>
          </a:xfrm>
          <a:prstGeom prst="rect">
            <a:avLst/>
          </a:prstGeom>
          <a:noFill/>
          <a:ln/>
        </p:spPr>
        <p:txBody>
          <a:bodyPr wrap="square" lIns="0" tIns="0" rIns="0" bIns="0" rtlCol="0" anchor="ctr"/>
          <a:lstStyle/>
          <a:p>
            <a:pPr indent="0" marL="0">
              <a:buNone/>
            </a:pPr>
            <a:r>
              <a:rPr lang="en-US" sz="1400" dirty="0">
                <a:solidFill>
                  <a:schemeClr val="tx2"/>
                </a:solidFill>
              </a:rPr>
              <a:t>What criminals are doing differently</a:t>
            </a:r>
            <a:endParaRPr lang="en-US" sz="1400" dirty="0"/>
          </a:p>
        </p:txBody>
      </p:sp>
      <p:sp>
        <p:nvSpPr>
          <p:cNvPr id="19" name="Text 16"/>
          <p:cNvSpPr txBox="1"/>
          <p:nvPr/>
        </p:nvSpPr>
        <p:spPr>
          <a:xfrm>
            <a:off x="10287000" y="3547872"/>
            <a:ext cx="960120" cy="512064"/>
          </a:xfrm>
          <a:prstGeom prst="rect">
            <a:avLst/>
          </a:prstGeom>
          <a:noFill/>
          <a:ln/>
        </p:spPr>
        <p:txBody>
          <a:bodyPr wrap="square" lIns="0" tIns="0" rIns="0" bIns="0" rtlCol="0" anchor="ctr"/>
          <a:lstStyle/>
          <a:p>
            <a:pPr algn="r" indent="0" marL="0">
              <a:buNone/>
            </a:pPr>
            <a:r>
              <a:rPr lang="en-US" sz="1200" b="1" dirty="0">
                <a:solidFill>
                  <a:schemeClr val="accent4"/>
                </a:solidFill>
              </a:rPr>
              <a:t>20 min</a:t>
            </a:r>
            <a:endParaRPr lang="en-US" sz="1200" dirty="0"/>
          </a:p>
        </p:txBody>
      </p:sp>
      <p:sp>
        <p:nvSpPr>
          <p:cNvPr id="20" name="Agenda row"/>
          <p:cNvSpPr/>
          <p:nvPr/>
        </p:nvSpPr>
        <p:spPr>
          <a:xfrm>
            <a:off x="685800" y="4279392"/>
            <a:ext cx="10817352" cy="694944"/>
          </a:xfrm>
          <a:prstGeom prst="roundRect">
            <a:avLst>
              <a:gd name="adj" fmla="val 15789"/>
            </a:avLst>
          </a:prstGeom>
          <a:solidFill>
            <a:schemeClr val="bg1"/>
          </a:solidFill>
          <a:ln/>
          <a:effectLst>
            <a:outerShdw sx="100000" sy="100000" kx="0" ky="0" algn="bl" rotWithShape="0" blurRad="177800" dist="38100" dir="5400000">
              <a:srgbClr val="0B1F2A">
                <a:alpha val="10000"/>
              </a:srgbClr>
            </a:outerShdw>
          </a:effectLst>
        </p:spPr>
      </p:sp>
      <p:sp>
        <p:nvSpPr>
          <p:cNvPr id="21" name="Text 18"/>
          <p:cNvSpPr txBox="1"/>
          <p:nvPr/>
        </p:nvSpPr>
        <p:spPr>
          <a:xfrm>
            <a:off x="960120" y="4370832"/>
            <a:ext cx="822960" cy="512064"/>
          </a:xfrm>
          <a:prstGeom prst="rect">
            <a:avLst/>
          </a:prstGeom>
          <a:noFill/>
          <a:ln/>
        </p:spPr>
        <p:txBody>
          <a:bodyPr wrap="square" lIns="0" tIns="0" rIns="0" bIns="0" rtlCol="0" anchor="ctr"/>
          <a:lstStyle/>
          <a:p>
            <a:pPr indent="0" marL="0">
              <a:buNone/>
            </a:pPr>
            <a:r>
              <a:rPr lang="en-US" sz="2600" dirty="0">
                <a:solidFill>
                  <a:schemeClr val="accent1"/>
                </a:solidFill>
                <a:latin typeface="Cambria" pitchFamily="34" charset="0"/>
                <a:ea typeface="Cambria" pitchFamily="34" charset="-122"/>
                <a:cs typeface="Cambria" pitchFamily="34" charset="-120"/>
              </a:rPr>
              <a:t>04</a:t>
            </a:r>
            <a:endParaRPr lang="en-US" sz="2600" dirty="0"/>
          </a:p>
        </p:txBody>
      </p:sp>
      <p:sp>
        <p:nvSpPr>
          <p:cNvPr id="22" name="Text 19"/>
          <p:cNvSpPr txBox="1"/>
          <p:nvPr/>
        </p:nvSpPr>
        <p:spPr>
          <a:xfrm>
            <a:off x="1874520" y="4370832"/>
            <a:ext cx="3291840" cy="512064"/>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Case studies</a:t>
            </a:r>
            <a:endParaRPr lang="en-US" sz="1900" dirty="0"/>
          </a:p>
        </p:txBody>
      </p:sp>
      <p:sp>
        <p:nvSpPr>
          <p:cNvPr id="23" name="Text 20"/>
          <p:cNvSpPr txBox="1"/>
          <p:nvPr/>
        </p:nvSpPr>
        <p:spPr>
          <a:xfrm>
            <a:off x="5257800" y="4370832"/>
            <a:ext cx="4937760" cy="512064"/>
          </a:xfrm>
          <a:prstGeom prst="rect">
            <a:avLst/>
          </a:prstGeom>
          <a:noFill/>
          <a:ln/>
        </p:spPr>
        <p:txBody>
          <a:bodyPr wrap="square" lIns="0" tIns="0" rIns="0" bIns="0" rtlCol="0" anchor="ctr"/>
          <a:lstStyle/>
          <a:p>
            <a:pPr indent="0" marL="0">
              <a:buNone/>
            </a:pPr>
            <a:r>
              <a:rPr lang="en-US" sz="1400" dirty="0">
                <a:solidFill>
                  <a:schemeClr val="tx2"/>
                </a:solidFill>
              </a:rPr>
              <a:t>Four scenarios: what would you do?</a:t>
            </a:r>
            <a:endParaRPr lang="en-US" sz="1400" dirty="0"/>
          </a:p>
        </p:txBody>
      </p:sp>
      <p:sp>
        <p:nvSpPr>
          <p:cNvPr id="24" name="Text 21"/>
          <p:cNvSpPr txBox="1"/>
          <p:nvPr/>
        </p:nvSpPr>
        <p:spPr>
          <a:xfrm>
            <a:off x="10287000" y="4370832"/>
            <a:ext cx="960120" cy="512064"/>
          </a:xfrm>
          <a:prstGeom prst="rect">
            <a:avLst/>
          </a:prstGeom>
          <a:noFill/>
          <a:ln/>
        </p:spPr>
        <p:txBody>
          <a:bodyPr wrap="square" lIns="0" tIns="0" rIns="0" bIns="0" rtlCol="0" anchor="ctr"/>
          <a:lstStyle/>
          <a:p>
            <a:pPr algn="r" indent="0" marL="0">
              <a:buNone/>
            </a:pPr>
            <a:r>
              <a:rPr lang="en-US" sz="1200" b="1" dirty="0">
                <a:solidFill>
                  <a:schemeClr val="accent4"/>
                </a:solidFill>
              </a:rPr>
              <a:t>30 min</a:t>
            </a:r>
            <a:endParaRPr lang="en-US" sz="1200" dirty="0"/>
          </a:p>
        </p:txBody>
      </p:sp>
      <p:sp>
        <p:nvSpPr>
          <p:cNvPr id="25" name="Agenda row"/>
          <p:cNvSpPr/>
          <p:nvPr/>
        </p:nvSpPr>
        <p:spPr>
          <a:xfrm>
            <a:off x="685800" y="5102352"/>
            <a:ext cx="10817352" cy="694944"/>
          </a:xfrm>
          <a:prstGeom prst="roundRect">
            <a:avLst>
              <a:gd name="adj" fmla="val 15789"/>
            </a:avLst>
          </a:prstGeom>
          <a:solidFill>
            <a:schemeClr val="bg1"/>
          </a:solidFill>
          <a:ln/>
          <a:effectLst>
            <a:outerShdw sx="100000" sy="100000" kx="0" ky="0" algn="bl" rotWithShape="0" blurRad="177800" dist="38100" dir="5400000">
              <a:srgbClr val="0B1F2A">
                <a:alpha val="10000"/>
              </a:srgbClr>
            </a:outerShdw>
          </a:effectLst>
        </p:spPr>
      </p:sp>
      <p:sp>
        <p:nvSpPr>
          <p:cNvPr id="26" name="Text 23"/>
          <p:cNvSpPr txBox="1"/>
          <p:nvPr/>
        </p:nvSpPr>
        <p:spPr>
          <a:xfrm>
            <a:off x="960120" y="5193792"/>
            <a:ext cx="822960" cy="512064"/>
          </a:xfrm>
          <a:prstGeom prst="rect">
            <a:avLst/>
          </a:prstGeom>
          <a:noFill/>
          <a:ln/>
        </p:spPr>
        <p:txBody>
          <a:bodyPr wrap="square" lIns="0" tIns="0" rIns="0" bIns="0" rtlCol="0" anchor="ctr"/>
          <a:lstStyle/>
          <a:p>
            <a:pPr indent="0" marL="0">
              <a:buNone/>
            </a:pPr>
            <a:r>
              <a:rPr lang="en-US" sz="2600" dirty="0">
                <a:solidFill>
                  <a:schemeClr val="accent1"/>
                </a:solidFill>
                <a:latin typeface="Cambria" pitchFamily="34" charset="0"/>
                <a:ea typeface="Cambria" pitchFamily="34" charset="-122"/>
                <a:cs typeface="Cambria" pitchFamily="34" charset="-120"/>
              </a:rPr>
              <a:t>05</a:t>
            </a:r>
            <a:endParaRPr lang="en-US" sz="2600" dirty="0"/>
          </a:p>
        </p:txBody>
      </p:sp>
      <p:sp>
        <p:nvSpPr>
          <p:cNvPr id="27" name="Text 24"/>
          <p:cNvSpPr txBox="1"/>
          <p:nvPr/>
        </p:nvSpPr>
        <p:spPr>
          <a:xfrm>
            <a:off x="1874520" y="5193792"/>
            <a:ext cx="3291840" cy="512064"/>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Getting it right</a:t>
            </a:r>
            <a:endParaRPr lang="en-US" sz="1900" dirty="0"/>
          </a:p>
        </p:txBody>
      </p:sp>
      <p:sp>
        <p:nvSpPr>
          <p:cNvPr id="28" name="Text 25"/>
          <p:cNvSpPr txBox="1"/>
          <p:nvPr/>
        </p:nvSpPr>
        <p:spPr>
          <a:xfrm>
            <a:off x="5257800" y="5193792"/>
            <a:ext cx="4937760" cy="512064"/>
          </a:xfrm>
          <a:prstGeom prst="rect">
            <a:avLst/>
          </a:prstGeom>
          <a:noFill/>
          <a:ln/>
        </p:spPr>
        <p:txBody>
          <a:bodyPr wrap="square" lIns="0" tIns="0" rIns="0" bIns="0" rtlCol="0" anchor="ctr"/>
          <a:lstStyle/>
          <a:p>
            <a:pPr indent="0" marL="0">
              <a:buNone/>
            </a:pPr>
            <a:r>
              <a:rPr lang="en-US" sz="1400" dirty="0">
                <a:solidFill>
                  <a:schemeClr val="tx2"/>
                </a:solidFill>
              </a:rPr>
              <a:t>Common findings, assessment and attestation</a:t>
            </a:r>
            <a:endParaRPr lang="en-US" sz="1400" dirty="0"/>
          </a:p>
        </p:txBody>
      </p:sp>
      <p:sp>
        <p:nvSpPr>
          <p:cNvPr id="29" name="Text 26"/>
          <p:cNvSpPr txBox="1"/>
          <p:nvPr/>
        </p:nvSpPr>
        <p:spPr>
          <a:xfrm>
            <a:off x="10287000" y="5193792"/>
            <a:ext cx="960120" cy="512064"/>
          </a:xfrm>
          <a:prstGeom prst="rect">
            <a:avLst/>
          </a:prstGeom>
          <a:noFill/>
          <a:ln/>
        </p:spPr>
        <p:txBody>
          <a:bodyPr wrap="square" lIns="0" tIns="0" rIns="0" bIns="0" rtlCol="0" anchor="ctr"/>
          <a:lstStyle/>
          <a:p>
            <a:pPr algn="r" indent="0" marL="0">
              <a:buNone/>
            </a:pPr>
            <a:r>
              <a:rPr lang="en-US" sz="1200" b="1" dirty="0">
                <a:solidFill>
                  <a:schemeClr val="accent4"/>
                </a:solidFill>
              </a:rPr>
              <a:t>15 min</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685800" y="1097280"/>
            <a:ext cx="3657600" cy="1645920"/>
          </a:xfrm>
          <a:prstGeom prst="rect">
            <a:avLst/>
          </a:prstGeom>
          <a:noFill/>
          <a:ln/>
        </p:spPr>
        <p:txBody>
          <a:bodyPr wrap="square" lIns="0" tIns="0" rIns="0" bIns="0" rtlCol="0" anchor="b"/>
          <a:lstStyle/>
          <a:p>
            <a:pPr algn="l" indent="0" marL="0">
              <a:buNone/>
            </a:pPr>
            <a:r>
              <a:rPr lang="en-US" sz="11000" dirty="0">
                <a:solidFill>
                  <a:schemeClr val="accent1"/>
                </a:solidFill>
                <a:latin typeface="Cambria" pitchFamily="34" charset="0"/>
                <a:ea typeface="Cambria" pitchFamily="34" charset="-122"/>
                <a:cs typeface="Cambria" pitchFamily="34" charset="-120"/>
              </a:rPr>
              <a:t>01</a:t>
            </a:r>
            <a:endParaRPr lang="en-US" sz="11000" dirty="0"/>
          </a:p>
        </p:txBody>
      </p:sp>
      <p:sp>
        <p:nvSpPr>
          <p:cNvPr id="3" name="Text 2"/>
          <p:cNvSpPr/>
          <p:nvPr>
            <p:ph idx="103" type="title" hasCustomPrompt="1"/>
          </p:nvPr>
        </p:nvSpPr>
        <p:spPr>
          <a:xfrm>
            <a:off x="685800" y="2880360"/>
            <a:ext cx="8229600" cy="1188720"/>
          </a:xfrm>
          <a:prstGeom prst="rect">
            <a:avLst/>
          </a:prstGeom>
          <a:noFill/>
          <a:ln/>
        </p:spPr>
        <p:txBody>
          <a:bodyPr wrap="square" lIns="0" tIns="0" rIns="0" bIns="0" rtlCol="0" anchor="t"/>
          <a:lstStyle/>
          <a:p>
            <a:pPr algn="l" indent="0" marL="0">
              <a:buNone/>
            </a:pPr>
            <a:r>
              <a:rPr lang="en-US" sz="4400" dirty="0">
                <a:solidFill>
                  <a:schemeClr val="bg1"/>
                </a:solidFill>
                <a:latin typeface="Cambria" pitchFamily="34" charset="0"/>
                <a:ea typeface="Cambria" pitchFamily="34" charset="-122"/>
                <a:cs typeface="Cambria" pitchFamily="34" charset="-120"/>
              </a:rPr>
              <a:t>The year in review</a:t>
            </a:r>
            <a:endParaRPr lang="en-US" sz="4400" dirty="0"/>
          </a:p>
        </p:txBody>
      </p:sp>
      <p:sp>
        <p:nvSpPr>
          <p:cNvPr id="4" name="Text 2"/>
          <p:cNvSpPr/>
          <p:nvPr>
            <p:ph idx="104" type="body" hasCustomPrompt="1"/>
          </p:nvPr>
        </p:nvSpPr>
        <p:spPr>
          <a:xfrm>
            <a:off x="685800" y="4160520"/>
            <a:ext cx="6583680" cy="1097280"/>
          </a:xfrm>
          <a:prstGeom prst="rect">
            <a:avLst/>
          </a:prstGeom>
          <a:noFill/>
          <a:ln/>
        </p:spPr>
        <p:txBody>
          <a:bodyPr wrap="square" lIns="0" tIns="0" rIns="0" bIns="0" rtlCol="0" anchor="t"/>
          <a:lstStyle/>
          <a:p>
            <a:pPr algn="l" indent="0" marL="0">
              <a:buNone/>
            </a:pPr>
            <a:r>
              <a:rPr lang="en-US" sz="1800" dirty="0">
                <a:solidFill>
                  <a:schemeClr val="accent6"/>
                </a:solidFill>
              </a:rPr>
              <a:t>What has changed in the law, where the Islands stand internationally, and how we performed</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01 · YEAR IN REVIEW</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Recent regulatory developments</a:t>
            </a:r>
            <a:endParaRPr lang="en-US" sz="3400" dirty="0"/>
          </a:p>
        </p:txBody>
      </p:sp>
      <p:sp>
        <p:nvSpPr>
          <p:cNvPr id="5" name="Timeline axis"/>
          <p:cNvSpPr/>
          <p:nvPr/>
        </p:nvSpPr>
        <p:spPr>
          <a:xfrm>
            <a:off x="685800" y="2103120"/>
            <a:ext cx="10817352" cy="0"/>
          </a:xfrm>
          <a:prstGeom prst="line">
            <a:avLst/>
          </a:prstGeom>
          <a:noFill/>
          <a:ln w="12700">
            <a:solidFill>
              <a:srgbClr val="A9BCC4"/>
            </a:solidFill>
            <a:prstDash val="solid"/>
          </a:ln>
        </p:spPr>
      </p:sp>
      <p:sp>
        <p:nvSpPr>
          <p:cNvPr id="6" name="Timeline node"/>
          <p:cNvSpPr/>
          <p:nvPr/>
        </p:nvSpPr>
        <p:spPr>
          <a:xfrm>
            <a:off x="685800" y="1993392"/>
            <a:ext cx="219456" cy="219456"/>
          </a:xfrm>
          <a:prstGeom prst="ellipse">
            <a:avLst/>
          </a:prstGeom>
          <a:solidFill>
            <a:schemeClr val="accent1"/>
          </a:solidFill>
          <a:ln w="25400">
            <a:solidFill>
              <a:schemeClr val="bg1"/>
            </a:solidFill>
            <a:prstDash val="solid"/>
          </a:ln>
        </p:spPr>
      </p:sp>
      <p:sp>
        <p:nvSpPr>
          <p:cNvPr id="7" name="Text 4"/>
          <p:cNvSpPr txBox="1"/>
          <p:nvPr/>
        </p:nvSpPr>
        <p:spPr>
          <a:xfrm>
            <a:off x="685800" y="2423160"/>
            <a:ext cx="246888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OCT 2024</a:t>
            </a:r>
            <a:endParaRPr lang="en-US" sz="1100" dirty="0"/>
          </a:p>
        </p:txBody>
      </p:sp>
      <p:sp>
        <p:nvSpPr>
          <p:cNvPr id="8" name="Text 5"/>
          <p:cNvSpPr txBox="1"/>
          <p:nvPr/>
        </p:nvSpPr>
        <p:spPr>
          <a:xfrm>
            <a:off x="685800" y="2743200"/>
            <a:ext cx="2377440" cy="7315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AML/PTF Amendment Regulations</a:t>
            </a:r>
            <a:endParaRPr lang="en-US" sz="1800" dirty="0"/>
          </a:p>
        </p:txBody>
      </p:sp>
      <p:sp>
        <p:nvSpPr>
          <p:cNvPr id="9" name="Text 6"/>
          <p:cNvSpPr txBox="1"/>
          <p:nvPr/>
        </p:nvSpPr>
        <p:spPr>
          <a:xfrm>
            <a:off x="685800" y="3520440"/>
            <a:ext cx="2331720" cy="1097280"/>
          </a:xfrm>
          <a:prstGeom prst="rect">
            <a:avLst/>
          </a:prstGeom>
          <a:noFill/>
          <a:ln/>
        </p:spPr>
        <p:txBody>
          <a:bodyPr wrap="square" lIns="0" tIns="0" rIns="0" bIns="0" rtlCol="0" anchor="t"/>
          <a:lstStyle/>
          <a:p>
            <a:pPr indent="0" marL="0">
              <a:buNone/>
            </a:pPr>
            <a:r>
              <a:rPr lang="en-US" sz="1300" dirty="0">
                <a:solidFill>
                  <a:schemeClr val="tx2"/>
                </a:solidFill>
              </a:rPr>
              <a:t>Legal Notice 33 of 2024 in force. MLCO appointment needs prior FSC approval.</a:t>
            </a:r>
            <a:endParaRPr lang="en-US" sz="1300" dirty="0"/>
          </a:p>
        </p:txBody>
      </p:sp>
      <p:sp>
        <p:nvSpPr>
          <p:cNvPr id="10" name="Timeline node"/>
          <p:cNvSpPr/>
          <p:nvPr/>
        </p:nvSpPr>
        <p:spPr>
          <a:xfrm>
            <a:off x="3468319" y="1993392"/>
            <a:ext cx="219456" cy="219456"/>
          </a:xfrm>
          <a:prstGeom prst="ellipse">
            <a:avLst/>
          </a:prstGeom>
          <a:solidFill>
            <a:schemeClr val="accent1"/>
          </a:solidFill>
          <a:ln w="25400">
            <a:solidFill>
              <a:schemeClr val="bg1"/>
            </a:solidFill>
            <a:prstDash val="solid"/>
          </a:ln>
        </p:spPr>
      </p:sp>
      <p:sp>
        <p:nvSpPr>
          <p:cNvPr id="11" name="Text 8"/>
          <p:cNvSpPr txBox="1"/>
          <p:nvPr/>
        </p:nvSpPr>
        <p:spPr>
          <a:xfrm>
            <a:off x="3468319" y="2423160"/>
            <a:ext cx="246888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2024</a:t>
            </a:r>
            <a:endParaRPr lang="en-US" sz="1100" dirty="0"/>
          </a:p>
        </p:txBody>
      </p:sp>
      <p:sp>
        <p:nvSpPr>
          <p:cNvPr id="12" name="Text 9"/>
          <p:cNvSpPr txBox="1"/>
          <p:nvPr/>
        </p:nvSpPr>
        <p:spPr>
          <a:xfrm>
            <a:off x="3468319" y="2743200"/>
            <a:ext cx="2377440" cy="7315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POCO amendments</a:t>
            </a:r>
            <a:endParaRPr lang="en-US" sz="1800" dirty="0"/>
          </a:p>
        </p:txBody>
      </p:sp>
      <p:sp>
        <p:nvSpPr>
          <p:cNvPr id="13" name="Text 10"/>
          <p:cNvSpPr txBox="1"/>
          <p:nvPr/>
        </p:nvSpPr>
        <p:spPr>
          <a:xfrm>
            <a:off x="3468319" y="3520440"/>
            <a:ext cx="2331720" cy="1097280"/>
          </a:xfrm>
          <a:prstGeom prst="rect">
            <a:avLst/>
          </a:prstGeom>
          <a:noFill/>
          <a:ln/>
        </p:spPr>
        <p:txBody>
          <a:bodyPr wrap="square" lIns="0" tIns="0" rIns="0" bIns="0" rtlCol="0" anchor="t"/>
          <a:lstStyle/>
          <a:p>
            <a:pPr indent="0" marL="0">
              <a:buNone/>
            </a:pPr>
            <a:r>
              <a:rPr lang="en-US" sz="1300" dirty="0">
                <a:solidFill>
                  <a:schemeClr val="tx2"/>
                </a:solidFill>
              </a:rPr>
              <a:t>The Proceeds of Crime (Amendment) Ordinance 2024 updates the offence and enforcement provisions.</a:t>
            </a:r>
            <a:endParaRPr lang="en-US" sz="1300" dirty="0"/>
          </a:p>
        </p:txBody>
      </p:sp>
      <p:sp>
        <p:nvSpPr>
          <p:cNvPr id="14" name="Timeline node"/>
          <p:cNvSpPr/>
          <p:nvPr/>
        </p:nvSpPr>
        <p:spPr>
          <a:xfrm>
            <a:off x="6250838" y="1993392"/>
            <a:ext cx="219456" cy="219456"/>
          </a:xfrm>
          <a:prstGeom prst="ellipse">
            <a:avLst/>
          </a:prstGeom>
          <a:solidFill>
            <a:schemeClr val="accent1"/>
          </a:solidFill>
          <a:ln w="25400">
            <a:solidFill>
              <a:schemeClr val="bg1"/>
            </a:solidFill>
            <a:prstDash val="solid"/>
          </a:ln>
        </p:spPr>
      </p:sp>
      <p:sp>
        <p:nvSpPr>
          <p:cNvPr id="15" name="Text 12"/>
          <p:cNvSpPr txBox="1"/>
          <p:nvPr/>
        </p:nvSpPr>
        <p:spPr>
          <a:xfrm>
            <a:off x="6250838" y="2423160"/>
            <a:ext cx="246888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NOV 2024</a:t>
            </a:r>
            <a:endParaRPr lang="en-US" sz="1100" dirty="0"/>
          </a:p>
        </p:txBody>
      </p:sp>
      <p:sp>
        <p:nvSpPr>
          <p:cNvPr id="16" name="Text 13"/>
          <p:cNvSpPr txBox="1"/>
          <p:nvPr/>
        </p:nvSpPr>
        <p:spPr>
          <a:xfrm>
            <a:off x="6250838" y="2743200"/>
            <a:ext cx="2377440" cy="7315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FSC regulatory advisory</a:t>
            </a:r>
            <a:endParaRPr lang="en-US" sz="1800" dirty="0"/>
          </a:p>
        </p:txBody>
      </p:sp>
      <p:sp>
        <p:nvSpPr>
          <p:cNvPr id="17" name="Text 14"/>
          <p:cNvSpPr txBox="1"/>
          <p:nvPr/>
        </p:nvSpPr>
        <p:spPr>
          <a:xfrm>
            <a:off x="6250838" y="3520440"/>
            <a:ext cx="2331720" cy="1097280"/>
          </a:xfrm>
          <a:prstGeom prst="rect">
            <a:avLst/>
          </a:prstGeom>
          <a:noFill/>
          <a:ln/>
        </p:spPr>
        <p:txBody>
          <a:bodyPr wrap="square" lIns="0" tIns="0" rIns="0" bIns="0" rtlCol="0" anchor="t"/>
          <a:lstStyle/>
          <a:p>
            <a:pPr indent="0" marL="0">
              <a:buNone/>
            </a:pPr>
            <a:r>
              <a:rPr lang="en-US" sz="1300" dirty="0">
                <a:solidFill>
                  <a:schemeClr val="tx2"/>
                </a:solidFill>
              </a:rPr>
              <a:t>Guidance on MLROs, MLCOs, DNFBP obligations and administrative fines.</a:t>
            </a:r>
            <a:endParaRPr lang="en-US" sz="1300" dirty="0"/>
          </a:p>
        </p:txBody>
      </p:sp>
      <p:sp>
        <p:nvSpPr>
          <p:cNvPr id="18" name="Timeline node"/>
          <p:cNvSpPr/>
          <p:nvPr/>
        </p:nvSpPr>
        <p:spPr>
          <a:xfrm>
            <a:off x="9033358" y="1993392"/>
            <a:ext cx="219456" cy="219456"/>
          </a:xfrm>
          <a:prstGeom prst="ellipse">
            <a:avLst/>
          </a:prstGeom>
          <a:solidFill>
            <a:schemeClr val="accent1"/>
          </a:solidFill>
          <a:ln w="25400">
            <a:solidFill>
              <a:schemeClr val="bg1"/>
            </a:solidFill>
            <a:prstDash val="solid"/>
          </a:ln>
        </p:spPr>
      </p:sp>
      <p:sp>
        <p:nvSpPr>
          <p:cNvPr id="19" name="Text 16"/>
          <p:cNvSpPr txBox="1"/>
          <p:nvPr/>
        </p:nvSpPr>
        <p:spPr>
          <a:xfrm>
            <a:off x="9033358" y="2423160"/>
            <a:ext cx="246888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31 MARCH</a:t>
            </a:r>
            <a:endParaRPr lang="en-US" sz="1100" dirty="0"/>
          </a:p>
        </p:txBody>
      </p:sp>
      <p:sp>
        <p:nvSpPr>
          <p:cNvPr id="20" name="Text 17"/>
          <p:cNvSpPr txBox="1"/>
          <p:nvPr/>
        </p:nvSpPr>
        <p:spPr>
          <a:xfrm>
            <a:off x="9033358" y="2743200"/>
            <a:ext cx="2377440" cy="7315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Annual returns</a:t>
            </a:r>
            <a:endParaRPr lang="en-US" sz="1800" dirty="0"/>
          </a:p>
        </p:txBody>
      </p:sp>
      <p:sp>
        <p:nvSpPr>
          <p:cNvPr id="21" name="Text 18"/>
          <p:cNvSpPr txBox="1"/>
          <p:nvPr/>
        </p:nvSpPr>
        <p:spPr>
          <a:xfrm>
            <a:off x="9033358" y="3520440"/>
            <a:ext cx="2331720" cy="1097280"/>
          </a:xfrm>
          <a:prstGeom prst="rect">
            <a:avLst/>
          </a:prstGeom>
          <a:noFill/>
          <a:ln/>
        </p:spPr>
        <p:txBody>
          <a:bodyPr wrap="square" lIns="0" tIns="0" rIns="0" bIns="0" rtlCol="0" anchor="t"/>
          <a:lstStyle/>
          <a:p>
            <a:pPr indent="0" marL="0">
              <a:buNone/>
            </a:pPr>
            <a:r>
              <a:rPr lang="en-US" sz="1300" dirty="0">
                <a:solidFill>
                  <a:schemeClr val="tx2"/>
                </a:solidFill>
              </a:rPr>
              <a:t>DNFBP annual returns due to the FSC by 31 March each year.</a:t>
            </a:r>
            <a:endParaRPr lang="en-US" sz="1300" dirty="0"/>
          </a:p>
        </p:txBody>
      </p:sp>
      <p:sp>
        <p:nvSpPr>
          <p:cNvPr id="22" name="Updates placeholder"/>
          <p:cNvSpPr/>
          <p:nvPr/>
        </p:nvSpPr>
        <p:spPr>
          <a:xfrm>
            <a:off x="685800" y="4892040"/>
            <a:ext cx="10817352" cy="960120"/>
          </a:xfrm>
          <a:prstGeom prst="roundRect">
            <a:avLst>
              <a:gd name="adj" fmla="val 11429"/>
            </a:avLst>
          </a:prstGeom>
          <a:solidFill>
            <a:schemeClr val="bg2"/>
          </a:solidFill>
          <a:ln w="12700">
            <a:solidFill>
              <a:srgbClr val="13A89E"/>
            </a:solidFill>
            <a:prstDash val="dash"/>
          </a:ln>
        </p:spPr>
      </p:sp>
      <p:pic>
        <p:nvPicPr>
          <p:cNvPr id="23" name="Image 0" descr="calendar">    </p:cNvPr>
          <p:cNvPicPr>
            <a:picLocks noChangeAspect="1"/>
          </p:cNvPicPr>
          <p:nvPr/>
        </p:nvPicPr>
        <p:blipFill>
          <a:blip r:embed="rId1"/>
          <a:stretch>
            <a:fillRect/>
          </a:stretch>
        </p:blipFill>
        <p:spPr>
          <a:xfrm>
            <a:off x="1005840" y="5120640"/>
            <a:ext cx="457200" cy="457200"/>
          </a:xfrm>
          <a:prstGeom prst="rect">
            <a:avLst/>
          </a:prstGeom>
        </p:spPr>
      </p:pic>
      <p:sp>
        <p:nvSpPr>
          <p:cNvPr id="24" name="Text 20"/>
          <p:cNvSpPr txBox="1"/>
          <p:nvPr/>
        </p:nvSpPr>
        <p:spPr>
          <a:xfrm>
            <a:off x="1691640" y="4892040"/>
            <a:ext cx="9601200" cy="960120"/>
          </a:xfrm>
          <a:prstGeom prst="rect">
            <a:avLst/>
          </a:prstGeom>
          <a:noFill/>
          <a:ln/>
        </p:spPr>
        <p:txBody>
          <a:bodyPr wrap="square" lIns="0" tIns="0" rIns="0" bIns="0" rtlCol="0" anchor="ctr"/>
          <a:lstStyle/>
          <a:p>
            <a:pPr indent="0" marL="0">
              <a:buNone/>
            </a:pPr>
            <a:r>
              <a:rPr lang="en-US" sz="1400" b="1" dirty="0">
                <a:solidFill>
                  <a:schemeClr val="tx1"/>
                </a:solidFill>
                <a:latin typeface="Cambria" pitchFamily="34" charset="0"/>
                <a:ea typeface="Cambria" pitchFamily="34" charset="-122"/>
                <a:cs typeface="Cambria" pitchFamily="34" charset="-120"/>
              </a:rPr>
              <a:t>2025–26 updates   </a:t>
            </a:r>
            <a:pPr indent="0" marL="0">
              <a:buNone/>
            </a:pPr>
            <a:r>
              <a:rPr lang="en-US" sz="1400" i="1" dirty="0">
                <a:solidFill>
                  <a:schemeClr val="tx2"/>
                </a:solidFill>
              </a:rPr>
              <a:t>[Add new FSC advisories, Code amendments, National Risk Assessment updates and FATF list changes before delivery]</a:t>
            </a:r>
            <a:endParaRPr lang="en-US" sz="1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5"/>
                </a:solidFill>
              </a:rPr>
              <a:t>01 · YEAR IN REVIEW</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bg1"/>
                </a:solidFill>
                <a:latin typeface="Cambria" pitchFamily="34" charset="0"/>
                <a:ea typeface="Cambria" pitchFamily="34" charset="-122"/>
                <a:cs typeface="Cambria" pitchFamily="34" charset="-120"/>
              </a:rPr>
              <a:t>Where the Islands stand</a:t>
            </a:r>
            <a:endParaRPr lang="en-US" sz="3400" dirty="0"/>
          </a:p>
        </p:txBody>
      </p:sp>
      <p:sp>
        <p:nvSpPr>
          <p:cNvPr id="5" name="Text 2"/>
          <p:cNvSpPr txBox="1"/>
          <p:nvPr/>
        </p:nvSpPr>
        <p:spPr>
          <a:xfrm>
            <a:off x="685800" y="1737360"/>
            <a:ext cx="2926080" cy="2011680"/>
          </a:xfrm>
          <a:prstGeom prst="rect">
            <a:avLst/>
          </a:prstGeom>
          <a:noFill/>
          <a:ln/>
        </p:spPr>
        <p:txBody>
          <a:bodyPr wrap="square" lIns="0" tIns="0" rIns="0" bIns="0" rtlCol="0" anchor="t"/>
          <a:lstStyle/>
          <a:p>
            <a:pPr indent="0" marL="0">
              <a:buNone/>
            </a:pPr>
            <a:r>
              <a:rPr lang="en-US" sz="15000" dirty="0">
                <a:solidFill>
                  <a:schemeClr val="accent1"/>
                </a:solidFill>
                <a:latin typeface="Cambria" pitchFamily="34" charset="0"/>
                <a:ea typeface="Cambria" pitchFamily="34" charset="-122"/>
                <a:cs typeface="Cambria" pitchFamily="34" charset="-120"/>
              </a:rPr>
              <a:t>37</a:t>
            </a:r>
            <a:endParaRPr lang="en-US" sz="15000" dirty="0"/>
          </a:p>
        </p:txBody>
      </p:sp>
      <p:sp>
        <p:nvSpPr>
          <p:cNvPr id="6" name="Text 3"/>
          <p:cNvSpPr txBox="1"/>
          <p:nvPr/>
        </p:nvSpPr>
        <p:spPr>
          <a:xfrm>
            <a:off x="3017520" y="3063240"/>
            <a:ext cx="1828800" cy="731520"/>
          </a:xfrm>
          <a:prstGeom prst="rect">
            <a:avLst/>
          </a:prstGeom>
          <a:noFill/>
          <a:ln/>
        </p:spPr>
        <p:txBody>
          <a:bodyPr wrap="square" lIns="0" tIns="0" rIns="0" bIns="0" rtlCol="0" anchor="t"/>
          <a:lstStyle/>
          <a:p>
            <a:pPr indent="0" marL="0">
              <a:buNone/>
            </a:pPr>
            <a:r>
              <a:rPr lang="en-US" sz="3600" dirty="0">
                <a:solidFill>
                  <a:schemeClr val="bg1"/>
                </a:solidFill>
                <a:latin typeface="Cambria" pitchFamily="34" charset="0"/>
                <a:ea typeface="Cambria" pitchFamily="34" charset="-122"/>
                <a:cs typeface="Cambria" pitchFamily="34" charset="-120"/>
              </a:rPr>
              <a:t>of 40</a:t>
            </a:r>
            <a:endParaRPr lang="en-US" sz="3600" dirty="0"/>
          </a:p>
        </p:txBody>
      </p:sp>
      <p:sp>
        <p:nvSpPr>
          <p:cNvPr id="7" name="Text 4"/>
          <p:cNvSpPr txBox="1"/>
          <p:nvPr/>
        </p:nvSpPr>
        <p:spPr>
          <a:xfrm>
            <a:off x="685800" y="3931920"/>
            <a:ext cx="4937760" cy="914400"/>
          </a:xfrm>
          <a:prstGeom prst="rect">
            <a:avLst/>
          </a:prstGeom>
          <a:noFill/>
          <a:ln/>
        </p:spPr>
        <p:txBody>
          <a:bodyPr wrap="square" lIns="0" tIns="0" rIns="0" bIns="0" rtlCol="0" anchor="t"/>
          <a:lstStyle/>
          <a:p>
            <a:pPr indent="0" marL="0">
              <a:buNone/>
            </a:pPr>
            <a:r>
              <a:rPr lang="en-US" sz="1600" dirty="0">
                <a:solidFill>
                  <a:schemeClr val="accent6"/>
                </a:solidFill>
              </a:rPr>
              <a:t>FATF Recommendations rated Compliant or Largely Compliant for the TCI, per the CFATF's 2023 follow-up report.</a:t>
            </a:r>
            <a:endParaRPr lang="en-US" sz="1600" dirty="0"/>
          </a:p>
        </p:txBody>
      </p:sp>
      <p:sp>
        <p:nvSpPr>
          <p:cNvPr id="8" name="DNFBP card"/>
          <p:cNvSpPr/>
          <p:nvPr/>
        </p:nvSpPr>
        <p:spPr>
          <a:xfrm>
            <a:off x="6583680" y="1783080"/>
            <a:ext cx="4919472" cy="1828800"/>
          </a:xfrm>
          <a:prstGeom prst="roundRect">
            <a:avLst>
              <a:gd name="adj" fmla="val 6000"/>
            </a:avLst>
          </a:prstGeom>
          <a:solidFill>
            <a:schemeClr val="tx2"/>
          </a:solidFill>
          <a:ln/>
          <a:effectLst>
            <a:outerShdw sx="100000" sy="100000" kx="0" ky="0" algn="bl" rotWithShape="0" blurRad="177800" dist="38100" dir="5400000">
              <a:srgbClr val="0B1F2A">
                <a:alpha val="10000"/>
              </a:srgbClr>
            </a:outerShdw>
          </a:effectLst>
        </p:spPr>
      </p:sp>
      <p:pic>
        <p:nvPicPr>
          <p:cNvPr id="9" name="Image 0" descr="badge">    </p:cNvPr>
          <p:cNvPicPr>
            <a:picLocks noChangeAspect="1"/>
          </p:cNvPicPr>
          <p:nvPr/>
        </p:nvPicPr>
        <p:blipFill>
          <a:blip r:embed="rId1"/>
          <a:stretch>
            <a:fillRect/>
          </a:stretch>
        </p:blipFill>
        <p:spPr>
          <a:xfrm>
            <a:off x="6903720" y="2057400"/>
            <a:ext cx="457200" cy="457200"/>
          </a:xfrm>
          <a:prstGeom prst="rect">
            <a:avLst/>
          </a:prstGeom>
        </p:spPr>
      </p:pic>
      <p:sp>
        <p:nvSpPr>
          <p:cNvPr id="10" name="Text 6"/>
          <p:cNvSpPr txBox="1"/>
          <p:nvPr/>
        </p:nvSpPr>
        <p:spPr>
          <a:xfrm>
            <a:off x="7498080" y="2057400"/>
            <a:ext cx="3840480" cy="45720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Recommendation 28: Compliant</a:t>
            </a:r>
            <a:endParaRPr lang="en-US" sz="1800" dirty="0"/>
          </a:p>
        </p:txBody>
      </p:sp>
      <p:sp>
        <p:nvSpPr>
          <p:cNvPr id="11" name="Text 7"/>
          <p:cNvSpPr txBox="1"/>
          <p:nvPr/>
        </p:nvSpPr>
        <p:spPr>
          <a:xfrm>
            <a:off x="6903720" y="2697480"/>
            <a:ext cx="4343400" cy="777240"/>
          </a:xfrm>
          <a:prstGeom prst="rect">
            <a:avLst/>
          </a:prstGeom>
          <a:noFill/>
          <a:ln/>
        </p:spPr>
        <p:txBody>
          <a:bodyPr wrap="square" lIns="0" tIns="0" rIns="0" bIns="0" rtlCol="0" anchor="t"/>
          <a:lstStyle/>
          <a:p>
            <a:pPr indent="0" marL="0">
              <a:buNone/>
            </a:pPr>
            <a:r>
              <a:rPr lang="en-US" sz="1350" dirty="0">
                <a:solidFill>
                  <a:schemeClr val="accent6"/>
                </a:solidFill>
              </a:rPr>
              <a:t>Supervision of DNFBPs, including law firms, was upgraded. The FSC is now an established, active supervisor.</a:t>
            </a:r>
            <a:endParaRPr lang="en-US" sz="1350" dirty="0"/>
          </a:p>
        </p:txBody>
      </p:sp>
      <p:sp>
        <p:nvSpPr>
          <p:cNvPr id="12" name="Effectiveness card"/>
          <p:cNvSpPr/>
          <p:nvPr/>
        </p:nvSpPr>
        <p:spPr>
          <a:xfrm>
            <a:off x="6583680" y="3840480"/>
            <a:ext cx="4919472" cy="1828800"/>
          </a:xfrm>
          <a:prstGeom prst="roundRect">
            <a:avLst>
              <a:gd name="adj" fmla="val 6000"/>
            </a:avLst>
          </a:prstGeom>
          <a:solidFill>
            <a:schemeClr val="bg1"/>
          </a:solidFill>
          <a:ln/>
          <a:effectLst>
            <a:outerShdw sx="100000" sy="100000" kx="0" ky="0" algn="bl" rotWithShape="0" blurRad="177800" dist="38100" dir="5400000">
              <a:srgbClr val="0B1F2A">
                <a:alpha val="10000"/>
              </a:srgbClr>
            </a:outerShdw>
          </a:effectLst>
        </p:spPr>
      </p:sp>
      <p:pic>
        <p:nvPicPr>
          <p:cNvPr id="13" name="Image 1" descr="trend">    </p:cNvPr>
          <p:cNvPicPr>
            <a:picLocks noChangeAspect="1"/>
          </p:cNvPicPr>
          <p:nvPr/>
        </p:nvPicPr>
        <p:blipFill>
          <a:blip r:embed="rId2"/>
          <a:stretch>
            <a:fillRect/>
          </a:stretch>
        </p:blipFill>
        <p:spPr>
          <a:xfrm>
            <a:off x="6903720" y="4114800"/>
            <a:ext cx="457200" cy="457200"/>
          </a:xfrm>
          <a:prstGeom prst="rect">
            <a:avLst/>
          </a:prstGeom>
        </p:spPr>
      </p:pic>
      <p:sp>
        <p:nvSpPr>
          <p:cNvPr id="14" name="Text 9"/>
          <p:cNvSpPr txBox="1"/>
          <p:nvPr/>
        </p:nvSpPr>
        <p:spPr>
          <a:xfrm>
            <a:off x="7498080" y="4114800"/>
            <a:ext cx="384048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Next: effectiveness</a:t>
            </a:r>
            <a:endParaRPr lang="en-US" sz="1800" dirty="0"/>
          </a:p>
        </p:txBody>
      </p:sp>
      <p:sp>
        <p:nvSpPr>
          <p:cNvPr id="15" name="Text 10"/>
          <p:cNvSpPr txBox="1"/>
          <p:nvPr/>
        </p:nvSpPr>
        <p:spPr>
          <a:xfrm>
            <a:off x="6903720" y="4754880"/>
            <a:ext cx="4343400" cy="777240"/>
          </a:xfrm>
          <a:prstGeom prst="rect">
            <a:avLst/>
          </a:prstGeom>
          <a:noFill/>
          <a:ln/>
        </p:spPr>
        <p:txBody>
          <a:bodyPr wrap="square" lIns="0" tIns="0" rIns="0" bIns="0" rtlCol="0" anchor="t"/>
          <a:lstStyle/>
          <a:p>
            <a:pPr indent="0" marL="0">
              <a:buNone/>
            </a:pPr>
            <a:r>
              <a:rPr lang="en-US" sz="1350" dirty="0">
                <a:solidFill>
                  <a:schemeClr val="tx2"/>
                </a:solidFill>
              </a:rPr>
              <a:t>Future evaluations test whether the rules work in practice. Our client files are part of that evidence.</a:t>
            </a:r>
            <a:endParaRPr lang="en-US" sz="13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01 · YEAR IN REVIEW</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Our year in numbers</a:t>
            </a:r>
            <a:endParaRPr lang="en-US" sz="3400" dirty="0"/>
          </a:p>
        </p:txBody>
      </p:sp>
      <p:sp>
        <p:nvSpPr>
          <p:cNvPr id="5" name="Stat tile"/>
          <p:cNvSpPr/>
          <p:nvPr/>
        </p:nvSpPr>
        <p:spPr>
          <a:xfrm>
            <a:off x="685800" y="1828800"/>
            <a:ext cx="3456432" cy="1901952"/>
          </a:xfrm>
          <a:prstGeom prst="roundRect">
            <a:avLst>
              <a:gd name="adj" fmla="val 5769"/>
            </a:avLst>
          </a:prstGeom>
          <a:solidFill>
            <a:schemeClr val="tx1"/>
          </a:solidFill>
          <a:ln/>
          <a:effectLst>
            <a:outerShdw sx="100000" sy="100000" kx="0" ky="0" algn="bl" rotWithShape="0" blurRad="177800" dist="38100" dir="5400000">
              <a:srgbClr val="0B1F2A">
                <a:alpha val="10000"/>
              </a:srgbClr>
            </a:outerShdw>
          </a:effectLst>
        </p:spPr>
      </p:sp>
      <p:sp>
        <p:nvSpPr>
          <p:cNvPr id="6" name="Icon disc"/>
          <p:cNvSpPr/>
          <p:nvPr/>
        </p:nvSpPr>
        <p:spPr>
          <a:xfrm>
            <a:off x="3273552" y="2103120"/>
            <a:ext cx="548640" cy="548640"/>
          </a:xfrm>
          <a:prstGeom prst="ellipse">
            <a:avLst/>
          </a:prstGeom>
          <a:solidFill>
            <a:schemeClr val="accent1"/>
          </a:solidFill>
          <a:ln/>
        </p:spPr>
      </p:sp>
      <p:pic>
        <p:nvPicPr>
          <p:cNvPr id="7" name="Image 0" descr="Flag icon">    </p:cNvPr>
          <p:cNvPicPr>
            <a:picLocks noChangeAspect="1"/>
          </p:cNvPicPr>
          <p:nvPr/>
        </p:nvPicPr>
        <p:blipFill>
          <a:blip r:embed="rId1"/>
          <a:stretch>
            <a:fillRect/>
          </a:stretch>
        </p:blipFill>
        <p:spPr>
          <a:xfrm>
            <a:off x="3410712" y="2240280"/>
            <a:ext cx="274320" cy="274320"/>
          </a:xfrm>
          <a:prstGeom prst="rect">
            <a:avLst/>
          </a:prstGeom>
        </p:spPr>
      </p:pic>
      <p:sp>
        <p:nvSpPr>
          <p:cNvPr id="8" name="Text 4"/>
          <p:cNvSpPr txBox="1"/>
          <p:nvPr/>
        </p:nvSpPr>
        <p:spPr>
          <a:xfrm>
            <a:off x="1005840" y="2103120"/>
            <a:ext cx="2194560" cy="868680"/>
          </a:xfrm>
          <a:prstGeom prst="rect">
            <a:avLst/>
          </a:prstGeom>
          <a:noFill/>
          <a:ln/>
        </p:spPr>
        <p:txBody>
          <a:bodyPr wrap="square" lIns="0" tIns="0" rIns="0" bIns="0" rtlCol="0" anchor="t"/>
          <a:lstStyle/>
          <a:p>
            <a:pPr indent="0" marL="0">
              <a:buNone/>
            </a:pPr>
            <a:r>
              <a:rPr lang="en-US" sz="4400" dirty="0">
                <a:solidFill>
                  <a:schemeClr val="bg1"/>
                </a:solidFill>
                <a:latin typeface="Cambria" pitchFamily="34" charset="0"/>
                <a:ea typeface="Cambria" pitchFamily="34" charset="-122"/>
                <a:cs typeface="Cambria" pitchFamily="34" charset="-120"/>
              </a:rPr>
              <a:t>[#]</a:t>
            </a:r>
            <a:endParaRPr lang="en-US" sz="4400" dirty="0"/>
          </a:p>
        </p:txBody>
      </p:sp>
      <p:sp>
        <p:nvSpPr>
          <p:cNvPr id="9" name="Text 5"/>
          <p:cNvSpPr txBox="1"/>
          <p:nvPr/>
        </p:nvSpPr>
        <p:spPr>
          <a:xfrm>
            <a:off x="1005840" y="3063240"/>
            <a:ext cx="2816352" cy="457200"/>
          </a:xfrm>
          <a:prstGeom prst="rect">
            <a:avLst/>
          </a:prstGeom>
          <a:noFill/>
          <a:ln/>
        </p:spPr>
        <p:txBody>
          <a:bodyPr wrap="square" lIns="0" tIns="0" rIns="0" bIns="0" rtlCol="0" anchor="t"/>
          <a:lstStyle/>
          <a:p>
            <a:pPr indent="0" marL="0">
              <a:buNone/>
            </a:pPr>
            <a:r>
              <a:rPr lang="en-US" sz="1400" dirty="0">
                <a:solidFill>
                  <a:schemeClr val="accent6"/>
                </a:solidFill>
              </a:rPr>
              <a:t>Internal reports to the MLRO</a:t>
            </a:r>
            <a:endParaRPr lang="en-US" sz="1400" dirty="0"/>
          </a:p>
        </p:txBody>
      </p:sp>
      <p:sp>
        <p:nvSpPr>
          <p:cNvPr id="10" name="Stat tile"/>
          <p:cNvSpPr/>
          <p:nvPr/>
        </p:nvSpPr>
        <p:spPr>
          <a:xfrm>
            <a:off x="4366260" y="1828800"/>
            <a:ext cx="3456432" cy="1901952"/>
          </a:xfrm>
          <a:prstGeom prst="roundRect">
            <a:avLst>
              <a:gd name="adj" fmla="val 5769"/>
            </a:avLst>
          </a:prstGeom>
          <a:solidFill>
            <a:schemeClr val="bg1"/>
          </a:solidFill>
          <a:ln/>
          <a:effectLst>
            <a:outerShdw sx="100000" sy="100000" kx="0" ky="0" algn="bl" rotWithShape="0" blurRad="177800" dist="38100" dir="5400000">
              <a:srgbClr val="0B1F2A">
                <a:alpha val="10000"/>
              </a:srgbClr>
            </a:outerShdw>
          </a:effectLst>
        </p:spPr>
      </p:sp>
      <p:sp>
        <p:nvSpPr>
          <p:cNvPr id="11" name="Icon disc"/>
          <p:cNvSpPr/>
          <p:nvPr/>
        </p:nvSpPr>
        <p:spPr>
          <a:xfrm>
            <a:off x="6954012" y="2103120"/>
            <a:ext cx="548640" cy="548640"/>
          </a:xfrm>
          <a:prstGeom prst="ellipse">
            <a:avLst/>
          </a:prstGeom>
          <a:solidFill>
            <a:schemeClr val="bg2"/>
          </a:solidFill>
          <a:ln/>
        </p:spPr>
      </p:sp>
      <p:pic>
        <p:nvPicPr>
          <p:cNvPr id="12" name="Image 1" descr="Mail icon">    </p:cNvPr>
          <p:cNvPicPr>
            <a:picLocks noChangeAspect="1"/>
          </p:cNvPicPr>
          <p:nvPr/>
        </p:nvPicPr>
        <p:blipFill>
          <a:blip r:embed="rId2"/>
          <a:stretch>
            <a:fillRect/>
          </a:stretch>
        </p:blipFill>
        <p:spPr>
          <a:xfrm>
            <a:off x="7091172" y="2240280"/>
            <a:ext cx="274320" cy="274320"/>
          </a:xfrm>
          <a:prstGeom prst="rect">
            <a:avLst/>
          </a:prstGeom>
        </p:spPr>
      </p:pic>
      <p:sp>
        <p:nvSpPr>
          <p:cNvPr id="13" name="Text 8"/>
          <p:cNvSpPr txBox="1"/>
          <p:nvPr/>
        </p:nvSpPr>
        <p:spPr>
          <a:xfrm>
            <a:off x="4686300" y="2103120"/>
            <a:ext cx="2194560" cy="868680"/>
          </a:xfrm>
          <a:prstGeom prst="rect">
            <a:avLst/>
          </a:prstGeom>
          <a:noFill/>
          <a:ln/>
        </p:spPr>
        <p:txBody>
          <a:bodyPr wrap="square" lIns="0" tIns="0" rIns="0" bIns="0" rtlCol="0" anchor="t"/>
          <a:lstStyle/>
          <a:p>
            <a:pPr indent="0" marL="0">
              <a:buNone/>
            </a:pPr>
            <a:r>
              <a:rPr lang="en-US" sz="4400" dirty="0">
                <a:solidFill>
                  <a:schemeClr val="tx1"/>
                </a:solidFill>
                <a:latin typeface="Cambria" pitchFamily="34" charset="0"/>
                <a:ea typeface="Cambria" pitchFamily="34" charset="-122"/>
                <a:cs typeface="Cambria" pitchFamily="34" charset="-120"/>
              </a:rPr>
              <a:t>[#]</a:t>
            </a:r>
            <a:endParaRPr lang="en-US" sz="4400" dirty="0"/>
          </a:p>
        </p:txBody>
      </p:sp>
      <p:sp>
        <p:nvSpPr>
          <p:cNvPr id="14" name="Text 9"/>
          <p:cNvSpPr txBox="1"/>
          <p:nvPr/>
        </p:nvSpPr>
        <p:spPr>
          <a:xfrm>
            <a:off x="4686300" y="3063240"/>
            <a:ext cx="2816352" cy="457200"/>
          </a:xfrm>
          <a:prstGeom prst="rect">
            <a:avLst/>
          </a:prstGeom>
          <a:noFill/>
          <a:ln/>
        </p:spPr>
        <p:txBody>
          <a:bodyPr wrap="square" lIns="0" tIns="0" rIns="0" bIns="0" rtlCol="0" anchor="t"/>
          <a:lstStyle/>
          <a:p>
            <a:pPr indent="0" marL="0">
              <a:buNone/>
            </a:pPr>
            <a:r>
              <a:rPr lang="en-US" sz="1400" dirty="0">
                <a:solidFill>
                  <a:schemeClr val="tx2"/>
                </a:solidFill>
              </a:rPr>
              <a:t>SARs filed with the FIA</a:t>
            </a:r>
            <a:endParaRPr lang="en-US" sz="1400" dirty="0"/>
          </a:p>
        </p:txBody>
      </p:sp>
      <p:sp>
        <p:nvSpPr>
          <p:cNvPr id="15" name="Stat tile"/>
          <p:cNvSpPr/>
          <p:nvPr/>
        </p:nvSpPr>
        <p:spPr>
          <a:xfrm>
            <a:off x="8046720" y="1828800"/>
            <a:ext cx="3456432" cy="1901952"/>
          </a:xfrm>
          <a:prstGeom prst="roundRect">
            <a:avLst>
              <a:gd name="adj" fmla="val 5769"/>
            </a:avLst>
          </a:prstGeom>
          <a:solidFill>
            <a:schemeClr val="bg1"/>
          </a:solidFill>
          <a:ln/>
          <a:effectLst>
            <a:outerShdw sx="100000" sy="100000" kx="0" ky="0" algn="bl" rotWithShape="0" blurRad="177800" dist="38100" dir="5400000">
              <a:srgbClr val="0B1F2A">
                <a:alpha val="10000"/>
              </a:srgbClr>
            </a:outerShdw>
          </a:effectLst>
        </p:spPr>
      </p:sp>
      <p:sp>
        <p:nvSpPr>
          <p:cNvPr id="16" name="Icon disc"/>
          <p:cNvSpPr/>
          <p:nvPr/>
        </p:nvSpPr>
        <p:spPr>
          <a:xfrm>
            <a:off x="10634472" y="2103120"/>
            <a:ext cx="548640" cy="548640"/>
          </a:xfrm>
          <a:prstGeom prst="ellipse">
            <a:avLst/>
          </a:prstGeom>
          <a:solidFill>
            <a:schemeClr val="bg2"/>
          </a:solidFill>
          <a:ln/>
        </p:spPr>
      </p:sp>
      <p:pic>
        <p:nvPicPr>
          <p:cNvPr id="17" name="Image 2" descr="ShieldCheck icon">    </p:cNvPr>
          <p:cNvPicPr>
            <a:picLocks noChangeAspect="1"/>
          </p:cNvPicPr>
          <p:nvPr/>
        </p:nvPicPr>
        <p:blipFill>
          <a:blip r:embed="rId3"/>
          <a:stretch>
            <a:fillRect/>
          </a:stretch>
        </p:blipFill>
        <p:spPr>
          <a:xfrm>
            <a:off x="10771632" y="2240280"/>
            <a:ext cx="274320" cy="274320"/>
          </a:xfrm>
          <a:prstGeom prst="rect">
            <a:avLst/>
          </a:prstGeom>
        </p:spPr>
      </p:pic>
      <p:sp>
        <p:nvSpPr>
          <p:cNvPr id="18" name="Text 12"/>
          <p:cNvSpPr txBox="1"/>
          <p:nvPr/>
        </p:nvSpPr>
        <p:spPr>
          <a:xfrm>
            <a:off x="8366760" y="2103120"/>
            <a:ext cx="2194560" cy="868680"/>
          </a:xfrm>
          <a:prstGeom prst="rect">
            <a:avLst/>
          </a:prstGeom>
          <a:noFill/>
          <a:ln/>
        </p:spPr>
        <p:txBody>
          <a:bodyPr wrap="square" lIns="0" tIns="0" rIns="0" bIns="0" rtlCol="0" anchor="t"/>
          <a:lstStyle/>
          <a:p>
            <a:pPr indent="0" marL="0">
              <a:buNone/>
            </a:pPr>
            <a:r>
              <a:rPr lang="en-US" sz="4400" dirty="0">
                <a:solidFill>
                  <a:schemeClr val="tx1"/>
                </a:solidFill>
                <a:latin typeface="Cambria" pitchFamily="34" charset="0"/>
                <a:ea typeface="Cambria" pitchFamily="34" charset="-122"/>
                <a:cs typeface="Cambria" pitchFamily="34" charset="-120"/>
              </a:rPr>
              <a:t>[#]</a:t>
            </a:r>
            <a:endParaRPr lang="en-US" sz="4400" dirty="0"/>
          </a:p>
        </p:txBody>
      </p:sp>
      <p:sp>
        <p:nvSpPr>
          <p:cNvPr id="19" name="Text 13"/>
          <p:cNvSpPr txBox="1"/>
          <p:nvPr/>
        </p:nvSpPr>
        <p:spPr>
          <a:xfrm>
            <a:off x="8366760" y="3063240"/>
            <a:ext cx="2816352" cy="457200"/>
          </a:xfrm>
          <a:prstGeom prst="rect">
            <a:avLst/>
          </a:prstGeom>
          <a:noFill/>
          <a:ln/>
        </p:spPr>
        <p:txBody>
          <a:bodyPr wrap="square" lIns="0" tIns="0" rIns="0" bIns="0" rtlCol="0" anchor="t"/>
          <a:lstStyle/>
          <a:p>
            <a:pPr indent="0" marL="0">
              <a:buNone/>
            </a:pPr>
            <a:r>
              <a:rPr lang="en-US" sz="1400" dirty="0">
                <a:solidFill>
                  <a:schemeClr val="tx2"/>
                </a:solidFill>
              </a:rPr>
              <a:t>Enhanced due diligence files</a:t>
            </a:r>
            <a:endParaRPr lang="en-US" sz="1400" dirty="0"/>
          </a:p>
        </p:txBody>
      </p:sp>
      <p:sp>
        <p:nvSpPr>
          <p:cNvPr id="20" name="Stat tile"/>
          <p:cNvSpPr/>
          <p:nvPr/>
        </p:nvSpPr>
        <p:spPr>
          <a:xfrm>
            <a:off x="685800" y="3959352"/>
            <a:ext cx="3456432" cy="1901952"/>
          </a:xfrm>
          <a:prstGeom prst="roundRect">
            <a:avLst>
              <a:gd name="adj" fmla="val 5769"/>
            </a:avLst>
          </a:prstGeom>
          <a:solidFill>
            <a:schemeClr val="bg1"/>
          </a:solidFill>
          <a:ln/>
          <a:effectLst>
            <a:outerShdw sx="100000" sy="100000" kx="0" ky="0" algn="bl" rotWithShape="0" blurRad="177800" dist="38100" dir="5400000">
              <a:srgbClr val="0B1F2A">
                <a:alpha val="10000"/>
              </a:srgbClr>
            </a:outerShdw>
          </a:effectLst>
        </p:spPr>
      </p:sp>
      <p:sp>
        <p:nvSpPr>
          <p:cNvPr id="21" name="Icon disc"/>
          <p:cNvSpPr/>
          <p:nvPr/>
        </p:nvSpPr>
        <p:spPr>
          <a:xfrm>
            <a:off x="3273552" y="4233672"/>
            <a:ext cx="548640" cy="548640"/>
          </a:xfrm>
          <a:prstGeom prst="ellipse">
            <a:avLst/>
          </a:prstGeom>
          <a:solidFill>
            <a:schemeClr val="bg2"/>
          </a:solidFill>
          <a:ln/>
        </p:spPr>
      </p:sp>
      <p:pic>
        <p:nvPicPr>
          <p:cNvPr id="22" name="Image 3" descr="Clock icon">    </p:cNvPr>
          <p:cNvPicPr>
            <a:picLocks noChangeAspect="1"/>
          </p:cNvPicPr>
          <p:nvPr/>
        </p:nvPicPr>
        <p:blipFill>
          <a:blip r:embed="rId4"/>
          <a:stretch>
            <a:fillRect/>
          </a:stretch>
        </p:blipFill>
        <p:spPr>
          <a:xfrm>
            <a:off x="3410712" y="4370832"/>
            <a:ext cx="274320" cy="274320"/>
          </a:xfrm>
          <a:prstGeom prst="rect">
            <a:avLst/>
          </a:prstGeom>
        </p:spPr>
      </p:pic>
      <p:sp>
        <p:nvSpPr>
          <p:cNvPr id="23" name="Text 16"/>
          <p:cNvSpPr txBox="1"/>
          <p:nvPr/>
        </p:nvSpPr>
        <p:spPr>
          <a:xfrm>
            <a:off x="1005840" y="4233672"/>
            <a:ext cx="2194560" cy="868680"/>
          </a:xfrm>
          <a:prstGeom prst="rect">
            <a:avLst/>
          </a:prstGeom>
          <a:noFill/>
          <a:ln/>
        </p:spPr>
        <p:txBody>
          <a:bodyPr wrap="square" lIns="0" tIns="0" rIns="0" bIns="0" rtlCol="0" anchor="t"/>
          <a:lstStyle/>
          <a:p>
            <a:pPr indent="0" marL="0">
              <a:buNone/>
            </a:pPr>
            <a:r>
              <a:rPr lang="en-US" sz="4400" dirty="0">
                <a:solidFill>
                  <a:schemeClr val="tx1"/>
                </a:solidFill>
                <a:latin typeface="Cambria" pitchFamily="34" charset="0"/>
                <a:ea typeface="Cambria" pitchFamily="34" charset="-122"/>
                <a:cs typeface="Cambria" pitchFamily="34" charset="-120"/>
              </a:rPr>
              <a:t>[#]</a:t>
            </a:r>
            <a:endParaRPr lang="en-US" sz="4400" dirty="0"/>
          </a:p>
        </p:txBody>
      </p:sp>
      <p:sp>
        <p:nvSpPr>
          <p:cNvPr id="24" name="Text 17"/>
          <p:cNvSpPr txBox="1"/>
          <p:nvPr/>
        </p:nvSpPr>
        <p:spPr>
          <a:xfrm>
            <a:off x="1005840" y="5193792"/>
            <a:ext cx="2816352" cy="457200"/>
          </a:xfrm>
          <a:prstGeom prst="rect">
            <a:avLst/>
          </a:prstGeom>
          <a:noFill/>
          <a:ln/>
        </p:spPr>
        <p:txBody>
          <a:bodyPr wrap="square" lIns="0" tIns="0" rIns="0" bIns="0" rtlCol="0" anchor="t"/>
          <a:lstStyle/>
          <a:p>
            <a:pPr indent="0" marL="0">
              <a:buNone/>
            </a:pPr>
            <a:r>
              <a:rPr lang="en-US" sz="1400" dirty="0">
                <a:solidFill>
                  <a:schemeClr val="tx2"/>
                </a:solidFill>
              </a:rPr>
              <a:t>Periodic CDD reviews completed</a:t>
            </a:r>
            <a:endParaRPr lang="en-US" sz="1400" dirty="0"/>
          </a:p>
        </p:txBody>
      </p:sp>
      <p:sp>
        <p:nvSpPr>
          <p:cNvPr id="25" name="Stat tile"/>
          <p:cNvSpPr/>
          <p:nvPr/>
        </p:nvSpPr>
        <p:spPr>
          <a:xfrm>
            <a:off x="4366260" y="3959352"/>
            <a:ext cx="3456432" cy="1901952"/>
          </a:xfrm>
          <a:prstGeom prst="roundRect">
            <a:avLst>
              <a:gd name="adj" fmla="val 5769"/>
            </a:avLst>
          </a:prstGeom>
          <a:solidFill>
            <a:schemeClr val="bg1"/>
          </a:solidFill>
          <a:ln/>
          <a:effectLst>
            <a:outerShdw sx="100000" sy="100000" kx="0" ky="0" algn="bl" rotWithShape="0" blurRad="177800" dist="38100" dir="5400000">
              <a:srgbClr val="0B1F2A">
                <a:alpha val="10000"/>
              </a:srgbClr>
            </a:outerShdw>
          </a:effectLst>
        </p:spPr>
      </p:sp>
      <p:sp>
        <p:nvSpPr>
          <p:cNvPr id="26" name="Icon disc"/>
          <p:cNvSpPr/>
          <p:nvPr/>
        </p:nvSpPr>
        <p:spPr>
          <a:xfrm>
            <a:off x="6954012" y="4233672"/>
            <a:ext cx="548640" cy="548640"/>
          </a:xfrm>
          <a:prstGeom prst="ellipse">
            <a:avLst/>
          </a:prstGeom>
          <a:solidFill>
            <a:schemeClr val="bg2"/>
          </a:solidFill>
          <a:ln/>
        </p:spPr>
      </p:sp>
      <p:pic>
        <p:nvPicPr>
          <p:cNvPr id="27" name="Image 4" descr="Users icon">    </p:cNvPr>
          <p:cNvPicPr>
            <a:picLocks noChangeAspect="1"/>
          </p:cNvPicPr>
          <p:nvPr/>
        </p:nvPicPr>
        <p:blipFill>
          <a:blip r:embed="rId5"/>
          <a:stretch>
            <a:fillRect/>
          </a:stretch>
        </p:blipFill>
        <p:spPr>
          <a:xfrm>
            <a:off x="7091172" y="4370832"/>
            <a:ext cx="274320" cy="274320"/>
          </a:xfrm>
          <a:prstGeom prst="rect">
            <a:avLst/>
          </a:prstGeom>
        </p:spPr>
      </p:pic>
      <p:sp>
        <p:nvSpPr>
          <p:cNvPr id="28" name="Text 20"/>
          <p:cNvSpPr txBox="1"/>
          <p:nvPr/>
        </p:nvSpPr>
        <p:spPr>
          <a:xfrm>
            <a:off x="4686300" y="4233672"/>
            <a:ext cx="2194560" cy="868680"/>
          </a:xfrm>
          <a:prstGeom prst="rect">
            <a:avLst/>
          </a:prstGeom>
          <a:noFill/>
          <a:ln/>
        </p:spPr>
        <p:txBody>
          <a:bodyPr wrap="square" lIns="0" tIns="0" rIns="0" bIns="0" rtlCol="0" anchor="t"/>
          <a:lstStyle/>
          <a:p>
            <a:pPr indent="0" marL="0">
              <a:buNone/>
            </a:pPr>
            <a:r>
              <a:rPr lang="en-US" sz="4400" dirty="0">
                <a:solidFill>
                  <a:schemeClr val="tx1"/>
                </a:solidFill>
                <a:latin typeface="Cambria" pitchFamily="34" charset="0"/>
                <a:ea typeface="Cambria" pitchFamily="34" charset="-122"/>
                <a:cs typeface="Cambria" pitchFamily="34" charset="-120"/>
              </a:rPr>
              <a:t>[#]%</a:t>
            </a:r>
            <a:endParaRPr lang="en-US" sz="4400" dirty="0"/>
          </a:p>
        </p:txBody>
      </p:sp>
      <p:sp>
        <p:nvSpPr>
          <p:cNvPr id="29" name="Text 21"/>
          <p:cNvSpPr txBox="1"/>
          <p:nvPr/>
        </p:nvSpPr>
        <p:spPr>
          <a:xfrm>
            <a:off x="4686300" y="5193792"/>
            <a:ext cx="2816352" cy="457200"/>
          </a:xfrm>
          <a:prstGeom prst="rect">
            <a:avLst/>
          </a:prstGeom>
          <a:noFill/>
          <a:ln/>
        </p:spPr>
        <p:txBody>
          <a:bodyPr wrap="square" lIns="0" tIns="0" rIns="0" bIns="0" rtlCol="0" anchor="t"/>
          <a:lstStyle/>
          <a:p>
            <a:pPr indent="0" marL="0">
              <a:buNone/>
            </a:pPr>
            <a:r>
              <a:rPr lang="en-US" sz="1400" dirty="0">
                <a:solidFill>
                  <a:schemeClr val="tx2"/>
                </a:solidFill>
              </a:rPr>
              <a:t>Staff training completion</a:t>
            </a:r>
            <a:endParaRPr lang="en-US" sz="1400" dirty="0"/>
          </a:p>
        </p:txBody>
      </p:sp>
      <p:sp>
        <p:nvSpPr>
          <p:cNvPr id="30" name="Stat tile"/>
          <p:cNvSpPr/>
          <p:nvPr/>
        </p:nvSpPr>
        <p:spPr>
          <a:xfrm>
            <a:off x="8046720" y="3959352"/>
            <a:ext cx="3456432" cy="1901952"/>
          </a:xfrm>
          <a:prstGeom prst="roundRect">
            <a:avLst>
              <a:gd name="adj" fmla="val 5769"/>
            </a:avLst>
          </a:prstGeom>
          <a:solidFill>
            <a:schemeClr val="bg1"/>
          </a:solidFill>
          <a:ln/>
          <a:effectLst>
            <a:outerShdw sx="100000" sy="100000" kx="0" ky="0" algn="bl" rotWithShape="0" blurRad="177800" dist="38100" dir="5400000">
              <a:srgbClr val="0B1F2A">
                <a:alpha val="10000"/>
              </a:srgbClr>
            </a:outerShdw>
          </a:effectLst>
        </p:spPr>
      </p:sp>
      <p:sp>
        <p:nvSpPr>
          <p:cNvPr id="31" name="Icon disc"/>
          <p:cNvSpPr/>
          <p:nvPr/>
        </p:nvSpPr>
        <p:spPr>
          <a:xfrm>
            <a:off x="10634472" y="4233672"/>
            <a:ext cx="548640" cy="548640"/>
          </a:xfrm>
          <a:prstGeom prst="ellipse">
            <a:avLst/>
          </a:prstGeom>
          <a:solidFill>
            <a:schemeClr val="bg2"/>
          </a:solidFill>
          <a:ln/>
        </p:spPr>
      </p:sp>
      <p:pic>
        <p:nvPicPr>
          <p:cNvPr id="32" name="Image 5" descr="Search icon">    </p:cNvPr>
          <p:cNvPicPr>
            <a:picLocks noChangeAspect="1"/>
          </p:cNvPicPr>
          <p:nvPr/>
        </p:nvPicPr>
        <p:blipFill>
          <a:blip r:embed="rId6"/>
          <a:stretch>
            <a:fillRect/>
          </a:stretch>
        </p:blipFill>
        <p:spPr>
          <a:xfrm>
            <a:off x="10771632" y="4370832"/>
            <a:ext cx="274320" cy="274320"/>
          </a:xfrm>
          <a:prstGeom prst="rect">
            <a:avLst/>
          </a:prstGeom>
        </p:spPr>
      </p:pic>
      <p:sp>
        <p:nvSpPr>
          <p:cNvPr id="33" name="Text 24"/>
          <p:cNvSpPr txBox="1"/>
          <p:nvPr/>
        </p:nvSpPr>
        <p:spPr>
          <a:xfrm>
            <a:off x="8366760" y="4233672"/>
            <a:ext cx="2194560" cy="868680"/>
          </a:xfrm>
          <a:prstGeom prst="rect">
            <a:avLst/>
          </a:prstGeom>
          <a:noFill/>
          <a:ln/>
        </p:spPr>
        <p:txBody>
          <a:bodyPr wrap="square" lIns="0" tIns="0" rIns="0" bIns="0" rtlCol="0" anchor="t"/>
          <a:lstStyle/>
          <a:p>
            <a:pPr indent="0" marL="0">
              <a:buNone/>
            </a:pPr>
            <a:r>
              <a:rPr lang="en-US" sz="4400" dirty="0">
                <a:solidFill>
                  <a:schemeClr val="tx1"/>
                </a:solidFill>
                <a:latin typeface="Cambria" pitchFamily="34" charset="0"/>
                <a:ea typeface="Cambria" pitchFamily="34" charset="-122"/>
                <a:cs typeface="Cambria" pitchFamily="34" charset="-120"/>
              </a:rPr>
              <a:t>[#]</a:t>
            </a:r>
            <a:endParaRPr lang="en-US" sz="4400" dirty="0"/>
          </a:p>
        </p:txBody>
      </p:sp>
      <p:sp>
        <p:nvSpPr>
          <p:cNvPr id="34" name="Text 25"/>
          <p:cNvSpPr txBox="1"/>
          <p:nvPr/>
        </p:nvSpPr>
        <p:spPr>
          <a:xfrm>
            <a:off x="8366760" y="5193792"/>
            <a:ext cx="2816352" cy="457200"/>
          </a:xfrm>
          <a:prstGeom prst="rect">
            <a:avLst/>
          </a:prstGeom>
          <a:noFill/>
          <a:ln/>
        </p:spPr>
        <p:txBody>
          <a:bodyPr wrap="square" lIns="0" tIns="0" rIns="0" bIns="0" rtlCol="0" anchor="t"/>
          <a:lstStyle/>
          <a:p>
            <a:pPr indent="0" marL="0">
              <a:buNone/>
            </a:pPr>
            <a:r>
              <a:rPr lang="en-US" sz="1400" dirty="0">
                <a:solidFill>
                  <a:schemeClr val="tx2"/>
                </a:solidFill>
              </a:rPr>
              <a:t>Sanctions screening matches investigated</a:t>
            </a:r>
            <a:endParaRPr lang="en-US" sz="1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685800" y="1097280"/>
            <a:ext cx="3657600" cy="1645920"/>
          </a:xfrm>
          <a:prstGeom prst="rect">
            <a:avLst/>
          </a:prstGeom>
          <a:noFill/>
          <a:ln/>
        </p:spPr>
        <p:txBody>
          <a:bodyPr wrap="square" lIns="0" tIns="0" rIns="0" bIns="0" rtlCol="0" anchor="b"/>
          <a:lstStyle/>
          <a:p>
            <a:pPr algn="l" indent="0" marL="0">
              <a:buNone/>
            </a:pPr>
            <a:r>
              <a:rPr lang="en-US" sz="11000" dirty="0">
                <a:solidFill>
                  <a:schemeClr val="accent1"/>
                </a:solidFill>
                <a:latin typeface="Cambria" pitchFamily="34" charset="0"/>
                <a:ea typeface="Cambria" pitchFamily="34" charset="-122"/>
                <a:cs typeface="Cambria" pitchFamily="34" charset="-120"/>
              </a:rPr>
              <a:t>02</a:t>
            </a:r>
            <a:endParaRPr lang="en-US" sz="11000" dirty="0"/>
          </a:p>
        </p:txBody>
      </p:sp>
      <p:sp>
        <p:nvSpPr>
          <p:cNvPr id="3" name="Text 2"/>
          <p:cNvSpPr/>
          <p:nvPr>
            <p:ph idx="103" type="title" hasCustomPrompt="1"/>
          </p:nvPr>
        </p:nvSpPr>
        <p:spPr>
          <a:xfrm>
            <a:off x="685800" y="2880360"/>
            <a:ext cx="8229600" cy="1188720"/>
          </a:xfrm>
          <a:prstGeom prst="rect">
            <a:avLst/>
          </a:prstGeom>
          <a:noFill/>
          <a:ln/>
        </p:spPr>
        <p:txBody>
          <a:bodyPr wrap="square" lIns="0" tIns="0" rIns="0" bIns="0" rtlCol="0" anchor="t"/>
          <a:lstStyle/>
          <a:p>
            <a:pPr algn="l" indent="0" marL="0">
              <a:buNone/>
            </a:pPr>
            <a:r>
              <a:rPr lang="en-US" sz="4400" dirty="0">
                <a:solidFill>
                  <a:schemeClr val="bg1"/>
                </a:solidFill>
                <a:latin typeface="Cambria" pitchFamily="34" charset="0"/>
                <a:ea typeface="Cambria" pitchFamily="34" charset="-122"/>
                <a:cs typeface="Cambria" pitchFamily="34" charset="-120"/>
              </a:rPr>
              <a:t>Essentials, refreshed</a:t>
            </a:r>
            <a:endParaRPr lang="en-US" sz="4400" dirty="0"/>
          </a:p>
        </p:txBody>
      </p:sp>
      <p:sp>
        <p:nvSpPr>
          <p:cNvPr id="4" name="Text 2"/>
          <p:cNvSpPr/>
          <p:nvPr>
            <p:ph idx="104" type="body" hasCustomPrompt="1"/>
          </p:nvPr>
        </p:nvSpPr>
        <p:spPr>
          <a:xfrm>
            <a:off x="685800" y="4160520"/>
            <a:ext cx="6583680" cy="1097280"/>
          </a:xfrm>
          <a:prstGeom prst="rect">
            <a:avLst/>
          </a:prstGeom>
          <a:noFill/>
          <a:ln/>
        </p:spPr>
        <p:txBody>
          <a:bodyPr wrap="square" lIns="0" tIns="0" rIns="0" bIns="0" rtlCol="0" anchor="t"/>
          <a:lstStyle/>
          <a:p>
            <a:pPr algn="l" indent="0" marL="0">
              <a:buNone/>
            </a:pPr>
            <a:r>
              <a:rPr lang="en-US" sz="1800" dirty="0">
                <a:solidFill>
                  <a:schemeClr val="accent6"/>
                </a:solidFill>
              </a:rPr>
              <a:t>The rules that don't change from year to year, and why they still matter most</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02 · ESSENTIALS</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Five rules that never change</a:t>
            </a:r>
            <a:endParaRPr lang="en-US" sz="3400" dirty="0"/>
          </a:p>
        </p:txBody>
      </p:sp>
      <p:sp>
        <p:nvSpPr>
          <p:cNvPr id="5" name="Rule card"/>
          <p:cNvSpPr/>
          <p:nvPr/>
        </p:nvSpPr>
        <p:spPr>
          <a:xfrm>
            <a:off x="685800" y="1920240"/>
            <a:ext cx="2011680" cy="3429000"/>
          </a:xfrm>
          <a:prstGeom prst="roundRect">
            <a:avLst>
              <a:gd name="adj" fmla="val 5455"/>
            </a:avLst>
          </a:prstGeom>
          <a:solidFill>
            <a:schemeClr val="bg1"/>
          </a:solidFill>
          <a:ln/>
          <a:effectLst>
            <a:outerShdw sx="100000" sy="100000" kx="0" ky="0" algn="bl" rotWithShape="0" blurRad="177800" dist="38100" dir="5400000">
              <a:srgbClr val="0B1F2A">
                <a:alpha val="10000"/>
              </a:srgbClr>
            </a:outerShdw>
          </a:effectLst>
        </p:spPr>
      </p:sp>
      <p:sp>
        <p:nvSpPr>
          <p:cNvPr id="6" name="Text 3"/>
          <p:cNvSpPr txBox="1"/>
          <p:nvPr/>
        </p:nvSpPr>
        <p:spPr>
          <a:xfrm>
            <a:off x="960120" y="2103120"/>
            <a:ext cx="914400" cy="914400"/>
          </a:xfrm>
          <a:prstGeom prst="rect">
            <a:avLst/>
          </a:prstGeom>
          <a:noFill/>
          <a:ln/>
        </p:spPr>
        <p:txBody>
          <a:bodyPr wrap="square" lIns="0" tIns="0" rIns="0" bIns="0" rtlCol="0" anchor="t"/>
          <a:lstStyle/>
          <a:p>
            <a:pPr indent="0" marL="0">
              <a:buNone/>
            </a:pPr>
            <a:r>
              <a:rPr lang="en-US" sz="6000" dirty="0">
                <a:solidFill>
                  <a:schemeClr val="accent6"/>
                </a:solidFill>
                <a:latin typeface="Cambria" pitchFamily="34" charset="0"/>
                <a:ea typeface="Cambria" pitchFamily="34" charset="-122"/>
                <a:cs typeface="Cambria" pitchFamily="34" charset="-120"/>
              </a:rPr>
              <a:t>1</a:t>
            </a:r>
            <a:endParaRPr lang="en-US" sz="6000" dirty="0"/>
          </a:p>
        </p:txBody>
      </p:sp>
      <p:sp>
        <p:nvSpPr>
          <p:cNvPr id="7" name="Icon disc"/>
          <p:cNvSpPr/>
          <p:nvPr/>
        </p:nvSpPr>
        <p:spPr>
          <a:xfrm>
            <a:off x="1874520" y="2240280"/>
            <a:ext cx="548640" cy="548640"/>
          </a:xfrm>
          <a:prstGeom prst="ellipse">
            <a:avLst/>
          </a:prstGeom>
          <a:solidFill>
            <a:schemeClr val="accent1"/>
          </a:solidFill>
          <a:ln/>
        </p:spPr>
      </p:sp>
      <p:pic>
        <p:nvPicPr>
          <p:cNvPr id="8" name="Image 0" descr="Fingerprint icon">    </p:cNvPr>
          <p:cNvPicPr>
            <a:picLocks noChangeAspect="1"/>
          </p:cNvPicPr>
          <p:nvPr/>
        </p:nvPicPr>
        <p:blipFill>
          <a:blip r:embed="rId1"/>
          <a:stretch>
            <a:fillRect/>
          </a:stretch>
        </p:blipFill>
        <p:spPr>
          <a:xfrm>
            <a:off x="2011680" y="2377440"/>
            <a:ext cx="274320" cy="274320"/>
          </a:xfrm>
          <a:prstGeom prst="rect">
            <a:avLst/>
          </a:prstGeom>
        </p:spPr>
      </p:pic>
      <p:sp>
        <p:nvSpPr>
          <p:cNvPr id="9" name="Text 5"/>
          <p:cNvSpPr txBox="1"/>
          <p:nvPr/>
        </p:nvSpPr>
        <p:spPr>
          <a:xfrm>
            <a:off x="960120" y="3246120"/>
            <a:ext cx="1554480" cy="68580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Know</a:t>
            </a:r>
            <a:endParaRPr lang="en-US" sz="2100" dirty="0"/>
          </a:p>
        </p:txBody>
      </p:sp>
      <p:sp>
        <p:nvSpPr>
          <p:cNvPr id="10" name="Text 6"/>
          <p:cNvSpPr txBox="1"/>
          <p:nvPr/>
        </p:nvSpPr>
        <p:spPr>
          <a:xfrm>
            <a:off x="960120" y="3977640"/>
            <a:ext cx="1508760" cy="1645920"/>
          </a:xfrm>
          <a:prstGeom prst="rect">
            <a:avLst/>
          </a:prstGeom>
          <a:noFill/>
          <a:ln/>
        </p:spPr>
        <p:txBody>
          <a:bodyPr wrap="square" lIns="0" tIns="0" rIns="0" bIns="0" rtlCol="0" anchor="t"/>
          <a:lstStyle/>
          <a:p>
            <a:pPr indent="0" marL="0">
              <a:lnSpc>
                <a:spcPct val="108000"/>
              </a:lnSpc>
              <a:buNone/>
            </a:pPr>
            <a:r>
              <a:rPr lang="en-US" sz="1350" dirty="0">
                <a:solidFill>
                  <a:schemeClr val="tx2"/>
                </a:solidFill>
              </a:rPr>
              <a:t>Who the client is, who really owns or controls them, and why they need us.</a:t>
            </a:r>
            <a:endParaRPr lang="en-US" sz="1350" dirty="0"/>
          </a:p>
        </p:txBody>
      </p:sp>
      <p:sp>
        <p:nvSpPr>
          <p:cNvPr id="11" name="Rule card"/>
          <p:cNvSpPr/>
          <p:nvPr/>
        </p:nvSpPr>
        <p:spPr>
          <a:xfrm>
            <a:off x="2887675" y="1920240"/>
            <a:ext cx="2011680" cy="3429000"/>
          </a:xfrm>
          <a:prstGeom prst="roundRect">
            <a:avLst>
              <a:gd name="adj" fmla="val 5455"/>
            </a:avLst>
          </a:prstGeom>
          <a:solidFill>
            <a:schemeClr val="bg1"/>
          </a:solidFill>
          <a:ln/>
          <a:effectLst>
            <a:outerShdw sx="100000" sy="100000" kx="0" ky="0" algn="bl" rotWithShape="0" blurRad="177800" dist="38100" dir="5400000">
              <a:srgbClr val="0B1F2A">
                <a:alpha val="10000"/>
              </a:srgbClr>
            </a:outerShdw>
          </a:effectLst>
        </p:spPr>
      </p:sp>
      <p:sp>
        <p:nvSpPr>
          <p:cNvPr id="12" name="Text 8"/>
          <p:cNvSpPr txBox="1"/>
          <p:nvPr/>
        </p:nvSpPr>
        <p:spPr>
          <a:xfrm>
            <a:off x="3161995" y="2103120"/>
            <a:ext cx="914400" cy="914400"/>
          </a:xfrm>
          <a:prstGeom prst="rect">
            <a:avLst/>
          </a:prstGeom>
          <a:noFill/>
          <a:ln/>
        </p:spPr>
        <p:txBody>
          <a:bodyPr wrap="square" lIns="0" tIns="0" rIns="0" bIns="0" rtlCol="0" anchor="t"/>
          <a:lstStyle/>
          <a:p>
            <a:pPr indent="0" marL="0">
              <a:buNone/>
            </a:pPr>
            <a:r>
              <a:rPr lang="en-US" sz="6000" dirty="0">
                <a:solidFill>
                  <a:schemeClr val="accent6"/>
                </a:solidFill>
                <a:latin typeface="Cambria" pitchFamily="34" charset="0"/>
                <a:ea typeface="Cambria" pitchFamily="34" charset="-122"/>
                <a:cs typeface="Cambria" pitchFamily="34" charset="-120"/>
              </a:rPr>
              <a:t>2</a:t>
            </a:r>
            <a:endParaRPr lang="en-US" sz="6000" dirty="0"/>
          </a:p>
        </p:txBody>
      </p:sp>
      <p:sp>
        <p:nvSpPr>
          <p:cNvPr id="13" name="Icon disc"/>
          <p:cNvSpPr/>
          <p:nvPr/>
        </p:nvSpPr>
        <p:spPr>
          <a:xfrm>
            <a:off x="4076395" y="2240280"/>
            <a:ext cx="548640" cy="548640"/>
          </a:xfrm>
          <a:prstGeom prst="ellipse">
            <a:avLst/>
          </a:prstGeom>
          <a:solidFill>
            <a:schemeClr val="accent1"/>
          </a:solidFill>
          <a:ln/>
        </p:spPr>
      </p:sp>
      <p:pic>
        <p:nvPicPr>
          <p:cNvPr id="14" name="Image 1" descr="CircleHelp icon">    </p:cNvPr>
          <p:cNvPicPr>
            <a:picLocks noChangeAspect="1"/>
          </p:cNvPicPr>
          <p:nvPr/>
        </p:nvPicPr>
        <p:blipFill>
          <a:blip r:embed="rId2"/>
          <a:stretch>
            <a:fillRect/>
          </a:stretch>
        </p:blipFill>
        <p:spPr>
          <a:xfrm>
            <a:off x="4213555" y="2377440"/>
            <a:ext cx="274320" cy="274320"/>
          </a:xfrm>
          <a:prstGeom prst="rect">
            <a:avLst/>
          </a:prstGeom>
        </p:spPr>
      </p:pic>
      <p:sp>
        <p:nvSpPr>
          <p:cNvPr id="15" name="Text 10"/>
          <p:cNvSpPr txBox="1"/>
          <p:nvPr/>
        </p:nvSpPr>
        <p:spPr>
          <a:xfrm>
            <a:off x="3161995" y="3246120"/>
            <a:ext cx="1554480" cy="68580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Question</a:t>
            </a:r>
            <a:endParaRPr lang="en-US" sz="2100" dirty="0"/>
          </a:p>
        </p:txBody>
      </p:sp>
      <p:sp>
        <p:nvSpPr>
          <p:cNvPr id="16" name="Text 11"/>
          <p:cNvSpPr txBox="1"/>
          <p:nvPr/>
        </p:nvSpPr>
        <p:spPr>
          <a:xfrm>
            <a:off x="3161995" y="3977640"/>
            <a:ext cx="1508760" cy="1645920"/>
          </a:xfrm>
          <a:prstGeom prst="rect">
            <a:avLst/>
          </a:prstGeom>
          <a:noFill/>
          <a:ln/>
        </p:spPr>
        <p:txBody>
          <a:bodyPr wrap="square" lIns="0" tIns="0" rIns="0" bIns="0" rtlCol="0" anchor="t"/>
          <a:lstStyle/>
          <a:p>
            <a:pPr indent="0" marL="0">
              <a:lnSpc>
                <a:spcPct val="108000"/>
              </a:lnSpc>
              <a:buNone/>
            </a:pPr>
            <a:r>
              <a:rPr lang="en-US" sz="1350" dirty="0">
                <a:solidFill>
                  <a:schemeClr val="tx2"/>
                </a:solidFill>
              </a:rPr>
              <a:t>Anything that doesn't make commercial or personal sense. Ask, and record the answer.</a:t>
            </a:r>
            <a:endParaRPr lang="en-US" sz="1350" dirty="0"/>
          </a:p>
        </p:txBody>
      </p:sp>
      <p:sp>
        <p:nvSpPr>
          <p:cNvPr id="17" name="Rule card"/>
          <p:cNvSpPr/>
          <p:nvPr/>
        </p:nvSpPr>
        <p:spPr>
          <a:xfrm>
            <a:off x="5089550" y="1920240"/>
            <a:ext cx="2011680" cy="3429000"/>
          </a:xfrm>
          <a:prstGeom prst="roundRect">
            <a:avLst>
              <a:gd name="adj" fmla="val 5455"/>
            </a:avLst>
          </a:prstGeom>
          <a:solidFill>
            <a:schemeClr val="bg1"/>
          </a:solidFill>
          <a:ln/>
          <a:effectLst>
            <a:outerShdw sx="100000" sy="100000" kx="0" ky="0" algn="bl" rotWithShape="0" blurRad="177800" dist="38100" dir="5400000">
              <a:srgbClr val="0B1F2A">
                <a:alpha val="10000"/>
              </a:srgbClr>
            </a:outerShdw>
          </a:effectLst>
        </p:spPr>
      </p:sp>
      <p:sp>
        <p:nvSpPr>
          <p:cNvPr id="18" name="Text 13"/>
          <p:cNvSpPr txBox="1"/>
          <p:nvPr/>
        </p:nvSpPr>
        <p:spPr>
          <a:xfrm>
            <a:off x="5363870" y="2103120"/>
            <a:ext cx="914400" cy="914400"/>
          </a:xfrm>
          <a:prstGeom prst="rect">
            <a:avLst/>
          </a:prstGeom>
          <a:noFill/>
          <a:ln/>
        </p:spPr>
        <p:txBody>
          <a:bodyPr wrap="square" lIns="0" tIns="0" rIns="0" bIns="0" rtlCol="0" anchor="t"/>
          <a:lstStyle/>
          <a:p>
            <a:pPr indent="0" marL="0">
              <a:buNone/>
            </a:pPr>
            <a:r>
              <a:rPr lang="en-US" sz="6000" dirty="0">
                <a:solidFill>
                  <a:schemeClr val="accent6"/>
                </a:solidFill>
                <a:latin typeface="Cambria" pitchFamily="34" charset="0"/>
                <a:ea typeface="Cambria" pitchFamily="34" charset="-122"/>
                <a:cs typeface="Cambria" pitchFamily="34" charset="-120"/>
              </a:rPr>
              <a:t>3</a:t>
            </a:r>
            <a:endParaRPr lang="en-US" sz="6000" dirty="0"/>
          </a:p>
        </p:txBody>
      </p:sp>
      <p:sp>
        <p:nvSpPr>
          <p:cNvPr id="19" name="Icon disc"/>
          <p:cNvSpPr/>
          <p:nvPr/>
        </p:nvSpPr>
        <p:spPr>
          <a:xfrm>
            <a:off x="6278270" y="2240280"/>
            <a:ext cx="548640" cy="548640"/>
          </a:xfrm>
          <a:prstGeom prst="ellipse">
            <a:avLst/>
          </a:prstGeom>
          <a:solidFill>
            <a:schemeClr val="accent1"/>
          </a:solidFill>
          <a:ln/>
        </p:spPr>
      </p:sp>
      <p:pic>
        <p:nvPicPr>
          <p:cNvPr id="20" name="Image 2" descr="PenLine icon">    </p:cNvPr>
          <p:cNvPicPr>
            <a:picLocks noChangeAspect="1"/>
          </p:cNvPicPr>
          <p:nvPr/>
        </p:nvPicPr>
        <p:blipFill>
          <a:blip r:embed="rId3"/>
          <a:stretch>
            <a:fillRect/>
          </a:stretch>
        </p:blipFill>
        <p:spPr>
          <a:xfrm>
            <a:off x="6415430" y="2377440"/>
            <a:ext cx="274320" cy="274320"/>
          </a:xfrm>
          <a:prstGeom prst="rect">
            <a:avLst/>
          </a:prstGeom>
        </p:spPr>
      </p:pic>
      <p:sp>
        <p:nvSpPr>
          <p:cNvPr id="21" name="Text 15"/>
          <p:cNvSpPr txBox="1"/>
          <p:nvPr/>
        </p:nvSpPr>
        <p:spPr>
          <a:xfrm>
            <a:off x="5363870" y="3246120"/>
            <a:ext cx="1554480" cy="68580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Record</a:t>
            </a:r>
            <a:endParaRPr lang="en-US" sz="2100" dirty="0"/>
          </a:p>
        </p:txBody>
      </p:sp>
      <p:sp>
        <p:nvSpPr>
          <p:cNvPr id="22" name="Text 16"/>
          <p:cNvSpPr txBox="1"/>
          <p:nvPr/>
        </p:nvSpPr>
        <p:spPr>
          <a:xfrm>
            <a:off x="5363870" y="3977640"/>
            <a:ext cx="1508760" cy="1645920"/>
          </a:xfrm>
          <a:prstGeom prst="rect">
            <a:avLst/>
          </a:prstGeom>
          <a:noFill/>
          <a:ln/>
        </p:spPr>
        <p:txBody>
          <a:bodyPr wrap="square" lIns="0" tIns="0" rIns="0" bIns="0" rtlCol="0" anchor="t"/>
          <a:lstStyle/>
          <a:p>
            <a:pPr indent="0" marL="0">
              <a:lnSpc>
                <a:spcPct val="108000"/>
              </a:lnSpc>
              <a:buNone/>
            </a:pPr>
            <a:r>
              <a:rPr lang="en-US" sz="1350" dirty="0">
                <a:solidFill>
                  <a:schemeClr val="tx2"/>
                </a:solidFill>
              </a:rPr>
              <a:t>What you checked, what you were told, and why you were satisfied.</a:t>
            </a:r>
            <a:endParaRPr lang="en-US" sz="1350" dirty="0"/>
          </a:p>
        </p:txBody>
      </p:sp>
      <p:sp>
        <p:nvSpPr>
          <p:cNvPr id="23" name="Rule card"/>
          <p:cNvSpPr/>
          <p:nvPr/>
        </p:nvSpPr>
        <p:spPr>
          <a:xfrm>
            <a:off x="7291426" y="1920240"/>
            <a:ext cx="2011680" cy="3429000"/>
          </a:xfrm>
          <a:prstGeom prst="roundRect">
            <a:avLst>
              <a:gd name="adj" fmla="val 5455"/>
            </a:avLst>
          </a:prstGeom>
          <a:solidFill>
            <a:schemeClr val="bg1"/>
          </a:solidFill>
          <a:ln/>
          <a:effectLst>
            <a:outerShdw sx="100000" sy="100000" kx="0" ky="0" algn="bl" rotWithShape="0" blurRad="177800" dist="38100" dir="5400000">
              <a:srgbClr val="0B1F2A">
                <a:alpha val="10000"/>
              </a:srgbClr>
            </a:outerShdw>
          </a:effectLst>
        </p:spPr>
      </p:sp>
      <p:sp>
        <p:nvSpPr>
          <p:cNvPr id="24" name="Text 18"/>
          <p:cNvSpPr txBox="1"/>
          <p:nvPr/>
        </p:nvSpPr>
        <p:spPr>
          <a:xfrm>
            <a:off x="7565746" y="2103120"/>
            <a:ext cx="914400" cy="914400"/>
          </a:xfrm>
          <a:prstGeom prst="rect">
            <a:avLst/>
          </a:prstGeom>
          <a:noFill/>
          <a:ln/>
        </p:spPr>
        <p:txBody>
          <a:bodyPr wrap="square" lIns="0" tIns="0" rIns="0" bIns="0" rtlCol="0" anchor="t"/>
          <a:lstStyle/>
          <a:p>
            <a:pPr indent="0" marL="0">
              <a:buNone/>
            </a:pPr>
            <a:r>
              <a:rPr lang="en-US" sz="6000" dirty="0">
                <a:solidFill>
                  <a:schemeClr val="accent6"/>
                </a:solidFill>
                <a:latin typeface="Cambria" pitchFamily="34" charset="0"/>
                <a:ea typeface="Cambria" pitchFamily="34" charset="-122"/>
                <a:cs typeface="Cambria" pitchFamily="34" charset="-120"/>
              </a:rPr>
              <a:t>4</a:t>
            </a:r>
            <a:endParaRPr lang="en-US" sz="6000" dirty="0"/>
          </a:p>
        </p:txBody>
      </p:sp>
      <p:sp>
        <p:nvSpPr>
          <p:cNvPr id="25" name="Icon disc"/>
          <p:cNvSpPr/>
          <p:nvPr/>
        </p:nvSpPr>
        <p:spPr>
          <a:xfrm>
            <a:off x="8480146" y="2240280"/>
            <a:ext cx="548640" cy="548640"/>
          </a:xfrm>
          <a:prstGeom prst="ellipse">
            <a:avLst/>
          </a:prstGeom>
          <a:solidFill>
            <a:schemeClr val="accent1"/>
          </a:solidFill>
          <a:ln/>
        </p:spPr>
      </p:sp>
      <p:pic>
        <p:nvPicPr>
          <p:cNvPr id="26" name="Image 3" descr="Flag icon">    </p:cNvPr>
          <p:cNvPicPr>
            <a:picLocks noChangeAspect="1"/>
          </p:cNvPicPr>
          <p:nvPr/>
        </p:nvPicPr>
        <p:blipFill>
          <a:blip r:embed="rId4"/>
          <a:stretch>
            <a:fillRect/>
          </a:stretch>
        </p:blipFill>
        <p:spPr>
          <a:xfrm>
            <a:off x="8617306" y="2377440"/>
            <a:ext cx="274320" cy="274320"/>
          </a:xfrm>
          <a:prstGeom prst="rect">
            <a:avLst/>
          </a:prstGeom>
        </p:spPr>
      </p:pic>
      <p:sp>
        <p:nvSpPr>
          <p:cNvPr id="27" name="Text 20"/>
          <p:cNvSpPr txBox="1"/>
          <p:nvPr/>
        </p:nvSpPr>
        <p:spPr>
          <a:xfrm>
            <a:off x="7565746" y="3246120"/>
            <a:ext cx="1554480" cy="68580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Report</a:t>
            </a:r>
            <a:endParaRPr lang="en-US" sz="2100" dirty="0"/>
          </a:p>
        </p:txBody>
      </p:sp>
      <p:sp>
        <p:nvSpPr>
          <p:cNvPr id="28" name="Text 21"/>
          <p:cNvSpPr txBox="1"/>
          <p:nvPr/>
        </p:nvSpPr>
        <p:spPr>
          <a:xfrm>
            <a:off x="7565746" y="3977640"/>
            <a:ext cx="1508760" cy="1645920"/>
          </a:xfrm>
          <a:prstGeom prst="rect">
            <a:avLst/>
          </a:prstGeom>
          <a:noFill/>
          <a:ln/>
        </p:spPr>
        <p:txBody>
          <a:bodyPr wrap="square" lIns="0" tIns="0" rIns="0" bIns="0" rtlCol="0" anchor="t"/>
          <a:lstStyle/>
          <a:p>
            <a:pPr indent="0" marL="0">
              <a:lnSpc>
                <a:spcPct val="108000"/>
              </a:lnSpc>
              <a:buNone/>
            </a:pPr>
            <a:r>
              <a:rPr lang="en-US" sz="1350" dirty="0">
                <a:solidFill>
                  <a:schemeClr val="tx2"/>
                </a:solidFill>
              </a:rPr>
              <a:t>Suspicion to the MLRO, in writing, as soon as practicable.</a:t>
            </a:r>
            <a:endParaRPr lang="en-US" sz="1350" dirty="0"/>
          </a:p>
        </p:txBody>
      </p:sp>
      <p:sp>
        <p:nvSpPr>
          <p:cNvPr id="29" name="Rule card"/>
          <p:cNvSpPr/>
          <p:nvPr/>
        </p:nvSpPr>
        <p:spPr>
          <a:xfrm>
            <a:off x="9493301" y="1920240"/>
            <a:ext cx="2011680" cy="3429000"/>
          </a:xfrm>
          <a:prstGeom prst="roundRect">
            <a:avLst>
              <a:gd name="adj" fmla="val 5455"/>
            </a:avLst>
          </a:prstGeom>
          <a:solidFill>
            <a:schemeClr val="accent2"/>
          </a:solidFill>
          <a:ln/>
          <a:effectLst>
            <a:outerShdw sx="100000" sy="100000" kx="0" ky="0" algn="bl" rotWithShape="0" blurRad="177800" dist="38100" dir="5400000">
              <a:srgbClr val="0B1F2A">
                <a:alpha val="10000"/>
              </a:srgbClr>
            </a:outerShdw>
          </a:effectLst>
        </p:spPr>
      </p:sp>
      <p:sp>
        <p:nvSpPr>
          <p:cNvPr id="30" name="Text 23"/>
          <p:cNvSpPr txBox="1"/>
          <p:nvPr/>
        </p:nvSpPr>
        <p:spPr>
          <a:xfrm>
            <a:off x="9767621" y="2103120"/>
            <a:ext cx="914400" cy="914400"/>
          </a:xfrm>
          <a:prstGeom prst="rect">
            <a:avLst/>
          </a:prstGeom>
          <a:noFill/>
          <a:ln/>
        </p:spPr>
        <p:txBody>
          <a:bodyPr wrap="square" lIns="0" tIns="0" rIns="0" bIns="0" rtlCol="0" anchor="t"/>
          <a:lstStyle/>
          <a:p>
            <a:pPr indent="0" marL="0">
              <a:buNone/>
            </a:pPr>
            <a:r>
              <a:rPr lang="en-US" sz="6000" dirty="0">
                <a:solidFill>
                  <a:schemeClr val="bg1"/>
                </a:solidFill>
                <a:latin typeface="Cambria" pitchFamily="34" charset="0"/>
                <a:ea typeface="Cambria" pitchFamily="34" charset="-122"/>
                <a:cs typeface="Cambria" pitchFamily="34" charset="-120"/>
              </a:rPr>
              <a:t>5</a:t>
            </a:r>
            <a:endParaRPr lang="en-US" sz="6000" dirty="0"/>
          </a:p>
        </p:txBody>
      </p:sp>
      <p:sp>
        <p:nvSpPr>
          <p:cNvPr id="31" name="Icon disc"/>
          <p:cNvSpPr/>
          <p:nvPr/>
        </p:nvSpPr>
        <p:spPr>
          <a:xfrm>
            <a:off x="10682021" y="2240280"/>
            <a:ext cx="548640" cy="548640"/>
          </a:xfrm>
          <a:prstGeom prst="ellipse">
            <a:avLst/>
          </a:prstGeom>
          <a:solidFill>
            <a:schemeClr val="bg1"/>
          </a:solidFill>
          <a:ln/>
        </p:spPr>
      </p:sp>
      <p:pic>
        <p:nvPicPr>
          <p:cNvPr id="32" name="Image 4" descr="EyeOff icon">    </p:cNvPr>
          <p:cNvPicPr>
            <a:picLocks noChangeAspect="1"/>
          </p:cNvPicPr>
          <p:nvPr/>
        </p:nvPicPr>
        <p:blipFill>
          <a:blip r:embed="rId5"/>
          <a:stretch>
            <a:fillRect/>
          </a:stretch>
        </p:blipFill>
        <p:spPr>
          <a:xfrm>
            <a:off x="10819181" y="2377440"/>
            <a:ext cx="274320" cy="274320"/>
          </a:xfrm>
          <a:prstGeom prst="rect">
            <a:avLst/>
          </a:prstGeom>
        </p:spPr>
      </p:pic>
      <p:sp>
        <p:nvSpPr>
          <p:cNvPr id="33" name="Text 25"/>
          <p:cNvSpPr txBox="1"/>
          <p:nvPr/>
        </p:nvSpPr>
        <p:spPr>
          <a:xfrm>
            <a:off x="9767621" y="3246120"/>
            <a:ext cx="1554480" cy="685800"/>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Never tip off</a:t>
            </a:r>
            <a:endParaRPr lang="en-US" sz="2100" dirty="0"/>
          </a:p>
        </p:txBody>
      </p:sp>
      <p:sp>
        <p:nvSpPr>
          <p:cNvPr id="34" name="Text 26"/>
          <p:cNvSpPr txBox="1"/>
          <p:nvPr/>
        </p:nvSpPr>
        <p:spPr>
          <a:xfrm>
            <a:off x="9767621" y="3977640"/>
            <a:ext cx="1508760" cy="1645920"/>
          </a:xfrm>
          <a:prstGeom prst="rect">
            <a:avLst/>
          </a:prstGeom>
          <a:noFill/>
          <a:ln/>
        </p:spPr>
        <p:txBody>
          <a:bodyPr wrap="square" lIns="0" tIns="0" rIns="0" bIns="0" rtlCol="0" anchor="t"/>
          <a:lstStyle/>
          <a:p>
            <a:pPr indent="0" marL="0">
              <a:lnSpc>
                <a:spcPct val="108000"/>
              </a:lnSpc>
              <a:buNone/>
            </a:pPr>
            <a:r>
              <a:rPr lang="en-US" sz="1350" dirty="0">
                <a:solidFill>
                  <a:schemeClr val="bg1"/>
                </a:solidFill>
              </a:rPr>
              <a:t>Use neutral language with clients. Ask the MLRO if unsure.</a:t>
            </a:r>
            <a:endParaRPr lang="en-US" sz="13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02 · ESSENTIALS</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Keeping client files current</a:t>
            </a:r>
            <a:endParaRPr lang="en-US" sz="3400" dirty="0"/>
          </a:p>
        </p:txBody>
      </p:sp>
      <p:sp>
        <p:nvSpPr>
          <p:cNvPr id="5" name="Text 2"/>
          <p:cNvSpPr txBox="1"/>
          <p:nvPr/>
        </p:nvSpPr>
        <p:spPr>
          <a:xfrm>
            <a:off x="685800" y="1828800"/>
            <a:ext cx="4572000" cy="274320"/>
          </a:xfrm>
          <a:prstGeom prst="rect">
            <a:avLst/>
          </a:prstGeom>
          <a:noFill/>
          <a:ln/>
        </p:spPr>
        <p:txBody>
          <a:bodyPr wrap="square" lIns="0" tIns="0" rIns="0" bIns="0" rtlCol="0" anchor="t"/>
          <a:lstStyle/>
          <a:p>
            <a:pPr indent="0" marL="0">
              <a:buNone/>
            </a:pPr>
            <a:r>
              <a:rPr lang="en-US" sz="1000" b="1" spc="300" kern="0" dirty="0">
                <a:solidFill>
                  <a:schemeClr val="accent4"/>
                </a:solidFill>
              </a:rPr>
              <a:t>SCHEDULED REVIEWS (PROPOSED)</a:t>
            </a:r>
            <a:endParaRPr lang="en-US" sz="1000" dirty="0"/>
          </a:p>
        </p:txBody>
      </p:sp>
      <p:sp>
        <p:nvSpPr>
          <p:cNvPr id="6" name="Review level"/>
          <p:cNvSpPr/>
          <p:nvPr/>
        </p:nvSpPr>
        <p:spPr>
          <a:xfrm>
            <a:off x="685800" y="2212848"/>
            <a:ext cx="5120640" cy="1024128"/>
          </a:xfrm>
          <a:prstGeom prst="roundRect">
            <a:avLst>
              <a:gd name="adj" fmla="val 10714"/>
            </a:avLst>
          </a:prstGeom>
          <a:solidFill>
            <a:schemeClr val="accent2"/>
          </a:solidFill>
          <a:ln/>
        </p:spPr>
      </p:sp>
      <p:sp>
        <p:nvSpPr>
          <p:cNvPr id="7" name="Text 4"/>
          <p:cNvSpPr txBox="1"/>
          <p:nvPr/>
        </p:nvSpPr>
        <p:spPr>
          <a:xfrm>
            <a:off x="1005840" y="2395728"/>
            <a:ext cx="2743200" cy="256032"/>
          </a:xfrm>
          <a:prstGeom prst="rect">
            <a:avLst/>
          </a:prstGeom>
          <a:noFill/>
          <a:ln/>
        </p:spPr>
        <p:txBody>
          <a:bodyPr wrap="square" lIns="0" tIns="0" rIns="0" bIns="0" rtlCol="0" anchor="t"/>
          <a:lstStyle/>
          <a:p>
            <a:pPr indent="0" marL="0">
              <a:buNone/>
            </a:pPr>
            <a:r>
              <a:rPr lang="en-US" sz="1000" b="1" spc="300" kern="0" dirty="0">
                <a:solidFill>
                  <a:schemeClr val="bg1"/>
                </a:solidFill>
              </a:rPr>
              <a:t>HIGHER RISK</a:t>
            </a:r>
            <a:endParaRPr lang="en-US" sz="1000" dirty="0"/>
          </a:p>
        </p:txBody>
      </p:sp>
      <p:sp>
        <p:nvSpPr>
          <p:cNvPr id="8" name="Text 5"/>
          <p:cNvSpPr txBox="1"/>
          <p:nvPr/>
        </p:nvSpPr>
        <p:spPr>
          <a:xfrm>
            <a:off x="1005840" y="2670048"/>
            <a:ext cx="4389120" cy="411480"/>
          </a:xfrm>
          <a:prstGeom prst="rect">
            <a:avLst/>
          </a:prstGeom>
          <a:noFill/>
          <a:ln/>
        </p:spPr>
        <p:txBody>
          <a:bodyPr wrap="square" lIns="0" tIns="0" rIns="0" bIns="0" rtlCol="0" anchor="t"/>
          <a:lstStyle/>
          <a:p>
            <a:pPr indent="0" marL="0">
              <a:buNone/>
            </a:pPr>
            <a:r>
              <a:rPr lang="en-US" sz="2200" dirty="0">
                <a:solidFill>
                  <a:schemeClr val="bg1"/>
                </a:solidFill>
                <a:latin typeface="Cambria" pitchFamily="34" charset="0"/>
                <a:ea typeface="Cambria" pitchFamily="34" charset="-122"/>
                <a:cs typeface="Cambria" pitchFamily="34" charset="-120"/>
              </a:rPr>
              <a:t>Every 12 months</a:t>
            </a:r>
            <a:endParaRPr lang="en-US" sz="2200" dirty="0"/>
          </a:p>
        </p:txBody>
      </p:sp>
      <p:sp>
        <p:nvSpPr>
          <p:cNvPr id="9" name="Review level"/>
          <p:cNvSpPr/>
          <p:nvPr/>
        </p:nvSpPr>
        <p:spPr>
          <a:xfrm>
            <a:off x="685800" y="3419856"/>
            <a:ext cx="5120640" cy="1024128"/>
          </a:xfrm>
          <a:prstGeom prst="roundRect">
            <a:avLst>
              <a:gd name="adj" fmla="val 10714"/>
            </a:avLst>
          </a:prstGeom>
          <a:solidFill>
            <a:schemeClr val="accent1"/>
          </a:solidFill>
          <a:ln/>
        </p:spPr>
      </p:sp>
      <p:sp>
        <p:nvSpPr>
          <p:cNvPr id="10" name="Text 7"/>
          <p:cNvSpPr txBox="1"/>
          <p:nvPr/>
        </p:nvSpPr>
        <p:spPr>
          <a:xfrm>
            <a:off x="1005840" y="3602736"/>
            <a:ext cx="2743200" cy="256032"/>
          </a:xfrm>
          <a:prstGeom prst="rect">
            <a:avLst/>
          </a:prstGeom>
          <a:noFill/>
          <a:ln/>
        </p:spPr>
        <p:txBody>
          <a:bodyPr wrap="square" lIns="0" tIns="0" rIns="0" bIns="0" rtlCol="0" anchor="t"/>
          <a:lstStyle/>
          <a:p>
            <a:pPr indent="0" marL="0">
              <a:buNone/>
            </a:pPr>
            <a:r>
              <a:rPr lang="en-US" sz="1000" b="1" spc="300" kern="0" dirty="0">
                <a:solidFill>
                  <a:schemeClr val="bg1"/>
                </a:solidFill>
              </a:rPr>
              <a:t>STANDARD RISK</a:t>
            </a:r>
            <a:endParaRPr lang="en-US" sz="1000" dirty="0"/>
          </a:p>
        </p:txBody>
      </p:sp>
      <p:sp>
        <p:nvSpPr>
          <p:cNvPr id="11" name="Text 8"/>
          <p:cNvSpPr txBox="1"/>
          <p:nvPr/>
        </p:nvSpPr>
        <p:spPr>
          <a:xfrm>
            <a:off x="1005840" y="3877056"/>
            <a:ext cx="4389120" cy="411480"/>
          </a:xfrm>
          <a:prstGeom prst="rect">
            <a:avLst/>
          </a:prstGeom>
          <a:noFill/>
          <a:ln/>
        </p:spPr>
        <p:txBody>
          <a:bodyPr wrap="square" lIns="0" tIns="0" rIns="0" bIns="0" rtlCol="0" anchor="t"/>
          <a:lstStyle/>
          <a:p>
            <a:pPr indent="0" marL="0">
              <a:buNone/>
            </a:pPr>
            <a:r>
              <a:rPr lang="en-US" sz="2200" dirty="0">
                <a:solidFill>
                  <a:schemeClr val="bg1"/>
                </a:solidFill>
                <a:latin typeface="Cambria" pitchFamily="34" charset="0"/>
                <a:ea typeface="Cambria" pitchFamily="34" charset="-122"/>
                <a:cs typeface="Cambria" pitchFamily="34" charset="-120"/>
              </a:rPr>
              <a:t>Every 2–3 years</a:t>
            </a:r>
            <a:endParaRPr lang="en-US" sz="2200" dirty="0"/>
          </a:p>
        </p:txBody>
      </p:sp>
      <p:sp>
        <p:nvSpPr>
          <p:cNvPr id="12" name="Review level"/>
          <p:cNvSpPr/>
          <p:nvPr/>
        </p:nvSpPr>
        <p:spPr>
          <a:xfrm>
            <a:off x="685800" y="4626864"/>
            <a:ext cx="5120640" cy="1024128"/>
          </a:xfrm>
          <a:prstGeom prst="roundRect">
            <a:avLst>
              <a:gd name="adj" fmla="val 10714"/>
            </a:avLst>
          </a:prstGeom>
          <a:solidFill>
            <a:schemeClr val="accent5"/>
          </a:solidFill>
          <a:ln/>
        </p:spPr>
      </p:sp>
      <p:sp>
        <p:nvSpPr>
          <p:cNvPr id="13" name="Text 10"/>
          <p:cNvSpPr txBox="1"/>
          <p:nvPr/>
        </p:nvSpPr>
        <p:spPr>
          <a:xfrm>
            <a:off x="1005840" y="4809744"/>
            <a:ext cx="2743200" cy="256032"/>
          </a:xfrm>
          <a:prstGeom prst="rect">
            <a:avLst/>
          </a:prstGeom>
          <a:noFill/>
          <a:ln/>
        </p:spPr>
        <p:txBody>
          <a:bodyPr wrap="square" lIns="0" tIns="0" rIns="0" bIns="0" rtlCol="0" anchor="t"/>
          <a:lstStyle/>
          <a:p>
            <a:pPr indent="0" marL="0">
              <a:buNone/>
            </a:pPr>
            <a:r>
              <a:rPr lang="en-US" sz="1000" b="1" spc="300" kern="0" dirty="0">
                <a:solidFill>
                  <a:schemeClr val="tx1"/>
                </a:solidFill>
              </a:rPr>
              <a:t>LOWER RISK</a:t>
            </a:r>
            <a:endParaRPr lang="en-US" sz="1000" dirty="0"/>
          </a:p>
        </p:txBody>
      </p:sp>
      <p:sp>
        <p:nvSpPr>
          <p:cNvPr id="14" name="Text 11"/>
          <p:cNvSpPr txBox="1"/>
          <p:nvPr/>
        </p:nvSpPr>
        <p:spPr>
          <a:xfrm>
            <a:off x="1005840" y="5084064"/>
            <a:ext cx="4389120" cy="41148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Every 3–5 years</a:t>
            </a:r>
            <a:endParaRPr lang="en-US" sz="2200" dirty="0"/>
          </a:p>
        </p:txBody>
      </p:sp>
      <p:sp>
        <p:nvSpPr>
          <p:cNvPr id="15" name="Text 12"/>
          <p:cNvSpPr txBox="1"/>
          <p:nvPr/>
        </p:nvSpPr>
        <p:spPr>
          <a:xfrm>
            <a:off x="6400800" y="1828800"/>
            <a:ext cx="4572000" cy="274320"/>
          </a:xfrm>
          <a:prstGeom prst="rect">
            <a:avLst/>
          </a:prstGeom>
          <a:noFill/>
          <a:ln/>
        </p:spPr>
        <p:txBody>
          <a:bodyPr wrap="square" lIns="0" tIns="0" rIns="0" bIns="0" rtlCol="0" anchor="t"/>
          <a:lstStyle/>
          <a:p>
            <a:pPr indent="0" marL="0">
              <a:buNone/>
            </a:pPr>
            <a:r>
              <a:rPr lang="en-US" sz="1000" b="1" spc="300" kern="0" dirty="0">
                <a:solidFill>
                  <a:schemeClr val="accent4"/>
                </a:solidFill>
              </a:rPr>
              <a:t>TRIGGER EVENTS: REVIEW NOW</a:t>
            </a:r>
            <a:endParaRPr lang="en-US" sz="1000" dirty="0"/>
          </a:p>
        </p:txBody>
      </p:sp>
      <p:sp>
        <p:nvSpPr>
          <p:cNvPr id="16" name="Trigger row"/>
          <p:cNvSpPr/>
          <p:nvPr/>
        </p:nvSpPr>
        <p:spPr>
          <a:xfrm>
            <a:off x="6400800" y="2212848"/>
            <a:ext cx="5102352" cy="603504"/>
          </a:xfrm>
          <a:prstGeom prst="roundRect">
            <a:avLst>
              <a:gd name="adj" fmla="val 18182"/>
            </a:avLst>
          </a:prstGeom>
          <a:solidFill>
            <a:schemeClr val="bg1"/>
          </a:solidFill>
          <a:ln/>
          <a:effectLst>
            <a:outerShdw sx="100000" sy="100000" kx="0" ky="0" algn="bl" rotWithShape="0" blurRad="177800" dist="38100" dir="5400000">
              <a:srgbClr val="0B1F2A">
                <a:alpha val="10000"/>
              </a:srgbClr>
            </a:outerShdw>
          </a:effectLst>
        </p:spPr>
      </p:sp>
      <p:pic>
        <p:nvPicPr>
          <p:cNvPr id="17" name="Image 0" descr="trigger">    </p:cNvPr>
          <p:cNvPicPr>
            <a:picLocks noChangeAspect="1"/>
          </p:cNvPicPr>
          <p:nvPr/>
        </p:nvPicPr>
        <p:blipFill>
          <a:blip r:embed="rId1"/>
          <a:stretch>
            <a:fillRect/>
          </a:stretch>
        </p:blipFill>
        <p:spPr>
          <a:xfrm>
            <a:off x="6629400" y="2350008"/>
            <a:ext cx="329184" cy="329184"/>
          </a:xfrm>
          <a:prstGeom prst="rect">
            <a:avLst/>
          </a:prstGeom>
        </p:spPr>
      </p:pic>
      <p:sp>
        <p:nvSpPr>
          <p:cNvPr id="18" name="Text 14"/>
          <p:cNvSpPr txBox="1"/>
          <p:nvPr/>
        </p:nvSpPr>
        <p:spPr>
          <a:xfrm>
            <a:off x="7178040" y="2212848"/>
            <a:ext cx="4206240" cy="603504"/>
          </a:xfrm>
          <a:prstGeom prst="rect">
            <a:avLst/>
          </a:prstGeom>
          <a:noFill/>
          <a:ln/>
        </p:spPr>
        <p:txBody>
          <a:bodyPr wrap="square" lIns="0" tIns="0" rIns="0" bIns="0" rtlCol="0" anchor="ctr"/>
          <a:lstStyle/>
          <a:p>
            <a:pPr indent="0" marL="0">
              <a:buNone/>
            </a:pPr>
            <a:r>
              <a:rPr lang="en-US" sz="1500" dirty="0">
                <a:solidFill>
                  <a:schemeClr val="tx1"/>
                </a:solidFill>
              </a:rPr>
              <a:t>Change in ownership or control</a:t>
            </a:r>
            <a:endParaRPr lang="en-US" sz="1500" dirty="0"/>
          </a:p>
        </p:txBody>
      </p:sp>
      <p:sp>
        <p:nvSpPr>
          <p:cNvPr id="19" name="Trigger row"/>
          <p:cNvSpPr/>
          <p:nvPr/>
        </p:nvSpPr>
        <p:spPr>
          <a:xfrm>
            <a:off x="6400800" y="2944368"/>
            <a:ext cx="5102352" cy="603504"/>
          </a:xfrm>
          <a:prstGeom prst="roundRect">
            <a:avLst>
              <a:gd name="adj" fmla="val 18182"/>
            </a:avLst>
          </a:prstGeom>
          <a:solidFill>
            <a:schemeClr val="bg1"/>
          </a:solidFill>
          <a:ln/>
          <a:effectLst>
            <a:outerShdw sx="100000" sy="100000" kx="0" ky="0" algn="bl" rotWithShape="0" blurRad="177800" dist="38100" dir="5400000">
              <a:srgbClr val="0B1F2A">
                <a:alpha val="10000"/>
              </a:srgbClr>
            </a:outerShdw>
          </a:effectLst>
        </p:spPr>
      </p:sp>
      <p:pic>
        <p:nvPicPr>
          <p:cNvPr id="20" name="Image 1" descr="trigger">    </p:cNvPr>
          <p:cNvPicPr>
            <a:picLocks noChangeAspect="1"/>
          </p:cNvPicPr>
          <p:nvPr/>
        </p:nvPicPr>
        <p:blipFill>
          <a:blip r:embed="rId2"/>
          <a:stretch>
            <a:fillRect/>
          </a:stretch>
        </p:blipFill>
        <p:spPr>
          <a:xfrm>
            <a:off x="6629400" y="3081528"/>
            <a:ext cx="329184" cy="329184"/>
          </a:xfrm>
          <a:prstGeom prst="rect">
            <a:avLst/>
          </a:prstGeom>
        </p:spPr>
      </p:pic>
      <p:sp>
        <p:nvSpPr>
          <p:cNvPr id="21" name="Text 16"/>
          <p:cNvSpPr txBox="1"/>
          <p:nvPr/>
        </p:nvSpPr>
        <p:spPr>
          <a:xfrm>
            <a:off x="7178040" y="2944368"/>
            <a:ext cx="4206240" cy="603504"/>
          </a:xfrm>
          <a:prstGeom prst="rect">
            <a:avLst/>
          </a:prstGeom>
          <a:noFill/>
          <a:ln/>
        </p:spPr>
        <p:txBody>
          <a:bodyPr wrap="square" lIns="0" tIns="0" rIns="0" bIns="0" rtlCol="0" anchor="ctr"/>
          <a:lstStyle/>
          <a:p>
            <a:pPr indent="0" marL="0">
              <a:buNone/>
            </a:pPr>
            <a:r>
              <a:rPr lang="en-US" sz="1500" dirty="0">
                <a:solidFill>
                  <a:schemeClr val="tx1"/>
                </a:solidFill>
              </a:rPr>
              <a:t>A new or unusual type of instruction</a:t>
            </a:r>
            <a:endParaRPr lang="en-US" sz="1500" dirty="0"/>
          </a:p>
        </p:txBody>
      </p:sp>
      <p:sp>
        <p:nvSpPr>
          <p:cNvPr id="22" name="Trigger row"/>
          <p:cNvSpPr/>
          <p:nvPr/>
        </p:nvSpPr>
        <p:spPr>
          <a:xfrm>
            <a:off x="6400800" y="3675888"/>
            <a:ext cx="5102352" cy="603504"/>
          </a:xfrm>
          <a:prstGeom prst="roundRect">
            <a:avLst>
              <a:gd name="adj" fmla="val 18182"/>
            </a:avLst>
          </a:prstGeom>
          <a:solidFill>
            <a:schemeClr val="bg1"/>
          </a:solidFill>
          <a:ln/>
          <a:effectLst>
            <a:outerShdw sx="100000" sy="100000" kx="0" ky="0" algn="bl" rotWithShape="0" blurRad="177800" dist="38100" dir="5400000">
              <a:srgbClr val="0B1F2A">
                <a:alpha val="10000"/>
              </a:srgbClr>
            </a:outerShdw>
          </a:effectLst>
        </p:spPr>
      </p:sp>
      <p:pic>
        <p:nvPicPr>
          <p:cNvPr id="23" name="Image 2" descr="trigger">    </p:cNvPr>
          <p:cNvPicPr>
            <a:picLocks noChangeAspect="1"/>
          </p:cNvPicPr>
          <p:nvPr/>
        </p:nvPicPr>
        <p:blipFill>
          <a:blip r:embed="rId3"/>
          <a:stretch>
            <a:fillRect/>
          </a:stretch>
        </p:blipFill>
        <p:spPr>
          <a:xfrm>
            <a:off x="6629400" y="3813048"/>
            <a:ext cx="329184" cy="329184"/>
          </a:xfrm>
          <a:prstGeom prst="rect">
            <a:avLst/>
          </a:prstGeom>
        </p:spPr>
      </p:pic>
      <p:sp>
        <p:nvSpPr>
          <p:cNvPr id="24" name="Text 18"/>
          <p:cNvSpPr txBox="1"/>
          <p:nvPr/>
        </p:nvSpPr>
        <p:spPr>
          <a:xfrm>
            <a:off x="7178040" y="3675888"/>
            <a:ext cx="4206240" cy="603504"/>
          </a:xfrm>
          <a:prstGeom prst="rect">
            <a:avLst/>
          </a:prstGeom>
          <a:noFill/>
          <a:ln/>
        </p:spPr>
        <p:txBody>
          <a:bodyPr wrap="square" lIns="0" tIns="0" rIns="0" bIns="0" rtlCol="0" anchor="ctr"/>
          <a:lstStyle/>
          <a:p>
            <a:pPr indent="0" marL="0">
              <a:buNone/>
            </a:pPr>
            <a:r>
              <a:rPr lang="en-US" sz="1500" dirty="0">
                <a:solidFill>
                  <a:schemeClr val="tx1"/>
                </a:solidFill>
              </a:rPr>
              <a:t>A move to, or new link with, a higher-risk country</a:t>
            </a:r>
            <a:endParaRPr lang="en-US" sz="1500" dirty="0"/>
          </a:p>
        </p:txBody>
      </p:sp>
      <p:sp>
        <p:nvSpPr>
          <p:cNvPr id="25" name="Trigger row"/>
          <p:cNvSpPr/>
          <p:nvPr/>
        </p:nvSpPr>
        <p:spPr>
          <a:xfrm>
            <a:off x="6400800" y="4407408"/>
            <a:ext cx="5102352" cy="603504"/>
          </a:xfrm>
          <a:prstGeom prst="roundRect">
            <a:avLst>
              <a:gd name="adj" fmla="val 18182"/>
            </a:avLst>
          </a:prstGeom>
          <a:solidFill>
            <a:schemeClr val="bg1"/>
          </a:solidFill>
          <a:ln/>
          <a:effectLst>
            <a:outerShdw sx="100000" sy="100000" kx="0" ky="0" algn="bl" rotWithShape="0" blurRad="177800" dist="38100" dir="5400000">
              <a:srgbClr val="0B1F2A">
                <a:alpha val="10000"/>
              </a:srgbClr>
            </a:outerShdw>
          </a:effectLst>
        </p:spPr>
      </p:sp>
      <p:pic>
        <p:nvPicPr>
          <p:cNvPr id="26" name="Image 3" descr="trigger">    </p:cNvPr>
          <p:cNvPicPr>
            <a:picLocks noChangeAspect="1"/>
          </p:cNvPicPr>
          <p:nvPr/>
        </p:nvPicPr>
        <p:blipFill>
          <a:blip r:embed="rId4"/>
          <a:stretch>
            <a:fillRect/>
          </a:stretch>
        </p:blipFill>
        <p:spPr>
          <a:xfrm>
            <a:off x="6629400" y="4544568"/>
            <a:ext cx="329184" cy="329184"/>
          </a:xfrm>
          <a:prstGeom prst="rect">
            <a:avLst/>
          </a:prstGeom>
        </p:spPr>
      </p:pic>
      <p:sp>
        <p:nvSpPr>
          <p:cNvPr id="27" name="Text 20"/>
          <p:cNvSpPr txBox="1"/>
          <p:nvPr/>
        </p:nvSpPr>
        <p:spPr>
          <a:xfrm>
            <a:off x="7178040" y="4407408"/>
            <a:ext cx="4206240" cy="603504"/>
          </a:xfrm>
          <a:prstGeom prst="rect">
            <a:avLst/>
          </a:prstGeom>
          <a:noFill/>
          <a:ln/>
        </p:spPr>
        <p:txBody>
          <a:bodyPr wrap="square" lIns="0" tIns="0" rIns="0" bIns="0" rtlCol="0" anchor="ctr"/>
          <a:lstStyle/>
          <a:p>
            <a:pPr indent="0" marL="0">
              <a:buNone/>
            </a:pPr>
            <a:r>
              <a:rPr lang="en-US" sz="1500" dirty="0">
                <a:solidFill>
                  <a:schemeClr val="tx1"/>
                </a:solidFill>
              </a:rPr>
              <a:t>Adverse media about the client</a:t>
            </a:r>
            <a:endParaRPr lang="en-US" sz="1500" dirty="0"/>
          </a:p>
        </p:txBody>
      </p:sp>
      <p:sp>
        <p:nvSpPr>
          <p:cNvPr id="28" name="Trigger row"/>
          <p:cNvSpPr/>
          <p:nvPr/>
        </p:nvSpPr>
        <p:spPr>
          <a:xfrm>
            <a:off x="6400800" y="5138928"/>
            <a:ext cx="5102352" cy="603504"/>
          </a:xfrm>
          <a:prstGeom prst="roundRect">
            <a:avLst>
              <a:gd name="adj" fmla="val 18182"/>
            </a:avLst>
          </a:prstGeom>
          <a:solidFill>
            <a:schemeClr val="bg1"/>
          </a:solidFill>
          <a:ln/>
          <a:effectLst>
            <a:outerShdw sx="100000" sy="100000" kx="0" ky="0" algn="bl" rotWithShape="0" blurRad="177800" dist="38100" dir="5400000">
              <a:srgbClr val="0B1F2A">
                <a:alpha val="10000"/>
              </a:srgbClr>
            </a:outerShdw>
          </a:effectLst>
        </p:spPr>
      </p:sp>
      <p:pic>
        <p:nvPicPr>
          <p:cNvPr id="29" name="Image 4" descr="trigger">    </p:cNvPr>
          <p:cNvPicPr>
            <a:picLocks noChangeAspect="1"/>
          </p:cNvPicPr>
          <p:nvPr/>
        </p:nvPicPr>
        <p:blipFill>
          <a:blip r:embed="rId5"/>
          <a:stretch>
            <a:fillRect/>
          </a:stretch>
        </p:blipFill>
        <p:spPr>
          <a:xfrm>
            <a:off x="6629400" y="5276088"/>
            <a:ext cx="329184" cy="329184"/>
          </a:xfrm>
          <a:prstGeom prst="rect">
            <a:avLst/>
          </a:prstGeom>
        </p:spPr>
      </p:pic>
      <p:sp>
        <p:nvSpPr>
          <p:cNvPr id="30" name="Text 22"/>
          <p:cNvSpPr txBox="1"/>
          <p:nvPr/>
        </p:nvSpPr>
        <p:spPr>
          <a:xfrm>
            <a:off x="7178040" y="5138928"/>
            <a:ext cx="4206240" cy="603504"/>
          </a:xfrm>
          <a:prstGeom prst="rect">
            <a:avLst/>
          </a:prstGeom>
          <a:noFill/>
          <a:ln/>
        </p:spPr>
        <p:txBody>
          <a:bodyPr wrap="square" lIns="0" tIns="0" rIns="0" bIns="0" rtlCol="0" anchor="ctr"/>
          <a:lstStyle/>
          <a:p>
            <a:pPr indent="0" marL="0">
              <a:buNone/>
            </a:pPr>
            <a:r>
              <a:rPr lang="en-US" sz="1500" dirty="0">
                <a:solidFill>
                  <a:schemeClr val="tx1"/>
                </a:solidFill>
              </a:rPr>
              <a:t>A sanctions designation or PEP change</a:t>
            </a:r>
            <a:endParaRPr lang="en-US" sz="15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02 · ESSENTIALS</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Sanctions: no threshold, no excuses</a:t>
            </a:r>
            <a:endParaRPr lang="en-US" sz="3400" dirty="0"/>
          </a:p>
        </p:txBody>
      </p:sp>
      <p:sp>
        <p:nvSpPr>
          <p:cNvPr id="5" name="Text 2"/>
          <p:cNvSpPr txBox="1"/>
          <p:nvPr/>
        </p:nvSpPr>
        <p:spPr>
          <a:xfrm>
            <a:off x="685800" y="1828800"/>
            <a:ext cx="3657600" cy="274320"/>
          </a:xfrm>
          <a:prstGeom prst="rect">
            <a:avLst/>
          </a:prstGeom>
          <a:noFill/>
          <a:ln/>
        </p:spPr>
        <p:txBody>
          <a:bodyPr wrap="square" lIns="0" tIns="0" rIns="0" bIns="0" rtlCol="0" anchor="t"/>
          <a:lstStyle/>
          <a:p>
            <a:pPr indent="0" marL="0">
              <a:buNone/>
            </a:pPr>
            <a:r>
              <a:rPr lang="en-US" sz="1000" b="1" spc="300" kern="0" dirty="0">
                <a:solidFill>
                  <a:schemeClr val="accent4"/>
                </a:solidFill>
              </a:rPr>
              <a:t>WHEN WE SCREEN</a:t>
            </a:r>
            <a:endParaRPr lang="en-US" sz="1000" dirty="0"/>
          </a:p>
        </p:txBody>
      </p:sp>
      <p:sp>
        <p:nvSpPr>
          <p:cNvPr id="6" name="Screening card"/>
          <p:cNvSpPr/>
          <p:nvPr/>
        </p:nvSpPr>
        <p:spPr>
          <a:xfrm>
            <a:off x="685800" y="2212848"/>
            <a:ext cx="5394960" cy="1024128"/>
          </a:xfrm>
          <a:prstGeom prst="roundRect">
            <a:avLst>
              <a:gd name="adj" fmla="val 10714"/>
            </a:avLst>
          </a:prstGeom>
          <a:solidFill>
            <a:schemeClr val="bg1"/>
          </a:solidFill>
          <a:ln/>
          <a:effectLst>
            <a:outerShdw sx="100000" sy="100000" kx="0" ky="0" algn="bl" rotWithShape="0" blurRad="177800" dist="38100" dir="5400000">
              <a:srgbClr val="0B1F2A">
                <a:alpha val="10000"/>
              </a:srgbClr>
            </a:outerShdw>
          </a:effectLst>
        </p:spPr>
      </p:sp>
      <p:sp>
        <p:nvSpPr>
          <p:cNvPr id="7" name="Icon disc"/>
          <p:cNvSpPr/>
          <p:nvPr/>
        </p:nvSpPr>
        <p:spPr>
          <a:xfrm>
            <a:off x="941832" y="2414016"/>
            <a:ext cx="621792" cy="621792"/>
          </a:xfrm>
          <a:prstGeom prst="ellipse">
            <a:avLst/>
          </a:prstGeom>
          <a:solidFill>
            <a:schemeClr val="accent1"/>
          </a:solidFill>
          <a:ln/>
        </p:spPr>
      </p:sp>
      <p:pic>
        <p:nvPicPr>
          <p:cNvPr id="8" name="Image 0" descr="UserCheck icon">    </p:cNvPr>
          <p:cNvPicPr>
            <a:picLocks noChangeAspect="1"/>
          </p:cNvPicPr>
          <p:nvPr/>
        </p:nvPicPr>
        <p:blipFill>
          <a:blip r:embed="rId1"/>
          <a:stretch>
            <a:fillRect/>
          </a:stretch>
        </p:blipFill>
        <p:spPr>
          <a:xfrm>
            <a:off x="1097280" y="2569464"/>
            <a:ext cx="310896" cy="310896"/>
          </a:xfrm>
          <a:prstGeom prst="rect">
            <a:avLst/>
          </a:prstGeom>
        </p:spPr>
      </p:pic>
      <p:sp>
        <p:nvSpPr>
          <p:cNvPr id="9" name="Text 5"/>
          <p:cNvSpPr txBox="1"/>
          <p:nvPr/>
        </p:nvSpPr>
        <p:spPr>
          <a:xfrm>
            <a:off x="1783080" y="2368296"/>
            <a:ext cx="411480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At onboarding</a:t>
            </a:r>
            <a:endParaRPr lang="en-US" sz="1700" dirty="0"/>
          </a:p>
        </p:txBody>
      </p:sp>
      <p:sp>
        <p:nvSpPr>
          <p:cNvPr id="10" name="Text 6"/>
          <p:cNvSpPr txBox="1"/>
          <p:nvPr/>
        </p:nvSpPr>
        <p:spPr>
          <a:xfrm>
            <a:off x="1783080" y="2743200"/>
            <a:ext cx="4114800" cy="411480"/>
          </a:xfrm>
          <a:prstGeom prst="rect">
            <a:avLst/>
          </a:prstGeom>
          <a:noFill/>
          <a:ln/>
        </p:spPr>
        <p:txBody>
          <a:bodyPr wrap="square" lIns="0" tIns="0" rIns="0" bIns="0" rtlCol="0" anchor="t"/>
          <a:lstStyle/>
          <a:p>
            <a:pPr indent="0" marL="0">
              <a:buNone/>
            </a:pPr>
            <a:r>
              <a:rPr lang="en-US" sz="1300" dirty="0">
                <a:solidFill>
                  <a:schemeClr val="tx2"/>
                </a:solidFill>
              </a:rPr>
              <a:t>Client, beneficial owners, controllers, key counterparties</a:t>
            </a:r>
            <a:endParaRPr lang="en-US" sz="1300" dirty="0"/>
          </a:p>
        </p:txBody>
      </p:sp>
      <p:sp>
        <p:nvSpPr>
          <p:cNvPr id="11" name="Screening card"/>
          <p:cNvSpPr/>
          <p:nvPr/>
        </p:nvSpPr>
        <p:spPr>
          <a:xfrm>
            <a:off x="685800" y="3419856"/>
            <a:ext cx="5394960" cy="1024128"/>
          </a:xfrm>
          <a:prstGeom prst="roundRect">
            <a:avLst>
              <a:gd name="adj" fmla="val 10714"/>
            </a:avLst>
          </a:prstGeom>
          <a:solidFill>
            <a:schemeClr val="bg1"/>
          </a:solidFill>
          <a:ln/>
          <a:effectLst>
            <a:outerShdw sx="100000" sy="100000" kx="0" ky="0" algn="bl" rotWithShape="0" blurRad="177800" dist="38100" dir="5400000">
              <a:srgbClr val="0B1F2A">
                <a:alpha val="10000"/>
              </a:srgbClr>
            </a:outerShdw>
          </a:effectLst>
        </p:spPr>
      </p:sp>
      <p:sp>
        <p:nvSpPr>
          <p:cNvPr id="12" name="Icon disc"/>
          <p:cNvSpPr/>
          <p:nvPr/>
        </p:nvSpPr>
        <p:spPr>
          <a:xfrm>
            <a:off x="941832" y="3621024"/>
            <a:ext cx="621792" cy="621792"/>
          </a:xfrm>
          <a:prstGeom prst="ellipse">
            <a:avLst/>
          </a:prstGeom>
          <a:solidFill>
            <a:schemeClr val="accent1"/>
          </a:solidFill>
          <a:ln/>
        </p:spPr>
      </p:sp>
      <p:pic>
        <p:nvPicPr>
          <p:cNvPr id="13" name="Image 1" descr="Clock icon">    </p:cNvPr>
          <p:cNvPicPr>
            <a:picLocks noChangeAspect="1"/>
          </p:cNvPicPr>
          <p:nvPr/>
        </p:nvPicPr>
        <p:blipFill>
          <a:blip r:embed="rId2"/>
          <a:stretch>
            <a:fillRect/>
          </a:stretch>
        </p:blipFill>
        <p:spPr>
          <a:xfrm>
            <a:off x="1097280" y="3776472"/>
            <a:ext cx="310896" cy="310896"/>
          </a:xfrm>
          <a:prstGeom prst="rect">
            <a:avLst/>
          </a:prstGeom>
        </p:spPr>
      </p:pic>
      <p:sp>
        <p:nvSpPr>
          <p:cNvPr id="14" name="Text 9"/>
          <p:cNvSpPr txBox="1"/>
          <p:nvPr/>
        </p:nvSpPr>
        <p:spPr>
          <a:xfrm>
            <a:off x="1783080" y="3575304"/>
            <a:ext cx="411480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When lists change</a:t>
            </a:r>
            <a:endParaRPr lang="en-US" sz="1700" dirty="0"/>
          </a:p>
        </p:txBody>
      </p:sp>
      <p:sp>
        <p:nvSpPr>
          <p:cNvPr id="15" name="Text 10"/>
          <p:cNvSpPr txBox="1"/>
          <p:nvPr/>
        </p:nvSpPr>
        <p:spPr>
          <a:xfrm>
            <a:off x="1783080" y="3950208"/>
            <a:ext cx="4114800" cy="411480"/>
          </a:xfrm>
          <a:prstGeom prst="rect">
            <a:avLst/>
          </a:prstGeom>
          <a:noFill/>
          <a:ln/>
        </p:spPr>
        <p:txBody>
          <a:bodyPr wrap="square" lIns="0" tIns="0" rIns="0" bIns="0" rtlCol="0" anchor="t"/>
          <a:lstStyle/>
          <a:p>
            <a:pPr indent="0" marL="0">
              <a:buNone/>
            </a:pPr>
            <a:r>
              <a:rPr lang="en-US" sz="1300" dirty="0">
                <a:solidFill>
                  <a:schemeClr val="tx2"/>
                </a:solidFill>
              </a:rPr>
              <a:t>Re-screen the existing client base against new designations</a:t>
            </a:r>
            <a:endParaRPr lang="en-US" sz="1300" dirty="0"/>
          </a:p>
        </p:txBody>
      </p:sp>
      <p:sp>
        <p:nvSpPr>
          <p:cNvPr id="16" name="Screening card"/>
          <p:cNvSpPr/>
          <p:nvPr/>
        </p:nvSpPr>
        <p:spPr>
          <a:xfrm>
            <a:off x="685800" y="4626864"/>
            <a:ext cx="5394960" cy="1024128"/>
          </a:xfrm>
          <a:prstGeom prst="roundRect">
            <a:avLst>
              <a:gd name="adj" fmla="val 10714"/>
            </a:avLst>
          </a:prstGeom>
          <a:solidFill>
            <a:schemeClr val="bg1"/>
          </a:solidFill>
          <a:ln/>
          <a:effectLst>
            <a:outerShdw sx="100000" sy="100000" kx="0" ky="0" algn="bl" rotWithShape="0" blurRad="177800" dist="38100" dir="5400000">
              <a:srgbClr val="0B1F2A">
                <a:alpha val="10000"/>
              </a:srgbClr>
            </a:outerShdw>
          </a:effectLst>
        </p:spPr>
      </p:sp>
      <p:sp>
        <p:nvSpPr>
          <p:cNvPr id="17" name="Icon disc"/>
          <p:cNvSpPr/>
          <p:nvPr/>
        </p:nvSpPr>
        <p:spPr>
          <a:xfrm>
            <a:off x="941832" y="4828032"/>
            <a:ext cx="621792" cy="621792"/>
          </a:xfrm>
          <a:prstGeom prst="ellipse">
            <a:avLst/>
          </a:prstGeom>
          <a:solidFill>
            <a:schemeClr val="accent1"/>
          </a:solidFill>
          <a:ln/>
        </p:spPr>
      </p:sp>
      <p:pic>
        <p:nvPicPr>
          <p:cNvPr id="18" name="Image 2" descr="Coins icon">    </p:cNvPr>
          <p:cNvPicPr>
            <a:picLocks noChangeAspect="1"/>
          </p:cNvPicPr>
          <p:nvPr/>
        </p:nvPicPr>
        <p:blipFill>
          <a:blip r:embed="rId3"/>
          <a:stretch>
            <a:fillRect/>
          </a:stretch>
        </p:blipFill>
        <p:spPr>
          <a:xfrm>
            <a:off x="1097280" y="4983480"/>
            <a:ext cx="310896" cy="310896"/>
          </a:xfrm>
          <a:prstGeom prst="rect">
            <a:avLst/>
          </a:prstGeom>
        </p:spPr>
      </p:pic>
      <p:sp>
        <p:nvSpPr>
          <p:cNvPr id="19" name="Text 13"/>
          <p:cNvSpPr txBox="1"/>
          <p:nvPr/>
        </p:nvSpPr>
        <p:spPr>
          <a:xfrm>
            <a:off x="1783080" y="4782312"/>
            <a:ext cx="411480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Before payments</a:t>
            </a:r>
            <a:endParaRPr lang="en-US" sz="1700" dirty="0"/>
          </a:p>
        </p:txBody>
      </p:sp>
      <p:sp>
        <p:nvSpPr>
          <p:cNvPr id="20" name="Text 14"/>
          <p:cNvSpPr txBox="1"/>
          <p:nvPr/>
        </p:nvSpPr>
        <p:spPr>
          <a:xfrm>
            <a:off x="1783080" y="5157216"/>
            <a:ext cx="4114800" cy="411480"/>
          </a:xfrm>
          <a:prstGeom prst="rect">
            <a:avLst/>
          </a:prstGeom>
          <a:noFill/>
          <a:ln/>
        </p:spPr>
        <p:txBody>
          <a:bodyPr wrap="square" lIns="0" tIns="0" rIns="0" bIns="0" rtlCol="0" anchor="t"/>
          <a:lstStyle/>
          <a:p>
            <a:pPr indent="0" marL="0">
              <a:buNone/>
            </a:pPr>
            <a:r>
              <a:rPr lang="en-US" sz="1300" dirty="0">
                <a:solidFill>
                  <a:schemeClr val="tx2"/>
                </a:solidFill>
              </a:rPr>
              <a:t>Especially payments out of the client account</a:t>
            </a:r>
            <a:endParaRPr lang="en-US" sz="1300" dirty="0"/>
          </a:p>
        </p:txBody>
      </p:sp>
      <p:sp>
        <p:nvSpPr>
          <p:cNvPr id="21" name="Match panel"/>
          <p:cNvSpPr/>
          <p:nvPr/>
        </p:nvSpPr>
        <p:spPr>
          <a:xfrm>
            <a:off x="6446520" y="1828800"/>
            <a:ext cx="5056632" cy="4023360"/>
          </a:xfrm>
          <a:prstGeom prst="roundRect">
            <a:avLst>
              <a:gd name="adj" fmla="val 2727"/>
            </a:avLst>
          </a:prstGeom>
          <a:solidFill>
            <a:schemeClr val="tx1"/>
          </a:solidFill>
          <a:ln/>
          <a:effectLst>
            <a:outerShdw sx="100000" sy="100000" kx="0" ky="0" algn="bl" rotWithShape="0" blurRad="177800" dist="38100" dir="5400000">
              <a:srgbClr val="0B1F2A">
                <a:alpha val="10000"/>
              </a:srgbClr>
            </a:outerShdw>
          </a:effectLst>
        </p:spPr>
      </p:sp>
      <p:sp>
        <p:nvSpPr>
          <p:cNvPr id="22" name="Text 16"/>
          <p:cNvSpPr txBox="1"/>
          <p:nvPr/>
        </p:nvSpPr>
        <p:spPr>
          <a:xfrm>
            <a:off x="6812280" y="2121408"/>
            <a:ext cx="4389120" cy="274320"/>
          </a:xfrm>
          <a:prstGeom prst="rect">
            <a:avLst/>
          </a:prstGeom>
          <a:noFill/>
          <a:ln/>
        </p:spPr>
        <p:txBody>
          <a:bodyPr wrap="square" lIns="0" tIns="0" rIns="0" bIns="0" rtlCol="0" anchor="t"/>
          <a:lstStyle/>
          <a:p>
            <a:pPr indent="0" marL="0">
              <a:buNone/>
            </a:pPr>
            <a:r>
              <a:rPr lang="en-US" sz="1000" b="1" spc="300" kern="0" dirty="0">
                <a:solidFill>
                  <a:schemeClr val="accent2"/>
                </a:solidFill>
              </a:rPr>
              <a:t>IF THERE'S A POSSIBLE MATCH</a:t>
            </a:r>
            <a:endParaRPr lang="en-US" sz="1000" dirty="0"/>
          </a:p>
        </p:txBody>
      </p:sp>
      <p:sp>
        <p:nvSpPr>
          <p:cNvPr id="23" name="Step disc"/>
          <p:cNvSpPr/>
          <p:nvPr/>
        </p:nvSpPr>
        <p:spPr>
          <a:xfrm>
            <a:off x="6812280" y="2587752"/>
            <a:ext cx="384048" cy="384048"/>
          </a:xfrm>
          <a:prstGeom prst="ellipse">
            <a:avLst/>
          </a:prstGeom>
          <a:solidFill>
            <a:schemeClr val="accent2"/>
          </a:solidFill>
          <a:ln/>
        </p:spPr>
      </p:sp>
      <p:sp>
        <p:nvSpPr>
          <p:cNvPr id="24" name="Text 18"/>
          <p:cNvSpPr txBox="1"/>
          <p:nvPr/>
        </p:nvSpPr>
        <p:spPr>
          <a:xfrm>
            <a:off x="6812280" y="25877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7406640" y="2560320"/>
            <a:ext cx="3886200" cy="457200"/>
          </a:xfrm>
          <a:prstGeom prst="rect">
            <a:avLst/>
          </a:prstGeom>
          <a:noFill/>
          <a:ln/>
        </p:spPr>
        <p:txBody>
          <a:bodyPr wrap="square" lIns="0" tIns="0" rIns="0" bIns="0" rtlCol="0" anchor="ctr"/>
          <a:lstStyle/>
          <a:p>
            <a:pPr indent="0" marL="0">
              <a:buNone/>
            </a:pPr>
            <a:r>
              <a:rPr lang="en-US" sz="1450" dirty="0">
                <a:solidFill>
                  <a:schemeClr val="bg1"/>
                </a:solidFill>
              </a:rPr>
              <a:t>Stop. Don't process or release anything</a:t>
            </a:r>
            <a:endParaRPr lang="en-US" sz="1450" dirty="0"/>
          </a:p>
        </p:txBody>
      </p:sp>
      <p:sp>
        <p:nvSpPr>
          <p:cNvPr id="26" name="Step disc"/>
          <p:cNvSpPr/>
          <p:nvPr/>
        </p:nvSpPr>
        <p:spPr>
          <a:xfrm>
            <a:off x="6812280" y="3227832"/>
            <a:ext cx="384048" cy="384048"/>
          </a:xfrm>
          <a:prstGeom prst="ellipse">
            <a:avLst/>
          </a:prstGeom>
          <a:solidFill>
            <a:schemeClr val="accent2"/>
          </a:solidFill>
          <a:ln/>
        </p:spPr>
      </p:sp>
      <p:sp>
        <p:nvSpPr>
          <p:cNvPr id="27" name="Text 21"/>
          <p:cNvSpPr txBox="1"/>
          <p:nvPr/>
        </p:nvSpPr>
        <p:spPr>
          <a:xfrm>
            <a:off x="6812280" y="32278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8" name="Text 22"/>
          <p:cNvSpPr txBox="1"/>
          <p:nvPr/>
        </p:nvSpPr>
        <p:spPr>
          <a:xfrm>
            <a:off x="7406640" y="3200400"/>
            <a:ext cx="3886200" cy="457200"/>
          </a:xfrm>
          <a:prstGeom prst="rect">
            <a:avLst/>
          </a:prstGeom>
          <a:noFill/>
          <a:ln/>
        </p:spPr>
        <p:txBody>
          <a:bodyPr wrap="square" lIns="0" tIns="0" rIns="0" bIns="0" rtlCol="0" anchor="ctr"/>
          <a:lstStyle/>
          <a:p>
            <a:pPr indent="0" marL="0">
              <a:buNone/>
            </a:pPr>
            <a:r>
              <a:rPr lang="en-US" sz="1450" dirty="0">
                <a:solidFill>
                  <a:schemeClr val="bg1"/>
                </a:solidFill>
              </a:rPr>
              <a:t>Don't tell the client why</a:t>
            </a:r>
            <a:endParaRPr lang="en-US" sz="1450" dirty="0"/>
          </a:p>
        </p:txBody>
      </p:sp>
      <p:sp>
        <p:nvSpPr>
          <p:cNvPr id="29" name="Step disc"/>
          <p:cNvSpPr/>
          <p:nvPr/>
        </p:nvSpPr>
        <p:spPr>
          <a:xfrm>
            <a:off x="6812280" y="3867912"/>
            <a:ext cx="384048" cy="384048"/>
          </a:xfrm>
          <a:prstGeom prst="ellipse">
            <a:avLst/>
          </a:prstGeom>
          <a:solidFill>
            <a:schemeClr val="accent2"/>
          </a:solidFill>
          <a:ln/>
        </p:spPr>
      </p:sp>
      <p:sp>
        <p:nvSpPr>
          <p:cNvPr id="30" name="Text 24"/>
          <p:cNvSpPr txBox="1"/>
          <p:nvPr/>
        </p:nvSpPr>
        <p:spPr>
          <a:xfrm>
            <a:off x="6812280" y="386791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1" name="Text 25"/>
          <p:cNvSpPr txBox="1"/>
          <p:nvPr/>
        </p:nvSpPr>
        <p:spPr>
          <a:xfrm>
            <a:off x="7406640" y="3840480"/>
            <a:ext cx="3886200" cy="457200"/>
          </a:xfrm>
          <a:prstGeom prst="rect">
            <a:avLst/>
          </a:prstGeom>
          <a:noFill/>
          <a:ln/>
        </p:spPr>
        <p:txBody>
          <a:bodyPr wrap="square" lIns="0" tIns="0" rIns="0" bIns="0" rtlCol="0" anchor="ctr"/>
          <a:lstStyle/>
          <a:p>
            <a:pPr indent="0" marL="0">
              <a:buNone/>
            </a:pPr>
            <a:r>
              <a:rPr lang="en-US" sz="1450" dirty="0">
                <a:solidFill>
                  <a:schemeClr val="bg1"/>
                </a:solidFill>
              </a:rPr>
              <a:t>Escalate to the MLRO immediately</a:t>
            </a:r>
            <a:endParaRPr lang="en-US" sz="1450" dirty="0"/>
          </a:p>
        </p:txBody>
      </p:sp>
      <p:sp>
        <p:nvSpPr>
          <p:cNvPr id="32" name="Step disc"/>
          <p:cNvSpPr/>
          <p:nvPr/>
        </p:nvSpPr>
        <p:spPr>
          <a:xfrm>
            <a:off x="6812280" y="4507992"/>
            <a:ext cx="384048" cy="384048"/>
          </a:xfrm>
          <a:prstGeom prst="ellipse">
            <a:avLst/>
          </a:prstGeom>
          <a:solidFill>
            <a:schemeClr val="accent2"/>
          </a:solidFill>
          <a:ln/>
        </p:spPr>
      </p:sp>
      <p:sp>
        <p:nvSpPr>
          <p:cNvPr id="33" name="Text 27"/>
          <p:cNvSpPr txBox="1"/>
          <p:nvPr/>
        </p:nvSpPr>
        <p:spPr>
          <a:xfrm>
            <a:off x="6812280" y="45079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4" name="Text 28"/>
          <p:cNvSpPr txBox="1"/>
          <p:nvPr/>
        </p:nvSpPr>
        <p:spPr>
          <a:xfrm>
            <a:off x="7406640" y="4480560"/>
            <a:ext cx="3886200" cy="457200"/>
          </a:xfrm>
          <a:prstGeom prst="rect">
            <a:avLst/>
          </a:prstGeom>
          <a:noFill/>
          <a:ln/>
        </p:spPr>
        <p:txBody>
          <a:bodyPr wrap="square" lIns="0" tIns="0" rIns="0" bIns="0" rtlCol="0" anchor="ctr"/>
          <a:lstStyle/>
          <a:p>
            <a:pPr indent="0" marL="0">
              <a:buNone/>
            </a:pPr>
            <a:r>
              <a:rPr lang="en-US" sz="1450" dirty="0">
                <a:solidFill>
                  <a:schemeClr val="bg1"/>
                </a:solidFill>
              </a:rPr>
              <a:t>Freeze assets where the law requires it</a:t>
            </a:r>
            <a:endParaRPr lang="en-US" sz="1450" dirty="0"/>
          </a:p>
        </p:txBody>
      </p:sp>
      <p:sp>
        <p:nvSpPr>
          <p:cNvPr id="35" name="Step disc"/>
          <p:cNvSpPr/>
          <p:nvPr/>
        </p:nvSpPr>
        <p:spPr>
          <a:xfrm>
            <a:off x="6812280" y="5148072"/>
            <a:ext cx="384048" cy="384048"/>
          </a:xfrm>
          <a:prstGeom prst="ellipse">
            <a:avLst/>
          </a:prstGeom>
          <a:solidFill>
            <a:schemeClr val="accent2"/>
          </a:solidFill>
          <a:ln/>
        </p:spPr>
      </p:sp>
      <p:sp>
        <p:nvSpPr>
          <p:cNvPr id="36" name="Text 30"/>
          <p:cNvSpPr txBox="1"/>
          <p:nvPr/>
        </p:nvSpPr>
        <p:spPr>
          <a:xfrm>
            <a:off x="6812280" y="51480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7" name="Text 31"/>
          <p:cNvSpPr txBox="1"/>
          <p:nvPr/>
        </p:nvSpPr>
        <p:spPr>
          <a:xfrm>
            <a:off x="7406640" y="5120640"/>
            <a:ext cx="3886200" cy="457200"/>
          </a:xfrm>
          <a:prstGeom prst="rect">
            <a:avLst/>
          </a:prstGeom>
          <a:noFill/>
          <a:ln/>
        </p:spPr>
        <p:txBody>
          <a:bodyPr wrap="square" lIns="0" tIns="0" rIns="0" bIns="0" rtlCol="0" anchor="ctr"/>
          <a:lstStyle/>
          <a:p>
            <a:pPr indent="0" marL="0">
              <a:buNone/>
            </a:pPr>
            <a:r>
              <a:rPr lang="en-US" sz="1450" dirty="0">
                <a:solidFill>
                  <a:schemeClr val="bg1"/>
                </a:solidFill>
              </a:rPr>
              <a:t>Report as set out in the FSC's Financial Sanctions Guidance</a:t>
            </a:r>
            <a:endParaRPr lang="en-US" sz="14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685800" y="1097280"/>
            <a:ext cx="3657600" cy="1645920"/>
          </a:xfrm>
          <a:prstGeom prst="rect">
            <a:avLst/>
          </a:prstGeom>
          <a:noFill/>
          <a:ln/>
        </p:spPr>
        <p:txBody>
          <a:bodyPr wrap="square" lIns="0" tIns="0" rIns="0" bIns="0" rtlCol="0" anchor="b"/>
          <a:lstStyle/>
          <a:p>
            <a:pPr algn="l" indent="0" marL="0">
              <a:buNone/>
            </a:pPr>
            <a:r>
              <a:rPr lang="en-US" sz="11000" dirty="0">
                <a:solidFill>
                  <a:schemeClr val="accent1"/>
                </a:solidFill>
                <a:latin typeface="Cambria" pitchFamily="34" charset="0"/>
                <a:ea typeface="Cambria" pitchFamily="34" charset="-122"/>
                <a:cs typeface="Cambria" pitchFamily="34" charset="-120"/>
              </a:rPr>
              <a:t>03</a:t>
            </a:r>
            <a:endParaRPr lang="en-US" sz="11000" dirty="0"/>
          </a:p>
        </p:txBody>
      </p:sp>
      <p:sp>
        <p:nvSpPr>
          <p:cNvPr id="3" name="Text 2"/>
          <p:cNvSpPr/>
          <p:nvPr>
            <p:ph idx="103" type="title" hasCustomPrompt="1"/>
          </p:nvPr>
        </p:nvSpPr>
        <p:spPr>
          <a:xfrm>
            <a:off x="685800" y="2880360"/>
            <a:ext cx="8229600" cy="1188720"/>
          </a:xfrm>
          <a:prstGeom prst="rect">
            <a:avLst/>
          </a:prstGeom>
          <a:noFill/>
          <a:ln/>
        </p:spPr>
        <p:txBody>
          <a:bodyPr wrap="square" lIns="0" tIns="0" rIns="0" bIns="0" rtlCol="0" anchor="t"/>
          <a:lstStyle/>
          <a:p>
            <a:pPr algn="l" indent="0" marL="0">
              <a:buNone/>
            </a:pPr>
            <a:r>
              <a:rPr lang="en-US" sz="4400" dirty="0">
                <a:solidFill>
                  <a:schemeClr val="bg1"/>
                </a:solidFill>
                <a:latin typeface="Cambria" pitchFamily="34" charset="0"/>
                <a:ea typeface="Cambria" pitchFamily="34" charset="-122"/>
                <a:cs typeface="Cambria" pitchFamily="34" charset="-120"/>
              </a:rPr>
              <a:t>Emerging threats</a:t>
            </a:r>
            <a:endParaRPr lang="en-US" sz="4400" dirty="0"/>
          </a:p>
        </p:txBody>
      </p:sp>
      <p:sp>
        <p:nvSpPr>
          <p:cNvPr id="4" name="Text 2"/>
          <p:cNvSpPr/>
          <p:nvPr>
            <p:ph idx="104" type="body" hasCustomPrompt="1"/>
          </p:nvPr>
        </p:nvSpPr>
        <p:spPr>
          <a:xfrm>
            <a:off x="685800" y="4160520"/>
            <a:ext cx="6583680" cy="1097280"/>
          </a:xfrm>
          <a:prstGeom prst="rect">
            <a:avLst/>
          </a:prstGeom>
          <a:noFill/>
          <a:ln/>
        </p:spPr>
        <p:txBody>
          <a:bodyPr wrap="square" lIns="0" tIns="0" rIns="0" bIns="0" rtlCol="0" anchor="t"/>
          <a:lstStyle/>
          <a:p>
            <a:pPr algn="l" indent="0" marL="0">
              <a:buNone/>
            </a:pPr>
            <a:r>
              <a:rPr lang="en-US" sz="1800" dirty="0">
                <a:solidFill>
                  <a:schemeClr val="accent6"/>
                </a:solidFill>
              </a:rPr>
              <a:t>Criminals adapt quickly. These are the methods most relevant to trusts, real estate and investment work.</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03 · EMERGING THREATS</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The threat landscape for our practice</a:t>
            </a:r>
            <a:endParaRPr lang="en-US" sz="3400" dirty="0"/>
          </a:p>
        </p:txBody>
      </p:sp>
      <p:sp>
        <p:nvSpPr>
          <p:cNvPr id="5" name="Threat card"/>
          <p:cNvSpPr/>
          <p:nvPr/>
        </p:nvSpPr>
        <p:spPr>
          <a:xfrm>
            <a:off x="685800" y="1828800"/>
            <a:ext cx="3456432" cy="1901952"/>
          </a:xfrm>
          <a:prstGeom prst="roundRect">
            <a:avLst>
              <a:gd name="adj" fmla="val 5769"/>
            </a:avLst>
          </a:prstGeom>
          <a:solidFill>
            <a:schemeClr val="bg1"/>
          </a:solidFill>
          <a:ln/>
          <a:effectLst>
            <a:outerShdw sx="100000" sy="100000" kx="0" ky="0" algn="bl" rotWithShape="0" blurRad="177800" dist="38100" dir="5400000">
              <a:srgbClr val="0B1F2A">
                <a:alpha val="10000"/>
              </a:srgbClr>
            </a:outerShdw>
          </a:effectLst>
        </p:spPr>
      </p:sp>
      <p:sp>
        <p:nvSpPr>
          <p:cNvPr id="6" name="Icon disc"/>
          <p:cNvSpPr/>
          <p:nvPr/>
        </p:nvSpPr>
        <p:spPr>
          <a:xfrm>
            <a:off x="960120" y="2103120"/>
            <a:ext cx="566928" cy="566928"/>
          </a:xfrm>
          <a:prstGeom prst="ellipse">
            <a:avLst/>
          </a:prstGeom>
          <a:solidFill>
            <a:schemeClr val="accent2"/>
          </a:solidFill>
          <a:ln/>
        </p:spPr>
      </p:sp>
      <p:pic>
        <p:nvPicPr>
          <p:cNvPr id="7" name="Image 0" descr="House icon">    </p:cNvPr>
          <p:cNvPicPr>
            <a:picLocks noChangeAspect="1"/>
          </p:cNvPicPr>
          <p:nvPr/>
        </p:nvPicPr>
        <p:blipFill>
          <a:blip r:embed="rId1"/>
          <a:stretch>
            <a:fillRect/>
          </a:stretch>
        </p:blipFill>
        <p:spPr>
          <a:xfrm>
            <a:off x="1101852" y="2244852"/>
            <a:ext cx="283464" cy="283464"/>
          </a:xfrm>
          <a:prstGeom prst="rect">
            <a:avLst/>
          </a:prstGeom>
        </p:spPr>
      </p:pic>
      <p:sp>
        <p:nvSpPr>
          <p:cNvPr id="8" name="Text 4"/>
          <p:cNvSpPr txBox="1"/>
          <p:nvPr/>
        </p:nvSpPr>
        <p:spPr>
          <a:xfrm>
            <a:off x="1691640" y="2157984"/>
            <a:ext cx="2267712"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Real estate</a:t>
            </a:r>
            <a:endParaRPr lang="en-US" sz="1800" dirty="0"/>
          </a:p>
        </p:txBody>
      </p:sp>
      <p:sp>
        <p:nvSpPr>
          <p:cNvPr id="9" name="Text 5"/>
          <p:cNvSpPr txBox="1"/>
          <p:nvPr/>
        </p:nvSpPr>
        <p:spPr>
          <a:xfrm>
            <a:off x="960120" y="2834640"/>
            <a:ext cx="2907792" cy="777240"/>
          </a:xfrm>
          <a:prstGeom prst="rect">
            <a:avLst/>
          </a:prstGeom>
          <a:noFill/>
          <a:ln/>
        </p:spPr>
        <p:txBody>
          <a:bodyPr wrap="square" lIns="0" tIns="0" rIns="0" bIns="0" rtlCol="0" anchor="t"/>
          <a:lstStyle/>
          <a:p>
            <a:pPr indent="0" marL="0">
              <a:buNone/>
            </a:pPr>
            <a:r>
              <a:rPr lang="en-US" sz="1350" dirty="0">
                <a:solidFill>
                  <a:schemeClr val="tx2"/>
                </a:solidFill>
              </a:rPr>
              <a:t>High-value villas, off-plan sales and rentals used to store and clean wealth.</a:t>
            </a:r>
            <a:endParaRPr lang="en-US" sz="1350" dirty="0"/>
          </a:p>
        </p:txBody>
      </p:sp>
      <p:sp>
        <p:nvSpPr>
          <p:cNvPr id="10" name="Threat card"/>
          <p:cNvSpPr/>
          <p:nvPr/>
        </p:nvSpPr>
        <p:spPr>
          <a:xfrm>
            <a:off x="4366260" y="1828800"/>
            <a:ext cx="3456432" cy="1901952"/>
          </a:xfrm>
          <a:prstGeom prst="roundRect">
            <a:avLst>
              <a:gd name="adj" fmla="val 5769"/>
            </a:avLst>
          </a:prstGeom>
          <a:solidFill>
            <a:schemeClr val="bg1"/>
          </a:solidFill>
          <a:ln/>
          <a:effectLst>
            <a:outerShdw sx="100000" sy="100000" kx="0" ky="0" algn="bl" rotWithShape="0" blurRad="177800" dist="38100" dir="5400000">
              <a:srgbClr val="0B1F2A">
                <a:alpha val="10000"/>
              </a:srgbClr>
            </a:outerShdw>
          </a:effectLst>
        </p:spPr>
      </p:sp>
      <p:sp>
        <p:nvSpPr>
          <p:cNvPr id="11" name="Icon disc"/>
          <p:cNvSpPr/>
          <p:nvPr/>
        </p:nvSpPr>
        <p:spPr>
          <a:xfrm>
            <a:off x="4640580" y="2103120"/>
            <a:ext cx="566928" cy="566928"/>
          </a:xfrm>
          <a:prstGeom prst="ellipse">
            <a:avLst/>
          </a:prstGeom>
          <a:solidFill>
            <a:schemeClr val="accent2"/>
          </a:solidFill>
          <a:ln/>
        </p:spPr>
      </p:sp>
      <p:pic>
        <p:nvPicPr>
          <p:cNvPr id="12" name="Image 1" descr="Bitcoin icon">    </p:cNvPr>
          <p:cNvPicPr>
            <a:picLocks noChangeAspect="1"/>
          </p:cNvPicPr>
          <p:nvPr/>
        </p:nvPicPr>
        <p:blipFill>
          <a:blip r:embed="rId2"/>
          <a:stretch>
            <a:fillRect/>
          </a:stretch>
        </p:blipFill>
        <p:spPr>
          <a:xfrm>
            <a:off x="4782312" y="2244852"/>
            <a:ext cx="283464" cy="283464"/>
          </a:xfrm>
          <a:prstGeom prst="rect">
            <a:avLst/>
          </a:prstGeom>
        </p:spPr>
      </p:pic>
      <p:sp>
        <p:nvSpPr>
          <p:cNvPr id="13" name="Text 8"/>
          <p:cNvSpPr txBox="1"/>
          <p:nvPr/>
        </p:nvSpPr>
        <p:spPr>
          <a:xfrm>
            <a:off x="5372100" y="2157984"/>
            <a:ext cx="2267712"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Virtual assets</a:t>
            </a:r>
            <a:endParaRPr lang="en-US" sz="1800" dirty="0"/>
          </a:p>
        </p:txBody>
      </p:sp>
      <p:sp>
        <p:nvSpPr>
          <p:cNvPr id="14" name="Text 9"/>
          <p:cNvSpPr txBox="1"/>
          <p:nvPr/>
        </p:nvSpPr>
        <p:spPr>
          <a:xfrm>
            <a:off x="4640580" y="2834640"/>
            <a:ext cx="2907792" cy="777240"/>
          </a:xfrm>
          <a:prstGeom prst="rect">
            <a:avLst/>
          </a:prstGeom>
          <a:noFill/>
          <a:ln/>
        </p:spPr>
        <p:txBody>
          <a:bodyPr wrap="square" lIns="0" tIns="0" rIns="0" bIns="0" rtlCol="0" anchor="t"/>
          <a:lstStyle/>
          <a:p>
            <a:pPr indent="0" marL="0">
              <a:buNone/>
            </a:pPr>
            <a:r>
              <a:rPr lang="en-US" sz="1350" dirty="0">
                <a:solidFill>
                  <a:schemeClr val="tx2"/>
                </a:solidFill>
              </a:rPr>
              <a:t>Crypto wealth converted to fiat to buy property or fund structures.</a:t>
            </a:r>
            <a:endParaRPr lang="en-US" sz="1350" dirty="0"/>
          </a:p>
        </p:txBody>
      </p:sp>
      <p:sp>
        <p:nvSpPr>
          <p:cNvPr id="15" name="Threat card"/>
          <p:cNvSpPr/>
          <p:nvPr/>
        </p:nvSpPr>
        <p:spPr>
          <a:xfrm>
            <a:off x="8046720" y="1828800"/>
            <a:ext cx="3456432" cy="1901952"/>
          </a:xfrm>
          <a:prstGeom prst="roundRect">
            <a:avLst>
              <a:gd name="adj" fmla="val 5769"/>
            </a:avLst>
          </a:prstGeom>
          <a:solidFill>
            <a:schemeClr val="bg1"/>
          </a:solidFill>
          <a:ln/>
          <a:effectLst>
            <a:outerShdw sx="100000" sy="100000" kx="0" ky="0" algn="bl" rotWithShape="0" blurRad="177800" dist="38100" dir="5400000">
              <a:srgbClr val="0B1F2A">
                <a:alpha val="10000"/>
              </a:srgbClr>
            </a:outerShdw>
          </a:effectLst>
        </p:spPr>
      </p:sp>
      <p:sp>
        <p:nvSpPr>
          <p:cNvPr id="16" name="Icon disc"/>
          <p:cNvSpPr/>
          <p:nvPr/>
        </p:nvSpPr>
        <p:spPr>
          <a:xfrm>
            <a:off x="8321040" y="2103120"/>
            <a:ext cx="566928" cy="566928"/>
          </a:xfrm>
          <a:prstGeom prst="ellipse">
            <a:avLst/>
          </a:prstGeom>
          <a:solidFill>
            <a:schemeClr val="accent2"/>
          </a:solidFill>
          <a:ln/>
        </p:spPr>
      </p:sp>
      <p:pic>
        <p:nvPicPr>
          <p:cNvPr id="17" name="Image 2" descr="Ban icon">    </p:cNvPr>
          <p:cNvPicPr>
            <a:picLocks noChangeAspect="1"/>
          </p:cNvPicPr>
          <p:nvPr/>
        </p:nvPicPr>
        <p:blipFill>
          <a:blip r:embed="rId3"/>
          <a:stretch>
            <a:fillRect/>
          </a:stretch>
        </p:blipFill>
        <p:spPr>
          <a:xfrm>
            <a:off x="8462772" y="2244852"/>
            <a:ext cx="283464" cy="283464"/>
          </a:xfrm>
          <a:prstGeom prst="rect">
            <a:avLst/>
          </a:prstGeom>
        </p:spPr>
      </p:pic>
      <p:sp>
        <p:nvSpPr>
          <p:cNvPr id="18" name="Text 12"/>
          <p:cNvSpPr txBox="1"/>
          <p:nvPr/>
        </p:nvSpPr>
        <p:spPr>
          <a:xfrm>
            <a:off x="9052560" y="2157984"/>
            <a:ext cx="2267712"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Sanctions evasion</a:t>
            </a:r>
            <a:endParaRPr lang="en-US" sz="1800" dirty="0"/>
          </a:p>
        </p:txBody>
      </p:sp>
      <p:sp>
        <p:nvSpPr>
          <p:cNvPr id="19" name="Text 13"/>
          <p:cNvSpPr txBox="1"/>
          <p:nvPr/>
        </p:nvSpPr>
        <p:spPr>
          <a:xfrm>
            <a:off x="8321040" y="2834640"/>
            <a:ext cx="2907792" cy="777240"/>
          </a:xfrm>
          <a:prstGeom prst="rect">
            <a:avLst/>
          </a:prstGeom>
          <a:noFill/>
          <a:ln/>
        </p:spPr>
        <p:txBody>
          <a:bodyPr wrap="square" lIns="0" tIns="0" rIns="0" bIns="0" rtlCol="0" anchor="t"/>
          <a:lstStyle/>
          <a:p>
            <a:pPr indent="0" marL="0">
              <a:buNone/>
            </a:pPr>
            <a:r>
              <a:rPr lang="en-US" sz="1350" dirty="0">
                <a:solidFill>
                  <a:schemeClr val="tx2"/>
                </a:solidFill>
              </a:rPr>
              <a:t>Assets held through relatives, proxies and newly formed entities.</a:t>
            </a:r>
            <a:endParaRPr lang="en-US" sz="1350" dirty="0"/>
          </a:p>
        </p:txBody>
      </p:sp>
      <p:sp>
        <p:nvSpPr>
          <p:cNvPr id="20" name="Threat card"/>
          <p:cNvSpPr/>
          <p:nvPr/>
        </p:nvSpPr>
        <p:spPr>
          <a:xfrm>
            <a:off x="685800" y="3959352"/>
            <a:ext cx="3456432" cy="1901952"/>
          </a:xfrm>
          <a:prstGeom prst="roundRect">
            <a:avLst>
              <a:gd name="adj" fmla="val 5769"/>
            </a:avLst>
          </a:prstGeom>
          <a:solidFill>
            <a:schemeClr val="bg1"/>
          </a:solidFill>
          <a:ln/>
          <a:effectLst>
            <a:outerShdw sx="100000" sy="100000" kx="0" ky="0" algn="bl" rotWithShape="0" blurRad="177800" dist="38100" dir="5400000">
              <a:srgbClr val="0B1F2A">
                <a:alpha val="10000"/>
              </a:srgbClr>
            </a:outerShdw>
          </a:effectLst>
        </p:spPr>
      </p:sp>
      <p:sp>
        <p:nvSpPr>
          <p:cNvPr id="21" name="Icon disc"/>
          <p:cNvSpPr/>
          <p:nvPr/>
        </p:nvSpPr>
        <p:spPr>
          <a:xfrm>
            <a:off x="960120" y="4233672"/>
            <a:ext cx="566928" cy="566928"/>
          </a:xfrm>
          <a:prstGeom prst="ellipse">
            <a:avLst/>
          </a:prstGeom>
          <a:solidFill>
            <a:schemeClr val="accent2"/>
          </a:solidFill>
          <a:ln/>
        </p:spPr>
      </p:sp>
      <p:pic>
        <p:nvPicPr>
          <p:cNvPr id="22" name="Image 3" descr="Mail icon">    </p:cNvPr>
          <p:cNvPicPr>
            <a:picLocks noChangeAspect="1"/>
          </p:cNvPicPr>
          <p:nvPr/>
        </p:nvPicPr>
        <p:blipFill>
          <a:blip r:embed="rId4"/>
          <a:stretch>
            <a:fillRect/>
          </a:stretch>
        </p:blipFill>
        <p:spPr>
          <a:xfrm>
            <a:off x="1101852" y="4375404"/>
            <a:ext cx="283464" cy="283464"/>
          </a:xfrm>
          <a:prstGeom prst="rect">
            <a:avLst/>
          </a:prstGeom>
        </p:spPr>
      </p:pic>
      <p:sp>
        <p:nvSpPr>
          <p:cNvPr id="23" name="Text 16"/>
          <p:cNvSpPr txBox="1"/>
          <p:nvPr/>
        </p:nvSpPr>
        <p:spPr>
          <a:xfrm>
            <a:off x="1691640" y="4288536"/>
            <a:ext cx="2267712"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Email fraud</a:t>
            </a:r>
            <a:endParaRPr lang="en-US" sz="1800" dirty="0"/>
          </a:p>
        </p:txBody>
      </p:sp>
      <p:sp>
        <p:nvSpPr>
          <p:cNvPr id="24" name="Text 17"/>
          <p:cNvSpPr txBox="1"/>
          <p:nvPr/>
        </p:nvSpPr>
        <p:spPr>
          <a:xfrm>
            <a:off x="960120" y="4965192"/>
            <a:ext cx="2907792" cy="777240"/>
          </a:xfrm>
          <a:prstGeom prst="rect">
            <a:avLst/>
          </a:prstGeom>
          <a:noFill/>
          <a:ln/>
        </p:spPr>
        <p:txBody>
          <a:bodyPr wrap="square" lIns="0" tIns="0" rIns="0" bIns="0" rtlCol="0" anchor="t"/>
          <a:lstStyle/>
          <a:p>
            <a:pPr indent="0" marL="0">
              <a:buNone/>
            </a:pPr>
            <a:r>
              <a:rPr lang="en-US" sz="1350" dirty="0">
                <a:solidFill>
                  <a:schemeClr val="tx2"/>
                </a:solidFill>
              </a:rPr>
              <a:t>Spoofed emails redirecting completion funds to fraudsters' accounts.</a:t>
            </a:r>
            <a:endParaRPr lang="en-US" sz="1350" dirty="0"/>
          </a:p>
        </p:txBody>
      </p:sp>
      <p:sp>
        <p:nvSpPr>
          <p:cNvPr id="25" name="Threat card"/>
          <p:cNvSpPr/>
          <p:nvPr/>
        </p:nvSpPr>
        <p:spPr>
          <a:xfrm>
            <a:off x="4366260" y="3959352"/>
            <a:ext cx="3456432" cy="1901952"/>
          </a:xfrm>
          <a:prstGeom prst="roundRect">
            <a:avLst>
              <a:gd name="adj" fmla="val 5769"/>
            </a:avLst>
          </a:prstGeom>
          <a:solidFill>
            <a:schemeClr val="bg1"/>
          </a:solidFill>
          <a:ln/>
          <a:effectLst>
            <a:outerShdw sx="100000" sy="100000" kx="0" ky="0" algn="bl" rotWithShape="0" blurRad="177800" dist="38100" dir="5400000">
              <a:srgbClr val="0B1F2A">
                <a:alpha val="10000"/>
              </a:srgbClr>
            </a:outerShdw>
          </a:effectLst>
        </p:spPr>
      </p:sp>
      <p:sp>
        <p:nvSpPr>
          <p:cNvPr id="26" name="Icon disc"/>
          <p:cNvSpPr/>
          <p:nvPr/>
        </p:nvSpPr>
        <p:spPr>
          <a:xfrm>
            <a:off x="4640580" y="4233672"/>
            <a:ext cx="566928" cy="566928"/>
          </a:xfrm>
          <a:prstGeom prst="ellipse">
            <a:avLst/>
          </a:prstGeom>
          <a:solidFill>
            <a:schemeClr val="accent2"/>
          </a:solidFill>
          <a:ln/>
        </p:spPr>
      </p:sp>
      <p:pic>
        <p:nvPicPr>
          <p:cNvPr id="27" name="Image 4" descr="ScanFace icon">    </p:cNvPr>
          <p:cNvPicPr>
            <a:picLocks noChangeAspect="1"/>
          </p:cNvPicPr>
          <p:nvPr/>
        </p:nvPicPr>
        <p:blipFill>
          <a:blip r:embed="rId5"/>
          <a:stretch>
            <a:fillRect/>
          </a:stretch>
        </p:blipFill>
        <p:spPr>
          <a:xfrm>
            <a:off x="4782312" y="4375404"/>
            <a:ext cx="283464" cy="283464"/>
          </a:xfrm>
          <a:prstGeom prst="rect">
            <a:avLst/>
          </a:prstGeom>
        </p:spPr>
      </p:pic>
      <p:sp>
        <p:nvSpPr>
          <p:cNvPr id="28" name="Text 20"/>
          <p:cNvSpPr txBox="1"/>
          <p:nvPr/>
        </p:nvSpPr>
        <p:spPr>
          <a:xfrm>
            <a:off x="5372100" y="4288536"/>
            <a:ext cx="2267712"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AI identity fraud</a:t>
            </a:r>
            <a:endParaRPr lang="en-US" sz="1800" dirty="0"/>
          </a:p>
        </p:txBody>
      </p:sp>
      <p:sp>
        <p:nvSpPr>
          <p:cNvPr id="29" name="Text 21"/>
          <p:cNvSpPr txBox="1"/>
          <p:nvPr/>
        </p:nvSpPr>
        <p:spPr>
          <a:xfrm>
            <a:off x="4640580" y="4965192"/>
            <a:ext cx="2907792" cy="777240"/>
          </a:xfrm>
          <a:prstGeom prst="rect">
            <a:avLst/>
          </a:prstGeom>
          <a:noFill/>
          <a:ln/>
        </p:spPr>
        <p:txBody>
          <a:bodyPr wrap="square" lIns="0" tIns="0" rIns="0" bIns="0" rtlCol="0" anchor="t"/>
          <a:lstStyle/>
          <a:p>
            <a:pPr indent="0" marL="0">
              <a:buNone/>
            </a:pPr>
            <a:r>
              <a:rPr lang="en-US" sz="1350" dirty="0">
                <a:solidFill>
                  <a:schemeClr val="tx2"/>
                </a:solidFill>
              </a:rPr>
              <a:t>Deepfake video calls and synthetic, AI-generated documents.</a:t>
            </a:r>
            <a:endParaRPr lang="en-US" sz="1350" dirty="0"/>
          </a:p>
        </p:txBody>
      </p:sp>
      <p:sp>
        <p:nvSpPr>
          <p:cNvPr id="30" name="Threat card"/>
          <p:cNvSpPr/>
          <p:nvPr/>
        </p:nvSpPr>
        <p:spPr>
          <a:xfrm>
            <a:off x="8046720" y="3959352"/>
            <a:ext cx="3456432" cy="1901952"/>
          </a:xfrm>
          <a:prstGeom prst="roundRect">
            <a:avLst>
              <a:gd name="adj" fmla="val 5769"/>
            </a:avLst>
          </a:prstGeom>
          <a:solidFill>
            <a:schemeClr val="bg1"/>
          </a:solidFill>
          <a:ln/>
          <a:effectLst>
            <a:outerShdw sx="100000" sy="100000" kx="0" ky="0" algn="bl" rotWithShape="0" blurRad="177800" dist="38100" dir="5400000">
              <a:srgbClr val="0B1F2A">
                <a:alpha val="10000"/>
              </a:srgbClr>
            </a:outerShdw>
          </a:effectLst>
        </p:spPr>
      </p:sp>
      <p:sp>
        <p:nvSpPr>
          <p:cNvPr id="31" name="Icon disc"/>
          <p:cNvSpPr/>
          <p:nvPr/>
        </p:nvSpPr>
        <p:spPr>
          <a:xfrm>
            <a:off x="8321040" y="4233672"/>
            <a:ext cx="566928" cy="566928"/>
          </a:xfrm>
          <a:prstGeom prst="ellipse">
            <a:avLst/>
          </a:prstGeom>
          <a:solidFill>
            <a:schemeClr val="accent2"/>
          </a:solidFill>
          <a:ln/>
        </p:spPr>
      </p:sp>
      <p:pic>
        <p:nvPicPr>
          <p:cNvPr id="32" name="Image 5" descr="Layers icon">    </p:cNvPr>
          <p:cNvPicPr>
            <a:picLocks noChangeAspect="1"/>
          </p:cNvPicPr>
          <p:nvPr/>
        </p:nvPicPr>
        <p:blipFill>
          <a:blip r:embed="rId6"/>
          <a:stretch>
            <a:fillRect/>
          </a:stretch>
        </p:blipFill>
        <p:spPr>
          <a:xfrm>
            <a:off x="8462772" y="4375404"/>
            <a:ext cx="283464" cy="283464"/>
          </a:xfrm>
          <a:prstGeom prst="rect">
            <a:avLst/>
          </a:prstGeom>
        </p:spPr>
      </p:pic>
      <p:sp>
        <p:nvSpPr>
          <p:cNvPr id="33" name="Text 24"/>
          <p:cNvSpPr txBox="1"/>
          <p:nvPr/>
        </p:nvSpPr>
        <p:spPr>
          <a:xfrm>
            <a:off x="9052560" y="4288536"/>
            <a:ext cx="2267712"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Nominee structures</a:t>
            </a:r>
            <a:endParaRPr lang="en-US" sz="1800" dirty="0"/>
          </a:p>
        </p:txBody>
      </p:sp>
      <p:sp>
        <p:nvSpPr>
          <p:cNvPr id="34" name="Text 25"/>
          <p:cNvSpPr txBox="1"/>
          <p:nvPr/>
        </p:nvSpPr>
        <p:spPr>
          <a:xfrm>
            <a:off x="8321040" y="4965192"/>
            <a:ext cx="2907792" cy="777240"/>
          </a:xfrm>
          <a:prstGeom prst="rect">
            <a:avLst/>
          </a:prstGeom>
          <a:noFill/>
          <a:ln/>
        </p:spPr>
        <p:txBody>
          <a:bodyPr wrap="square" lIns="0" tIns="0" rIns="0" bIns="0" rtlCol="0" anchor="t"/>
          <a:lstStyle/>
          <a:p>
            <a:pPr indent="0" marL="0">
              <a:buNone/>
            </a:pPr>
            <a:r>
              <a:rPr lang="en-US" sz="1350" dirty="0">
                <a:solidFill>
                  <a:schemeClr val="tx2"/>
                </a:solidFill>
              </a:rPr>
              <a:t>Layered companies and trusts that hide who is really in control.</a:t>
            </a:r>
            <a:endParaRPr lang="en-US" sz="13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03 · SPOTLIGHT</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When the wealth began as crypto</a:t>
            </a:r>
            <a:endParaRPr lang="en-US" sz="3400" dirty="0"/>
          </a:p>
        </p:txBody>
      </p:sp>
      <p:sp>
        <p:nvSpPr>
          <p:cNvPr id="5" name="Text 2"/>
          <p:cNvSpPr txBox="1"/>
          <p:nvPr/>
        </p:nvSpPr>
        <p:spPr>
          <a:xfrm>
            <a:off x="685800" y="1874520"/>
            <a:ext cx="4846320" cy="1280160"/>
          </a:xfrm>
          <a:prstGeom prst="rect">
            <a:avLst/>
          </a:prstGeom>
          <a:noFill/>
          <a:ln/>
        </p:spPr>
        <p:txBody>
          <a:bodyPr wrap="square" lIns="0" tIns="0" rIns="0" bIns="0" rtlCol="0" anchor="t"/>
          <a:lstStyle/>
          <a:p>
            <a:pPr indent="0" marL="0">
              <a:lnSpc>
                <a:spcPct val="105000"/>
              </a:lnSpc>
              <a:buNone/>
            </a:pPr>
            <a:r>
              <a:rPr lang="en-US" sz="2400" dirty="0">
                <a:solidFill>
                  <a:schemeClr val="tx1"/>
                </a:solidFill>
                <a:latin typeface="Cambria" pitchFamily="34" charset="0"/>
                <a:ea typeface="Cambria" pitchFamily="34" charset="-122"/>
                <a:cs typeface="Cambria" pitchFamily="34" charset="-120"/>
              </a:rPr>
              <a:t>Crypto wealth isn't suspicious in itself. Unexplained crypto wealth is.</a:t>
            </a:r>
            <a:endParaRPr lang="en-US" sz="2400" dirty="0"/>
          </a:p>
        </p:txBody>
      </p:sp>
      <p:sp>
        <p:nvSpPr>
          <p:cNvPr id="6" name="Text 3"/>
          <p:cNvSpPr txBox="1"/>
          <p:nvPr/>
        </p:nvSpPr>
        <p:spPr>
          <a:xfrm>
            <a:off x="685800" y="3291840"/>
            <a:ext cx="4572000" cy="822960"/>
          </a:xfrm>
          <a:prstGeom prst="rect">
            <a:avLst/>
          </a:prstGeom>
          <a:noFill/>
          <a:ln/>
        </p:spPr>
        <p:txBody>
          <a:bodyPr wrap="square" lIns="0" tIns="0" rIns="0" bIns="0" rtlCol="0" anchor="t"/>
          <a:lstStyle/>
          <a:p>
            <a:pPr indent="0" marL="0">
              <a:buNone/>
            </a:pPr>
            <a:r>
              <a:rPr lang="en-US" sz="1500" dirty="0">
                <a:solidFill>
                  <a:schemeClr val="tx2"/>
                </a:solidFill>
              </a:rPr>
              <a:t>We need to see the full trail, from acquisition, through exchange, to the bank account that pays us.</a:t>
            </a:r>
            <a:endParaRPr lang="en-US" sz="1500" dirty="0"/>
          </a:p>
        </p:txBody>
      </p:sp>
      <p:sp>
        <p:nvSpPr>
          <p:cNvPr id="7" name="Connector"/>
          <p:cNvSpPr/>
          <p:nvPr/>
        </p:nvSpPr>
        <p:spPr>
          <a:xfrm>
            <a:off x="1417320" y="4663440"/>
            <a:ext cx="530352" cy="0"/>
          </a:xfrm>
          <a:prstGeom prst="line">
            <a:avLst/>
          </a:prstGeom>
          <a:noFill/>
          <a:ln w="15875">
            <a:solidFill>
              <a:srgbClr val="A9BCC4"/>
            </a:solidFill>
            <a:prstDash val="dash"/>
          </a:ln>
        </p:spPr>
      </p:sp>
      <p:sp>
        <p:nvSpPr>
          <p:cNvPr id="8" name="Icon disc"/>
          <p:cNvSpPr/>
          <p:nvPr/>
        </p:nvSpPr>
        <p:spPr>
          <a:xfrm>
            <a:off x="777240" y="4343400"/>
            <a:ext cx="640080" cy="640080"/>
          </a:xfrm>
          <a:prstGeom prst="ellipse">
            <a:avLst/>
          </a:prstGeom>
          <a:solidFill>
            <a:schemeClr val="accent1"/>
          </a:solidFill>
          <a:ln/>
        </p:spPr>
      </p:sp>
      <p:pic>
        <p:nvPicPr>
          <p:cNvPr id="9" name="Image 0" descr="Bitcoin icon">    </p:cNvPr>
          <p:cNvPicPr>
            <a:picLocks noChangeAspect="1"/>
          </p:cNvPicPr>
          <p:nvPr/>
        </p:nvPicPr>
        <p:blipFill>
          <a:blip r:embed="rId1"/>
          <a:stretch>
            <a:fillRect/>
          </a:stretch>
        </p:blipFill>
        <p:spPr>
          <a:xfrm>
            <a:off x="937260" y="4503420"/>
            <a:ext cx="320040" cy="320040"/>
          </a:xfrm>
          <a:prstGeom prst="rect">
            <a:avLst/>
          </a:prstGeom>
        </p:spPr>
      </p:pic>
      <p:sp>
        <p:nvSpPr>
          <p:cNvPr id="10" name="Text 6"/>
          <p:cNvSpPr txBox="1"/>
          <p:nvPr/>
        </p:nvSpPr>
        <p:spPr>
          <a:xfrm>
            <a:off x="548640" y="5074920"/>
            <a:ext cx="1097280" cy="274320"/>
          </a:xfrm>
          <a:prstGeom prst="rect">
            <a:avLst/>
          </a:prstGeom>
          <a:noFill/>
          <a:ln/>
        </p:spPr>
        <p:txBody>
          <a:bodyPr wrap="square" lIns="0" tIns="0" rIns="0" bIns="0" rtlCol="0" anchor="t"/>
          <a:lstStyle/>
          <a:p>
            <a:pPr algn="ctr" indent="0" marL="0">
              <a:buNone/>
            </a:pPr>
            <a:r>
              <a:rPr lang="en-US" sz="1200" b="1" dirty="0">
                <a:solidFill>
                  <a:schemeClr val="tx1"/>
                </a:solidFill>
              </a:rPr>
              <a:t>Acquired</a:t>
            </a:r>
            <a:endParaRPr lang="en-US" sz="1200" dirty="0"/>
          </a:p>
        </p:txBody>
      </p:sp>
      <p:sp>
        <p:nvSpPr>
          <p:cNvPr id="11" name="Connector"/>
          <p:cNvSpPr/>
          <p:nvPr/>
        </p:nvSpPr>
        <p:spPr>
          <a:xfrm>
            <a:off x="2679192" y="4663440"/>
            <a:ext cx="530352" cy="0"/>
          </a:xfrm>
          <a:prstGeom prst="line">
            <a:avLst/>
          </a:prstGeom>
          <a:noFill/>
          <a:ln w="15875">
            <a:solidFill>
              <a:srgbClr val="A9BCC4"/>
            </a:solidFill>
            <a:prstDash val="dash"/>
          </a:ln>
        </p:spPr>
      </p:sp>
      <p:sp>
        <p:nvSpPr>
          <p:cNvPr id="12" name="Icon disc"/>
          <p:cNvSpPr/>
          <p:nvPr/>
        </p:nvSpPr>
        <p:spPr>
          <a:xfrm>
            <a:off x="2039112" y="4343400"/>
            <a:ext cx="640080" cy="640080"/>
          </a:xfrm>
          <a:prstGeom prst="ellipse">
            <a:avLst/>
          </a:prstGeom>
          <a:solidFill>
            <a:schemeClr val="accent1"/>
          </a:solidFill>
          <a:ln/>
        </p:spPr>
      </p:sp>
      <p:pic>
        <p:nvPicPr>
          <p:cNvPr id="13" name="Image 1" descr="Route icon">    </p:cNvPr>
          <p:cNvPicPr>
            <a:picLocks noChangeAspect="1"/>
          </p:cNvPicPr>
          <p:nvPr/>
        </p:nvPicPr>
        <p:blipFill>
          <a:blip r:embed="rId2"/>
          <a:stretch>
            <a:fillRect/>
          </a:stretch>
        </p:blipFill>
        <p:spPr>
          <a:xfrm>
            <a:off x="2199132" y="4503420"/>
            <a:ext cx="320040" cy="320040"/>
          </a:xfrm>
          <a:prstGeom prst="rect">
            <a:avLst/>
          </a:prstGeom>
        </p:spPr>
      </p:pic>
      <p:sp>
        <p:nvSpPr>
          <p:cNvPr id="14" name="Text 9"/>
          <p:cNvSpPr txBox="1"/>
          <p:nvPr/>
        </p:nvSpPr>
        <p:spPr>
          <a:xfrm>
            <a:off x="1810512" y="5074920"/>
            <a:ext cx="1097280" cy="274320"/>
          </a:xfrm>
          <a:prstGeom prst="rect">
            <a:avLst/>
          </a:prstGeom>
          <a:noFill/>
          <a:ln/>
        </p:spPr>
        <p:txBody>
          <a:bodyPr wrap="square" lIns="0" tIns="0" rIns="0" bIns="0" rtlCol="0" anchor="t"/>
          <a:lstStyle/>
          <a:p>
            <a:pPr algn="ctr" indent="0" marL="0">
              <a:buNone/>
            </a:pPr>
            <a:r>
              <a:rPr lang="en-US" sz="1200" b="1" dirty="0">
                <a:solidFill>
                  <a:schemeClr val="tx1"/>
                </a:solidFill>
              </a:rPr>
              <a:t>Exchanged</a:t>
            </a:r>
            <a:endParaRPr lang="en-US" sz="1200" dirty="0"/>
          </a:p>
        </p:txBody>
      </p:sp>
      <p:sp>
        <p:nvSpPr>
          <p:cNvPr id="15" name="Connector"/>
          <p:cNvSpPr/>
          <p:nvPr/>
        </p:nvSpPr>
        <p:spPr>
          <a:xfrm>
            <a:off x="3941064" y="4663440"/>
            <a:ext cx="530352" cy="0"/>
          </a:xfrm>
          <a:prstGeom prst="line">
            <a:avLst/>
          </a:prstGeom>
          <a:noFill/>
          <a:ln w="15875">
            <a:solidFill>
              <a:srgbClr val="A9BCC4"/>
            </a:solidFill>
            <a:prstDash val="dash"/>
          </a:ln>
        </p:spPr>
      </p:sp>
      <p:sp>
        <p:nvSpPr>
          <p:cNvPr id="16" name="Icon disc"/>
          <p:cNvSpPr/>
          <p:nvPr/>
        </p:nvSpPr>
        <p:spPr>
          <a:xfrm>
            <a:off x="3300984" y="4343400"/>
            <a:ext cx="640080" cy="640080"/>
          </a:xfrm>
          <a:prstGeom prst="ellipse">
            <a:avLst/>
          </a:prstGeom>
          <a:solidFill>
            <a:schemeClr val="accent1"/>
          </a:solidFill>
          <a:ln/>
        </p:spPr>
      </p:sp>
      <p:pic>
        <p:nvPicPr>
          <p:cNvPr id="17" name="Image 2" descr="Landmark icon">    </p:cNvPr>
          <p:cNvPicPr>
            <a:picLocks noChangeAspect="1"/>
          </p:cNvPicPr>
          <p:nvPr/>
        </p:nvPicPr>
        <p:blipFill>
          <a:blip r:embed="rId3"/>
          <a:stretch>
            <a:fillRect/>
          </a:stretch>
        </p:blipFill>
        <p:spPr>
          <a:xfrm>
            <a:off x="3461004" y="4503420"/>
            <a:ext cx="320040" cy="320040"/>
          </a:xfrm>
          <a:prstGeom prst="rect">
            <a:avLst/>
          </a:prstGeom>
        </p:spPr>
      </p:pic>
      <p:sp>
        <p:nvSpPr>
          <p:cNvPr id="18" name="Text 12"/>
          <p:cNvSpPr txBox="1"/>
          <p:nvPr/>
        </p:nvSpPr>
        <p:spPr>
          <a:xfrm>
            <a:off x="3072384" y="5074920"/>
            <a:ext cx="1097280" cy="274320"/>
          </a:xfrm>
          <a:prstGeom prst="rect">
            <a:avLst/>
          </a:prstGeom>
          <a:noFill/>
          <a:ln/>
        </p:spPr>
        <p:txBody>
          <a:bodyPr wrap="square" lIns="0" tIns="0" rIns="0" bIns="0" rtlCol="0" anchor="t"/>
          <a:lstStyle/>
          <a:p>
            <a:pPr algn="ctr" indent="0" marL="0">
              <a:buNone/>
            </a:pPr>
            <a:r>
              <a:rPr lang="en-US" sz="1200" b="1" dirty="0">
                <a:solidFill>
                  <a:schemeClr val="tx1"/>
                </a:solidFill>
              </a:rPr>
              <a:t>Banked</a:t>
            </a:r>
            <a:endParaRPr lang="en-US" sz="1200" dirty="0"/>
          </a:p>
        </p:txBody>
      </p:sp>
      <p:sp>
        <p:nvSpPr>
          <p:cNvPr id="19" name="Icon disc"/>
          <p:cNvSpPr/>
          <p:nvPr/>
        </p:nvSpPr>
        <p:spPr>
          <a:xfrm>
            <a:off x="4562856" y="4343400"/>
            <a:ext cx="640080" cy="640080"/>
          </a:xfrm>
          <a:prstGeom prst="ellipse">
            <a:avLst/>
          </a:prstGeom>
          <a:solidFill>
            <a:schemeClr val="accent1"/>
          </a:solidFill>
          <a:ln/>
        </p:spPr>
      </p:sp>
      <p:pic>
        <p:nvPicPr>
          <p:cNvPr id="20" name="Image 3" descr="Wallet icon">    </p:cNvPr>
          <p:cNvPicPr>
            <a:picLocks noChangeAspect="1"/>
          </p:cNvPicPr>
          <p:nvPr/>
        </p:nvPicPr>
        <p:blipFill>
          <a:blip r:embed="rId4"/>
          <a:stretch>
            <a:fillRect/>
          </a:stretch>
        </p:blipFill>
        <p:spPr>
          <a:xfrm>
            <a:off x="4722876" y="4503420"/>
            <a:ext cx="320040" cy="320040"/>
          </a:xfrm>
          <a:prstGeom prst="rect">
            <a:avLst/>
          </a:prstGeom>
        </p:spPr>
      </p:pic>
      <p:sp>
        <p:nvSpPr>
          <p:cNvPr id="21" name="Text 14"/>
          <p:cNvSpPr txBox="1"/>
          <p:nvPr/>
        </p:nvSpPr>
        <p:spPr>
          <a:xfrm>
            <a:off x="4334256" y="5074920"/>
            <a:ext cx="1097280" cy="274320"/>
          </a:xfrm>
          <a:prstGeom prst="rect">
            <a:avLst/>
          </a:prstGeom>
          <a:noFill/>
          <a:ln/>
        </p:spPr>
        <p:txBody>
          <a:bodyPr wrap="square" lIns="0" tIns="0" rIns="0" bIns="0" rtlCol="0" anchor="t"/>
          <a:lstStyle/>
          <a:p>
            <a:pPr algn="ctr" indent="0" marL="0">
              <a:buNone/>
            </a:pPr>
            <a:r>
              <a:rPr lang="en-US" sz="1200" b="1" dirty="0">
                <a:solidFill>
                  <a:schemeClr val="tx1"/>
                </a:solidFill>
              </a:rPr>
              <a:t>Paid to us</a:t>
            </a:r>
            <a:endParaRPr lang="en-US" sz="1200" dirty="0"/>
          </a:p>
        </p:txBody>
      </p:sp>
      <p:sp>
        <p:nvSpPr>
          <p:cNvPr id="22" name="Ask card"/>
          <p:cNvSpPr/>
          <p:nvPr/>
        </p:nvSpPr>
        <p:spPr>
          <a:xfrm>
            <a:off x="6309360" y="1828800"/>
            <a:ext cx="5193792" cy="1920240"/>
          </a:xfrm>
          <a:prstGeom prst="roundRect">
            <a:avLst>
              <a:gd name="adj" fmla="val 5714"/>
            </a:avLst>
          </a:prstGeom>
          <a:solidFill>
            <a:schemeClr val="bg1"/>
          </a:solidFill>
          <a:ln/>
          <a:effectLst>
            <a:outerShdw sx="100000" sy="100000" kx="0" ky="0" algn="bl" rotWithShape="0" blurRad="177800" dist="38100" dir="5400000">
              <a:srgbClr val="0B1F2A">
                <a:alpha val="10000"/>
              </a:srgbClr>
            </a:outerShdw>
          </a:effectLst>
        </p:spPr>
      </p:sp>
      <p:sp>
        <p:nvSpPr>
          <p:cNvPr id="23" name="Text 16"/>
          <p:cNvSpPr txBox="1"/>
          <p:nvPr/>
        </p:nvSpPr>
        <p:spPr>
          <a:xfrm>
            <a:off x="6629400" y="2057400"/>
            <a:ext cx="2743200" cy="256032"/>
          </a:xfrm>
          <a:prstGeom prst="rect">
            <a:avLst/>
          </a:prstGeom>
          <a:noFill/>
          <a:ln/>
        </p:spPr>
        <p:txBody>
          <a:bodyPr wrap="square" lIns="0" tIns="0" rIns="0" bIns="0" rtlCol="0" anchor="t"/>
          <a:lstStyle/>
          <a:p>
            <a:pPr indent="0" marL="0">
              <a:buNone/>
            </a:pPr>
            <a:r>
              <a:rPr lang="en-US" sz="1000" b="1" spc="300" kern="0" dirty="0">
                <a:solidFill>
                  <a:schemeClr val="accent1"/>
                </a:solidFill>
              </a:rPr>
              <a:t>ASK FOR</a:t>
            </a:r>
            <a:endParaRPr lang="en-US" sz="1000" dirty="0"/>
          </a:p>
        </p:txBody>
      </p:sp>
      <p:sp>
        <p:nvSpPr>
          <p:cNvPr id="24" name="Text 17"/>
          <p:cNvSpPr txBox="1"/>
          <p:nvPr/>
        </p:nvSpPr>
        <p:spPr>
          <a:xfrm>
            <a:off x="6629400" y="2377440"/>
            <a:ext cx="4572000" cy="12801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Exchange account statements in the client's name</a:t>
            </a:r>
            <a:endParaRPr lang="en-US" sz="1400" dirty="0"/>
          </a:p>
          <a:p>
            <a:pPr marL="203200" indent="-203200">
              <a:spcAft>
                <a:spcPts val="800"/>
              </a:spcAft>
              <a:buSzPct val="100000"/>
              <a:buChar char="•"/>
            </a:pPr>
            <a:r>
              <a:rPr lang="en-US" sz="1400" dirty="0">
                <a:solidFill>
                  <a:schemeClr val="tx1"/>
                </a:solidFill>
              </a:rPr>
              <a:t>Wallet addresses and transaction histories</a:t>
            </a:r>
            <a:endParaRPr lang="en-US" sz="1400" dirty="0"/>
          </a:p>
          <a:p>
            <a:pPr marL="203200" indent="-203200">
              <a:spcAft>
                <a:spcPts val="800"/>
              </a:spcAft>
              <a:buSzPct val="100000"/>
              <a:buChar char="•"/>
            </a:pPr>
            <a:r>
              <a:rPr lang="en-US" sz="1400" dirty="0">
                <a:solidFill>
                  <a:schemeClr val="tx1"/>
                </a:solidFill>
              </a:rPr>
              <a:t>Evidence of the original purchase or mining income</a:t>
            </a:r>
            <a:endParaRPr lang="en-US" sz="1400" dirty="0"/>
          </a:p>
        </p:txBody>
      </p:sp>
      <p:sp>
        <p:nvSpPr>
          <p:cNvPr id="25" name="Caution card"/>
          <p:cNvSpPr/>
          <p:nvPr/>
        </p:nvSpPr>
        <p:spPr>
          <a:xfrm>
            <a:off x="6309360" y="3931920"/>
            <a:ext cx="5193792" cy="1920240"/>
          </a:xfrm>
          <a:prstGeom prst="roundRect">
            <a:avLst>
              <a:gd name="adj" fmla="val 5714"/>
            </a:avLst>
          </a:prstGeom>
          <a:solidFill>
            <a:schemeClr val="tx1"/>
          </a:solidFill>
          <a:ln/>
          <a:effectLst>
            <a:outerShdw sx="100000" sy="100000" kx="0" ky="0" algn="bl" rotWithShape="0" blurRad="177800" dist="38100" dir="5400000">
              <a:srgbClr val="0B1F2A">
                <a:alpha val="10000"/>
              </a:srgbClr>
            </a:outerShdw>
          </a:effectLst>
        </p:spPr>
      </p:sp>
      <p:sp>
        <p:nvSpPr>
          <p:cNvPr id="26" name="Text 19"/>
          <p:cNvSpPr txBox="1"/>
          <p:nvPr/>
        </p:nvSpPr>
        <p:spPr>
          <a:xfrm>
            <a:off x="6629400" y="4160520"/>
            <a:ext cx="2743200" cy="256032"/>
          </a:xfrm>
          <a:prstGeom prst="rect">
            <a:avLst/>
          </a:prstGeom>
          <a:noFill/>
          <a:ln/>
        </p:spPr>
        <p:txBody>
          <a:bodyPr wrap="square" lIns="0" tIns="0" rIns="0" bIns="0" rtlCol="0" anchor="t"/>
          <a:lstStyle/>
          <a:p>
            <a:pPr indent="0" marL="0">
              <a:buNone/>
            </a:pPr>
            <a:r>
              <a:rPr lang="en-US" sz="1000" b="1" spc="300" kern="0" dirty="0">
                <a:solidFill>
                  <a:schemeClr val="accent2"/>
                </a:solidFill>
              </a:rPr>
              <a:t>BE CAUTIOUS OF</a:t>
            </a:r>
            <a:endParaRPr lang="en-US" sz="1000" dirty="0"/>
          </a:p>
        </p:txBody>
      </p:sp>
      <p:sp>
        <p:nvSpPr>
          <p:cNvPr id="27" name="Text 20"/>
          <p:cNvSpPr txBox="1"/>
          <p:nvPr/>
        </p:nvSpPr>
        <p:spPr>
          <a:xfrm>
            <a:off x="6629400" y="4480560"/>
            <a:ext cx="4572000" cy="12801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bg1"/>
                </a:solidFill>
              </a:rPr>
              <a:t>Mixers, tumblers and privacy coins</a:t>
            </a:r>
            <a:endParaRPr lang="en-US" sz="1400" dirty="0"/>
          </a:p>
          <a:p>
            <a:pPr marL="203200" indent="-203200">
              <a:spcAft>
                <a:spcPts val="800"/>
              </a:spcAft>
              <a:buSzPct val="100000"/>
              <a:buChar char="•"/>
            </a:pPr>
            <a:r>
              <a:rPr lang="en-US" sz="1400" dirty="0">
                <a:solidFill>
                  <a:schemeClr val="bg1"/>
                </a:solidFill>
              </a:rPr>
              <a:t>Unregulated or offshore exchanges</a:t>
            </a:r>
            <a:endParaRPr lang="en-US" sz="1400" dirty="0"/>
          </a:p>
          <a:p>
            <a:pPr marL="203200" indent="-203200">
              <a:spcAft>
                <a:spcPts val="800"/>
              </a:spcAft>
              <a:buSzPct val="100000"/>
              <a:buChar char="•"/>
            </a:pPr>
            <a:r>
              <a:rPr lang="en-US" sz="1400" dirty="0">
                <a:solidFill>
                  <a:schemeClr val="bg1"/>
                </a:solidFill>
              </a:rPr>
              <a:t>Wallets that can't be linked to the client</a:t>
            </a:r>
            <a:endParaRPr lang="en-US" sz="1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03 · SPOTLIGHT</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Seeing isn't believing anymore</a:t>
            </a:r>
            <a:endParaRPr lang="en-US" sz="3400" dirty="0"/>
          </a:p>
        </p:txBody>
      </p:sp>
      <p:sp>
        <p:nvSpPr>
          <p:cNvPr id="5" name="Spotlight card"/>
          <p:cNvSpPr/>
          <p:nvPr/>
        </p:nvSpPr>
        <p:spPr>
          <a:xfrm>
            <a:off x="685800" y="1874520"/>
            <a:ext cx="5257800" cy="3977640"/>
          </a:xfrm>
          <a:prstGeom prst="roundRect">
            <a:avLst>
              <a:gd name="adj" fmla="val 2759"/>
            </a:avLst>
          </a:prstGeom>
          <a:solidFill>
            <a:schemeClr val="bg1"/>
          </a:solidFill>
          <a:ln/>
          <a:effectLst>
            <a:outerShdw sx="100000" sy="100000" kx="0" ky="0" algn="bl" rotWithShape="0" blurRad="177800" dist="38100" dir="5400000">
              <a:srgbClr val="0B1F2A">
                <a:alpha val="10000"/>
              </a:srgbClr>
            </a:outerShdw>
          </a:effectLst>
        </p:spPr>
      </p:sp>
      <p:sp>
        <p:nvSpPr>
          <p:cNvPr id="6" name="Icon disc"/>
          <p:cNvSpPr/>
          <p:nvPr/>
        </p:nvSpPr>
        <p:spPr>
          <a:xfrm>
            <a:off x="1051560" y="2240280"/>
            <a:ext cx="713232" cy="713232"/>
          </a:xfrm>
          <a:prstGeom prst="ellipse">
            <a:avLst/>
          </a:prstGeom>
          <a:solidFill>
            <a:schemeClr val="accent2"/>
          </a:solidFill>
          <a:ln/>
        </p:spPr>
      </p:sp>
      <p:pic>
        <p:nvPicPr>
          <p:cNvPr id="7" name="Image 0" descr="ScanFace icon">    </p:cNvPr>
          <p:cNvPicPr>
            <a:picLocks noChangeAspect="1"/>
          </p:cNvPicPr>
          <p:nvPr/>
        </p:nvPicPr>
        <p:blipFill>
          <a:blip r:embed="rId1"/>
          <a:stretch>
            <a:fillRect/>
          </a:stretch>
        </p:blipFill>
        <p:spPr>
          <a:xfrm>
            <a:off x="1229868" y="2418588"/>
            <a:ext cx="356616" cy="356616"/>
          </a:xfrm>
          <a:prstGeom prst="rect">
            <a:avLst/>
          </a:prstGeom>
        </p:spPr>
      </p:pic>
      <p:sp>
        <p:nvSpPr>
          <p:cNvPr id="8" name="Text 4"/>
          <p:cNvSpPr txBox="1"/>
          <p:nvPr/>
        </p:nvSpPr>
        <p:spPr>
          <a:xfrm>
            <a:off x="1947672" y="2258568"/>
            <a:ext cx="374904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AI identity fraud</a:t>
            </a:r>
            <a:endParaRPr lang="en-US" sz="2200" dirty="0"/>
          </a:p>
        </p:txBody>
      </p:sp>
      <p:sp>
        <p:nvSpPr>
          <p:cNvPr id="9" name="Text 5"/>
          <p:cNvSpPr txBox="1"/>
          <p:nvPr/>
        </p:nvSpPr>
        <p:spPr>
          <a:xfrm>
            <a:off x="1947672" y="2697480"/>
            <a:ext cx="3749040" cy="594360"/>
          </a:xfrm>
          <a:prstGeom prst="rect">
            <a:avLst/>
          </a:prstGeom>
          <a:noFill/>
          <a:ln/>
        </p:spPr>
        <p:txBody>
          <a:bodyPr wrap="square" lIns="0" tIns="0" rIns="0" bIns="0" rtlCol="0" anchor="t"/>
          <a:lstStyle/>
          <a:p>
            <a:pPr indent="0" marL="0">
              <a:buNone/>
            </a:pPr>
            <a:r>
              <a:rPr lang="en-US" sz="1300" i="1" dirty="0">
                <a:solidFill>
                  <a:schemeClr val="tx2"/>
                </a:solidFill>
              </a:rPr>
              <a:t>Synthetic documents and deepfake video calls can pass a quick remote check.</a:t>
            </a:r>
            <a:endParaRPr lang="en-US" sz="1300" dirty="0"/>
          </a:p>
        </p:txBody>
      </p:sp>
      <p:sp>
        <p:nvSpPr>
          <p:cNvPr id="10" name="Defence panel"/>
          <p:cNvSpPr/>
          <p:nvPr/>
        </p:nvSpPr>
        <p:spPr>
          <a:xfrm>
            <a:off x="960120" y="3520440"/>
            <a:ext cx="4709160" cy="2103120"/>
          </a:xfrm>
          <a:prstGeom prst="roundRect">
            <a:avLst>
              <a:gd name="adj" fmla="val 3478"/>
            </a:avLst>
          </a:prstGeom>
          <a:solidFill>
            <a:schemeClr val="bg2"/>
          </a:solidFill>
          <a:ln/>
        </p:spPr>
      </p:sp>
      <p:sp>
        <p:nvSpPr>
          <p:cNvPr id="11" name="Text 7"/>
          <p:cNvSpPr txBox="1"/>
          <p:nvPr/>
        </p:nvSpPr>
        <p:spPr>
          <a:xfrm>
            <a:off x="1188720" y="3703320"/>
            <a:ext cx="2743200" cy="256032"/>
          </a:xfrm>
          <a:prstGeom prst="rect">
            <a:avLst/>
          </a:prstGeom>
          <a:noFill/>
          <a:ln/>
        </p:spPr>
        <p:txBody>
          <a:bodyPr wrap="square" lIns="0" tIns="0" rIns="0" bIns="0" rtlCol="0" anchor="t"/>
          <a:lstStyle/>
          <a:p>
            <a:pPr indent="0" marL="0">
              <a:buNone/>
            </a:pPr>
            <a:r>
              <a:rPr lang="en-US" sz="1000" b="1" spc="300" kern="0" dirty="0">
                <a:solidFill>
                  <a:schemeClr val="accent1"/>
                </a:solidFill>
              </a:rPr>
              <a:t>OUR DEFENCE</a:t>
            </a:r>
            <a:endParaRPr lang="en-US" sz="1000" dirty="0"/>
          </a:p>
        </p:txBody>
      </p:sp>
      <p:sp>
        <p:nvSpPr>
          <p:cNvPr id="12" name="Text 8"/>
          <p:cNvSpPr txBox="1"/>
          <p:nvPr/>
        </p:nvSpPr>
        <p:spPr>
          <a:xfrm>
            <a:off x="1188720" y="4023360"/>
            <a:ext cx="4251960" cy="150876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chemeClr val="tx1"/>
                </a:solidFill>
              </a:rPr>
              <a:t>Verify through reliable, independent sources</a:t>
            </a:r>
            <a:endParaRPr lang="en-US" sz="1450" dirty="0"/>
          </a:p>
          <a:p>
            <a:pPr marL="203200" indent="-203200">
              <a:spcAft>
                <a:spcPts val="900"/>
              </a:spcAft>
              <a:buSzPct val="100000"/>
              <a:buChar char="•"/>
            </a:pPr>
            <a:r>
              <a:rPr lang="en-US" sz="1450" dirty="0">
                <a:solidFill>
                  <a:schemeClr val="tx1"/>
                </a:solidFill>
              </a:rPr>
              <a:t>Use certified copies or approved e-verification</a:t>
            </a:r>
            <a:endParaRPr lang="en-US" sz="1450" dirty="0"/>
          </a:p>
          <a:p>
            <a:pPr marL="203200" indent="-203200">
              <a:spcAft>
                <a:spcPts val="900"/>
              </a:spcAft>
              <a:buSzPct val="100000"/>
              <a:buChar char="•"/>
            </a:pPr>
            <a:r>
              <a:rPr lang="en-US" sz="1450" dirty="0">
                <a:solidFill>
                  <a:schemeClr val="tx1"/>
                </a:solidFill>
              </a:rPr>
              <a:t>Watch for odd lighting, lag or reluctance to move on camera</a:t>
            </a:r>
            <a:endParaRPr lang="en-US" sz="1450" dirty="0"/>
          </a:p>
        </p:txBody>
      </p:sp>
      <p:sp>
        <p:nvSpPr>
          <p:cNvPr id="13" name="Spotlight card"/>
          <p:cNvSpPr/>
          <p:nvPr/>
        </p:nvSpPr>
        <p:spPr>
          <a:xfrm>
            <a:off x="6245352" y="1874520"/>
            <a:ext cx="5257800" cy="3977640"/>
          </a:xfrm>
          <a:prstGeom prst="roundRect">
            <a:avLst>
              <a:gd name="adj" fmla="val 2759"/>
            </a:avLst>
          </a:prstGeom>
          <a:solidFill>
            <a:schemeClr val="bg1"/>
          </a:solidFill>
          <a:ln/>
          <a:effectLst>
            <a:outerShdw sx="100000" sy="100000" kx="0" ky="0" algn="bl" rotWithShape="0" blurRad="177800" dist="38100" dir="5400000">
              <a:srgbClr val="0B1F2A">
                <a:alpha val="10000"/>
              </a:srgbClr>
            </a:outerShdw>
          </a:effectLst>
        </p:spPr>
      </p:sp>
      <p:sp>
        <p:nvSpPr>
          <p:cNvPr id="14" name="Icon disc"/>
          <p:cNvSpPr/>
          <p:nvPr/>
        </p:nvSpPr>
        <p:spPr>
          <a:xfrm>
            <a:off x="6611112" y="2240280"/>
            <a:ext cx="713232" cy="713232"/>
          </a:xfrm>
          <a:prstGeom prst="ellipse">
            <a:avLst/>
          </a:prstGeom>
          <a:solidFill>
            <a:schemeClr val="accent2"/>
          </a:solidFill>
          <a:ln/>
        </p:spPr>
      </p:sp>
      <p:pic>
        <p:nvPicPr>
          <p:cNvPr id="15" name="Image 1" descr="Mail icon">    </p:cNvPr>
          <p:cNvPicPr>
            <a:picLocks noChangeAspect="1"/>
          </p:cNvPicPr>
          <p:nvPr/>
        </p:nvPicPr>
        <p:blipFill>
          <a:blip r:embed="rId2"/>
          <a:stretch>
            <a:fillRect/>
          </a:stretch>
        </p:blipFill>
        <p:spPr>
          <a:xfrm>
            <a:off x="6789420" y="2418588"/>
            <a:ext cx="356616" cy="356616"/>
          </a:xfrm>
          <a:prstGeom prst="rect">
            <a:avLst/>
          </a:prstGeom>
        </p:spPr>
      </p:pic>
      <p:sp>
        <p:nvSpPr>
          <p:cNvPr id="16" name="Text 11"/>
          <p:cNvSpPr txBox="1"/>
          <p:nvPr/>
        </p:nvSpPr>
        <p:spPr>
          <a:xfrm>
            <a:off x="7507224" y="2258568"/>
            <a:ext cx="374904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Email payment fraud</a:t>
            </a:r>
            <a:endParaRPr lang="en-US" sz="2200" dirty="0"/>
          </a:p>
        </p:txBody>
      </p:sp>
      <p:sp>
        <p:nvSpPr>
          <p:cNvPr id="17" name="Text 12"/>
          <p:cNvSpPr txBox="1"/>
          <p:nvPr/>
        </p:nvSpPr>
        <p:spPr>
          <a:xfrm>
            <a:off x="7507224" y="2697480"/>
            <a:ext cx="3749040" cy="594360"/>
          </a:xfrm>
          <a:prstGeom prst="rect">
            <a:avLst/>
          </a:prstGeom>
          <a:noFill/>
          <a:ln/>
        </p:spPr>
        <p:txBody>
          <a:bodyPr wrap="square" lIns="0" tIns="0" rIns="0" bIns="0" rtlCol="0" anchor="t"/>
          <a:lstStyle/>
          <a:p>
            <a:pPr indent="0" marL="0">
              <a:buNone/>
            </a:pPr>
            <a:r>
              <a:rPr lang="en-US" sz="1300" i="1" dirty="0">
                <a:solidFill>
                  <a:schemeClr val="tx2"/>
                </a:solidFill>
              </a:rPr>
              <a:t>Fraudsters spoof or hijack emails to redirect completion funds.</a:t>
            </a:r>
            <a:endParaRPr lang="en-US" sz="1300" dirty="0"/>
          </a:p>
        </p:txBody>
      </p:sp>
      <p:sp>
        <p:nvSpPr>
          <p:cNvPr id="18" name="Defence panel"/>
          <p:cNvSpPr/>
          <p:nvPr/>
        </p:nvSpPr>
        <p:spPr>
          <a:xfrm>
            <a:off x="6519672" y="3520440"/>
            <a:ext cx="4709160" cy="2103120"/>
          </a:xfrm>
          <a:prstGeom prst="roundRect">
            <a:avLst>
              <a:gd name="adj" fmla="val 3478"/>
            </a:avLst>
          </a:prstGeom>
          <a:solidFill>
            <a:schemeClr val="bg2"/>
          </a:solidFill>
          <a:ln/>
        </p:spPr>
      </p:sp>
      <p:sp>
        <p:nvSpPr>
          <p:cNvPr id="19" name="Text 14"/>
          <p:cNvSpPr txBox="1"/>
          <p:nvPr/>
        </p:nvSpPr>
        <p:spPr>
          <a:xfrm>
            <a:off x="6748272" y="3703320"/>
            <a:ext cx="2743200" cy="256032"/>
          </a:xfrm>
          <a:prstGeom prst="rect">
            <a:avLst/>
          </a:prstGeom>
          <a:noFill/>
          <a:ln/>
        </p:spPr>
        <p:txBody>
          <a:bodyPr wrap="square" lIns="0" tIns="0" rIns="0" bIns="0" rtlCol="0" anchor="t"/>
          <a:lstStyle/>
          <a:p>
            <a:pPr indent="0" marL="0">
              <a:buNone/>
            </a:pPr>
            <a:r>
              <a:rPr lang="en-US" sz="1000" b="1" spc="300" kern="0" dirty="0">
                <a:solidFill>
                  <a:schemeClr val="accent1"/>
                </a:solidFill>
              </a:rPr>
              <a:t>OUR DEFENCE</a:t>
            </a:r>
            <a:endParaRPr lang="en-US" sz="1000" dirty="0"/>
          </a:p>
        </p:txBody>
      </p:sp>
      <p:sp>
        <p:nvSpPr>
          <p:cNvPr id="20" name="Text 15"/>
          <p:cNvSpPr txBox="1"/>
          <p:nvPr/>
        </p:nvSpPr>
        <p:spPr>
          <a:xfrm>
            <a:off x="6748272" y="4023360"/>
            <a:ext cx="4251960" cy="150876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chemeClr val="tx1"/>
                </a:solidFill>
              </a:rPr>
              <a:t>Never act on bank details received only by email</a:t>
            </a:r>
            <a:endParaRPr lang="en-US" sz="1450" dirty="0"/>
          </a:p>
          <a:p>
            <a:pPr marL="203200" indent="-203200">
              <a:spcAft>
                <a:spcPts val="900"/>
              </a:spcAft>
              <a:buSzPct val="100000"/>
              <a:buChar char="•"/>
            </a:pPr>
            <a:r>
              <a:rPr lang="en-US" sz="1450" dirty="0">
                <a:solidFill>
                  <a:schemeClr val="tx1"/>
                </a:solidFill>
              </a:rPr>
              <a:t>Call back on a number you already hold</a:t>
            </a:r>
            <a:endParaRPr lang="en-US" sz="1450" dirty="0"/>
          </a:p>
          <a:p>
            <a:pPr marL="203200" indent="-203200">
              <a:spcAft>
                <a:spcPts val="900"/>
              </a:spcAft>
              <a:buSzPct val="100000"/>
              <a:buChar char="•"/>
            </a:pPr>
            <a:r>
              <a:rPr lang="en-US" sz="1450" dirty="0">
                <a:solidFill>
                  <a:schemeClr val="tx1"/>
                </a:solidFill>
              </a:rPr>
              <a:t>Treat any late change of details as a red flag</a:t>
            </a:r>
            <a:endParaRPr lang="en-US" sz="14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685800" y="1097280"/>
            <a:ext cx="3657600" cy="1645920"/>
          </a:xfrm>
          <a:prstGeom prst="rect">
            <a:avLst/>
          </a:prstGeom>
          <a:noFill/>
          <a:ln/>
        </p:spPr>
        <p:txBody>
          <a:bodyPr wrap="square" lIns="0" tIns="0" rIns="0" bIns="0" rtlCol="0" anchor="b"/>
          <a:lstStyle/>
          <a:p>
            <a:pPr algn="l" indent="0" marL="0">
              <a:buNone/>
            </a:pPr>
            <a:r>
              <a:rPr lang="en-US" sz="11000" dirty="0">
                <a:solidFill>
                  <a:schemeClr val="accent1"/>
                </a:solidFill>
                <a:latin typeface="Cambria" pitchFamily="34" charset="0"/>
                <a:ea typeface="Cambria" pitchFamily="34" charset="-122"/>
                <a:cs typeface="Cambria" pitchFamily="34" charset="-120"/>
              </a:rPr>
              <a:t>04</a:t>
            </a:r>
            <a:endParaRPr lang="en-US" sz="11000" dirty="0"/>
          </a:p>
        </p:txBody>
      </p:sp>
      <p:sp>
        <p:nvSpPr>
          <p:cNvPr id="3" name="Text 2"/>
          <p:cNvSpPr/>
          <p:nvPr>
            <p:ph idx="103" type="title" hasCustomPrompt="1"/>
          </p:nvPr>
        </p:nvSpPr>
        <p:spPr>
          <a:xfrm>
            <a:off x="685800" y="2880360"/>
            <a:ext cx="8229600" cy="1188720"/>
          </a:xfrm>
          <a:prstGeom prst="rect">
            <a:avLst/>
          </a:prstGeom>
          <a:noFill/>
          <a:ln/>
        </p:spPr>
        <p:txBody>
          <a:bodyPr wrap="square" lIns="0" tIns="0" rIns="0" bIns="0" rtlCol="0" anchor="t"/>
          <a:lstStyle/>
          <a:p>
            <a:pPr algn="l" indent="0" marL="0">
              <a:buNone/>
            </a:pPr>
            <a:r>
              <a:rPr lang="en-US" sz="4400" dirty="0">
                <a:solidFill>
                  <a:schemeClr val="bg1"/>
                </a:solidFill>
                <a:latin typeface="Cambria" pitchFamily="34" charset="0"/>
                <a:ea typeface="Cambria" pitchFamily="34" charset="-122"/>
                <a:cs typeface="Cambria" pitchFamily="34" charset="-120"/>
              </a:rPr>
              <a:t>Case studies</a:t>
            </a:r>
            <a:endParaRPr lang="en-US" sz="4400" dirty="0"/>
          </a:p>
        </p:txBody>
      </p:sp>
      <p:sp>
        <p:nvSpPr>
          <p:cNvPr id="4" name="Text 2"/>
          <p:cNvSpPr/>
          <p:nvPr>
            <p:ph idx="104" type="body" hasCustomPrompt="1"/>
          </p:nvPr>
        </p:nvSpPr>
        <p:spPr>
          <a:xfrm>
            <a:off x="685800" y="4160520"/>
            <a:ext cx="6583680" cy="1097280"/>
          </a:xfrm>
          <a:prstGeom prst="rect">
            <a:avLst/>
          </a:prstGeom>
          <a:noFill/>
          <a:ln/>
        </p:spPr>
        <p:txBody>
          <a:bodyPr wrap="square" lIns="0" tIns="0" rIns="0" bIns="0" rtlCol="0" anchor="t"/>
          <a:lstStyle/>
          <a:p>
            <a:pPr algn="l" indent="0" marL="0">
              <a:buNone/>
            </a:pPr>
            <a:r>
              <a:rPr lang="en-US" sz="1800" dirty="0">
                <a:solidFill>
                  <a:schemeClr val="accent6"/>
                </a:solidFill>
              </a:rPr>
              <a:t>Four realistic scenarios. Discuss in your table groups before we reveal the debrief.</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04 · CASE STUDY 1</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The villa in a hurry</a:t>
            </a:r>
            <a:endParaRPr lang="en-US" sz="3400" dirty="0"/>
          </a:p>
        </p:txBody>
      </p:sp>
      <p:sp>
        <p:nvSpPr>
          <p:cNvPr id="5" name="Case panel"/>
          <p:cNvSpPr/>
          <p:nvPr/>
        </p:nvSpPr>
        <p:spPr>
          <a:xfrm>
            <a:off x="685800" y="1828800"/>
            <a:ext cx="3017520" cy="4069080"/>
          </a:xfrm>
          <a:prstGeom prst="roundRect">
            <a:avLst>
              <a:gd name="adj" fmla="val 3636"/>
            </a:avLst>
          </a:prstGeom>
          <a:solidFill>
            <a:schemeClr val="tx1"/>
          </a:solidFill>
          <a:ln/>
          <a:effectLst>
            <a:outerShdw sx="100000" sy="100000" kx="0" ky="0" algn="bl" rotWithShape="0" blurRad="177800" dist="38100" dir="5400000">
              <a:srgbClr val="0B1F2A">
                <a:alpha val="10000"/>
              </a:srgbClr>
            </a:outerShdw>
          </a:effectLst>
        </p:spPr>
      </p:sp>
      <p:sp>
        <p:nvSpPr>
          <p:cNvPr id="6" name="Text 3"/>
          <p:cNvSpPr txBox="1"/>
          <p:nvPr/>
        </p:nvSpPr>
        <p:spPr>
          <a:xfrm>
            <a:off x="1051560" y="2148840"/>
            <a:ext cx="1828800" cy="274320"/>
          </a:xfrm>
          <a:prstGeom prst="rect">
            <a:avLst/>
          </a:prstGeom>
          <a:noFill/>
          <a:ln/>
        </p:spPr>
        <p:txBody>
          <a:bodyPr wrap="square" lIns="0" tIns="0" rIns="0" bIns="0" rtlCol="0" anchor="t"/>
          <a:lstStyle/>
          <a:p>
            <a:pPr indent="0" marL="0">
              <a:buNone/>
            </a:pPr>
            <a:r>
              <a:rPr lang="en-US" sz="1100" b="1" spc="400" kern="0" dirty="0">
                <a:solidFill>
                  <a:schemeClr val="accent5"/>
                </a:solidFill>
              </a:rPr>
              <a:t>CASE</a:t>
            </a:r>
            <a:endParaRPr lang="en-US" sz="1100" dirty="0"/>
          </a:p>
        </p:txBody>
      </p:sp>
      <p:sp>
        <p:nvSpPr>
          <p:cNvPr id="7" name="Text 4"/>
          <p:cNvSpPr txBox="1"/>
          <p:nvPr/>
        </p:nvSpPr>
        <p:spPr>
          <a:xfrm>
            <a:off x="1051560" y="2423160"/>
            <a:ext cx="2194560" cy="1371600"/>
          </a:xfrm>
          <a:prstGeom prst="rect">
            <a:avLst/>
          </a:prstGeom>
          <a:noFill/>
          <a:ln/>
        </p:spPr>
        <p:txBody>
          <a:bodyPr wrap="square" lIns="0" tIns="0" rIns="0" bIns="0" rtlCol="0" anchor="t"/>
          <a:lstStyle/>
          <a:p>
            <a:pPr indent="0" marL="0">
              <a:buNone/>
            </a:pPr>
            <a:r>
              <a:rPr lang="en-US" sz="9600" dirty="0">
                <a:solidFill>
                  <a:schemeClr val="bg1"/>
                </a:solidFill>
                <a:latin typeface="Cambria" pitchFamily="34" charset="0"/>
                <a:ea typeface="Cambria" pitchFamily="34" charset="-122"/>
                <a:cs typeface="Cambria" pitchFamily="34" charset="-120"/>
              </a:rPr>
              <a:t>01</a:t>
            </a:r>
            <a:endParaRPr lang="en-US" sz="9600" dirty="0"/>
          </a:p>
        </p:txBody>
      </p:sp>
      <p:sp>
        <p:nvSpPr>
          <p:cNvPr id="8" name="Icon disc"/>
          <p:cNvSpPr/>
          <p:nvPr/>
        </p:nvSpPr>
        <p:spPr>
          <a:xfrm>
            <a:off x="1051560" y="4800600"/>
            <a:ext cx="731520" cy="731520"/>
          </a:xfrm>
          <a:prstGeom prst="ellipse">
            <a:avLst/>
          </a:prstGeom>
          <a:solidFill>
            <a:schemeClr val="accent2"/>
          </a:solidFill>
          <a:ln/>
        </p:spPr>
      </p:sp>
      <p:pic>
        <p:nvPicPr>
          <p:cNvPr id="9" name="Image 0" descr="House icon">    </p:cNvPr>
          <p:cNvPicPr>
            <a:picLocks noChangeAspect="1"/>
          </p:cNvPicPr>
          <p:nvPr/>
        </p:nvPicPr>
        <p:blipFill>
          <a:blip r:embed="rId1"/>
          <a:stretch>
            <a:fillRect/>
          </a:stretch>
        </p:blipFill>
        <p:spPr>
          <a:xfrm>
            <a:off x="1234440" y="4983480"/>
            <a:ext cx="365760" cy="365760"/>
          </a:xfrm>
          <a:prstGeom prst="rect">
            <a:avLst/>
          </a:prstGeom>
        </p:spPr>
      </p:pic>
      <p:sp>
        <p:nvSpPr>
          <p:cNvPr id="10" name="Text 6"/>
          <p:cNvSpPr txBox="1"/>
          <p:nvPr/>
        </p:nvSpPr>
        <p:spPr>
          <a:xfrm>
            <a:off x="4114800" y="1828800"/>
            <a:ext cx="7360920" cy="2103120"/>
          </a:xfrm>
          <a:prstGeom prst="rect">
            <a:avLst/>
          </a:prstGeom>
          <a:noFill/>
          <a:ln/>
        </p:spPr>
        <p:txBody>
          <a:bodyPr wrap="square" lIns="0" tIns="0" rIns="0" bIns="0" rtlCol="0" anchor="t"/>
          <a:lstStyle/>
          <a:p>
            <a:pPr indent="0" marL="0">
              <a:lnSpc>
                <a:spcPct val="115000"/>
              </a:lnSpc>
              <a:buNone/>
            </a:pPr>
            <a:r>
              <a:rPr lang="en-US" sz="1700" dirty="0">
                <a:solidFill>
                  <a:schemeClr val="tx1"/>
                </a:solidFill>
                <a:latin typeface="Cambria" pitchFamily="34" charset="0"/>
                <a:ea typeface="Cambria" pitchFamily="34" charset="-122"/>
                <a:cs typeface="Cambria" pitchFamily="34" charset="-120"/>
              </a:rPr>
              <a:t>A new overseas client wants to buy a $6.5m beachfront villa and complete within ten days. The deposit arrives from a company in a third country with no obvious link to the buyer. He offers above the asking price, asks if part of the balance can be paid in crypto, and seems irritated by questions.</a:t>
            </a:r>
            <a:endParaRPr lang="en-US" sz="1700" dirty="0"/>
          </a:p>
        </p:txBody>
      </p:sp>
      <p:sp>
        <p:nvSpPr>
          <p:cNvPr id="11" name="Text 7"/>
          <p:cNvSpPr txBox="1"/>
          <p:nvPr/>
        </p:nvSpPr>
        <p:spPr>
          <a:xfrm>
            <a:off x="4114800" y="4041648"/>
            <a:ext cx="2743200" cy="256032"/>
          </a:xfrm>
          <a:prstGeom prst="rect">
            <a:avLst/>
          </a:prstGeom>
          <a:noFill/>
          <a:ln/>
        </p:spPr>
        <p:txBody>
          <a:bodyPr wrap="square" lIns="0" tIns="0" rIns="0" bIns="0" rtlCol="0" anchor="t"/>
          <a:lstStyle/>
          <a:p>
            <a:pPr indent="0" marL="0">
              <a:buNone/>
            </a:pPr>
            <a:r>
              <a:rPr lang="en-US" sz="1000" b="1" spc="300" kern="0" dirty="0">
                <a:solidFill>
                  <a:schemeClr val="accent1"/>
                </a:solidFill>
              </a:rPr>
              <a:t>DISCUSS</a:t>
            </a:r>
            <a:endParaRPr lang="en-US" sz="1000" dirty="0"/>
          </a:p>
        </p:txBody>
      </p:sp>
      <p:sp>
        <p:nvSpPr>
          <p:cNvPr id="12" name="Question card"/>
          <p:cNvSpPr/>
          <p:nvPr/>
        </p:nvSpPr>
        <p:spPr>
          <a:xfrm>
            <a:off x="4114800" y="4389120"/>
            <a:ext cx="2359152" cy="1508760"/>
          </a:xfrm>
          <a:prstGeom prst="roundRect">
            <a:avLst>
              <a:gd name="adj" fmla="val 7273"/>
            </a:avLst>
          </a:prstGeom>
          <a:solidFill>
            <a:schemeClr val="bg2"/>
          </a:solidFill>
          <a:ln/>
        </p:spPr>
      </p:sp>
      <p:pic>
        <p:nvPicPr>
          <p:cNvPr id="13" name="Image 1" descr="question">    </p:cNvPr>
          <p:cNvPicPr>
            <a:picLocks noChangeAspect="1"/>
          </p:cNvPicPr>
          <p:nvPr/>
        </p:nvPicPr>
        <p:blipFill>
          <a:blip r:embed="rId2"/>
          <a:stretch>
            <a:fillRect/>
          </a:stretch>
        </p:blipFill>
        <p:spPr>
          <a:xfrm>
            <a:off x="4343400" y="4572000"/>
            <a:ext cx="310896" cy="310896"/>
          </a:xfrm>
          <a:prstGeom prst="rect">
            <a:avLst/>
          </a:prstGeom>
        </p:spPr>
      </p:pic>
      <p:sp>
        <p:nvSpPr>
          <p:cNvPr id="14" name="Text 9"/>
          <p:cNvSpPr txBox="1"/>
          <p:nvPr/>
        </p:nvSpPr>
        <p:spPr>
          <a:xfrm>
            <a:off x="4343400" y="4956048"/>
            <a:ext cx="1920240" cy="822960"/>
          </a:xfrm>
          <a:prstGeom prst="rect">
            <a:avLst/>
          </a:prstGeom>
          <a:noFill/>
          <a:ln/>
        </p:spPr>
        <p:txBody>
          <a:bodyPr wrap="square" lIns="0" tIns="0" rIns="0" bIns="0" rtlCol="0" anchor="t"/>
          <a:lstStyle/>
          <a:p>
            <a:pPr indent="0" marL="0">
              <a:buNone/>
            </a:pPr>
            <a:r>
              <a:rPr lang="en-US" sz="1350" dirty="0">
                <a:solidFill>
                  <a:schemeClr val="tx1"/>
                </a:solidFill>
              </a:rPr>
              <a:t>What concerns you?</a:t>
            </a:r>
            <a:endParaRPr lang="en-US" sz="1350" dirty="0"/>
          </a:p>
        </p:txBody>
      </p:sp>
      <p:sp>
        <p:nvSpPr>
          <p:cNvPr id="15" name="Question card"/>
          <p:cNvSpPr/>
          <p:nvPr/>
        </p:nvSpPr>
        <p:spPr>
          <a:xfrm>
            <a:off x="6629400" y="4389120"/>
            <a:ext cx="2359152" cy="1508760"/>
          </a:xfrm>
          <a:prstGeom prst="roundRect">
            <a:avLst>
              <a:gd name="adj" fmla="val 7273"/>
            </a:avLst>
          </a:prstGeom>
          <a:solidFill>
            <a:schemeClr val="bg2"/>
          </a:solidFill>
          <a:ln/>
        </p:spPr>
      </p:sp>
      <p:pic>
        <p:nvPicPr>
          <p:cNvPr id="16" name="Image 2" descr="question">    </p:cNvPr>
          <p:cNvPicPr>
            <a:picLocks noChangeAspect="1"/>
          </p:cNvPicPr>
          <p:nvPr/>
        </p:nvPicPr>
        <p:blipFill>
          <a:blip r:embed="rId3"/>
          <a:stretch>
            <a:fillRect/>
          </a:stretch>
        </p:blipFill>
        <p:spPr>
          <a:xfrm>
            <a:off x="6858000" y="4572000"/>
            <a:ext cx="310896" cy="310896"/>
          </a:xfrm>
          <a:prstGeom prst="rect">
            <a:avLst/>
          </a:prstGeom>
        </p:spPr>
      </p:pic>
      <p:sp>
        <p:nvSpPr>
          <p:cNvPr id="17" name="Text 11"/>
          <p:cNvSpPr txBox="1"/>
          <p:nvPr/>
        </p:nvSpPr>
        <p:spPr>
          <a:xfrm>
            <a:off x="6858000" y="4956048"/>
            <a:ext cx="1920240" cy="822960"/>
          </a:xfrm>
          <a:prstGeom prst="rect">
            <a:avLst/>
          </a:prstGeom>
          <a:noFill/>
          <a:ln/>
        </p:spPr>
        <p:txBody>
          <a:bodyPr wrap="square" lIns="0" tIns="0" rIns="0" bIns="0" rtlCol="0" anchor="t"/>
          <a:lstStyle/>
          <a:p>
            <a:pPr indent="0" marL="0">
              <a:buNone/>
            </a:pPr>
            <a:r>
              <a:rPr lang="en-US" sz="1350" dirty="0">
                <a:solidFill>
                  <a:schemeClr val="tx1"/>
                </a:solidFill>
              </a:rPr>
              <a:t>What do you need before going further?</a:t>
            </a:r>
            <a:endParaRPr lang="en-US" sz="1350" dirty="0"/>
          </a:p>
        </p:txBody>
      </p:sp>
      <p:sp>
        <p:nvSpPr>
          <p:cNvPr id="18" name="Question card"/>
          <p:cNvSpPr/>
          <p:nvPr/>
        </p:nvSpPr>
        <p:spPr>
          <a:xfrm>
            <a:off x="9144000" y="4389120"/>
            <a:ext cx="2359152" cy="1508760"/>
          </a:xfrm>
          <a:prstGeom prst="roundRect">
            <a:avLst>
              <a:gd name="adj" fmla="val 7273"/>
            </a:avLst>
          </a:prstGeom>
          <a:solidFill>
            <a:schemeClr val="bg2"/>
          </a:solidFill>
          <a:ln/>
        </p:spPr>
      </p:sp>
      <p:pic>
        <p:nvPicPr>
          <p:cNvPr id="19" name="Image 3" descr="question">    </p:cNvPr>
          <p:cNvPicPr>
            <a:picLocks noChangeAspect="1"/>
          </p:cNvPicPr>
          <p:nvPr/>
        </p:nvPicPr>
        <p:blipFill>
          <a:blip r:embed="rId4"/>
          <a:stretch>
            <a:fillRect/>
          </a:stretch>
        </p:blipFill>
        <p:spPr>
          <a:xfrm>
            <a:off x="9372600" y="4572000"/>
            <a:ext cx="310896" cy="310896"/>
          </a:xfrm>
          <a:prstGeom prst="rect">
            <a:avLst/>
          </a:prstGeom>
        </p:spPr>
      </p:pic>
      <p:sp>
        <p:nvSpPr>
          <p:cNvPr id="20" name="Text 13"/>
          <p:cNvSpPr txBox="1"/>
          <p:nvPr/>
        </p:nvSpPr>
        <p:spPr>
          <a:xfrm>
            <a:off x="9372600" y="4956048"/>
            <a:ext cx="1920240" cy="822960"/>
          </a:xfrm>
          <a:prstGeom prst="rect">
            <a:avLst/>
          </a:prstGeom>
          <a:noFill/>
          <a:ln/>
        </p:spPr>
        <p:txBody>
          <a:bodyPr wrap="square" lIns="0" tIns="0" rIns="0" bIns="0" rtlCol="0" anchor="t"/>
          <a:lstStyle/>
          <a:p>
            <a:pPr indent="0" marL="0">
              <a:buNone/>
            </a:pPr>
            <a:r>
              <a:rPr lang="en-US" sz="1350" dirty="0">
                <a:solidFill>
                  <a:schemeClr val="tx1"/>
                </a:solidFill>
              </a:rPr>
              <a:t>What do you tell the client?</a:t>
            </a:r>
            <a:endParaRPr lang="en-US" sz="13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04 · CASE STUDY 1 · DEBRIEF</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The villa in a hurry</a:t>
            </a:r>
            <a:endParaRPr lang="en-US" sz="3400" dirty="0"/>
          </a:p>
        </p:txBody>
      </p:sp>
      <p:sp>
        <p:nvSpPr>
          <p:cNvPr id="5" name="Debrief card"/>
          <p:cNvSpPr/>
          <p:nvPr/>
        </p:nvSpPr>
        <p:spPr>
          <a:xfrm>
            <a:off x="685800" y="1828800"/>
            <a:ext cx="3401568" cy="365760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6" name="Icon disc"/>
          <p:cNvSpPr/>
          <p:nvPr/>
        </p:nvSpPr>
        <p:spPr>
          <a:xfrm>
            <a:off x="1005840" y="2148840"/>
            <a:ext cx="548640" cy="548640"/>
          </a:xfrm>
          <a:prstGeom prst="ellipse">
            <a:avLst/>
          </a:prstGeom>
          <a:solidFill>
            <a:schemeClr val="accent2"/>
          </a:solidFill>
          <a:ln/>
        </p:spPr>
      </p:sp>
      <p:pic>
        <p:nvPicPr>
          <p:cNvPr id="7" name="Image 0" descr="Flag icon">    </p:cNvPr>
          <p:cNvPicPr>
            <a:picLocks noChangeAspect="1"/>
          </p:cNvPicPr>
          <p:nvPr/>
        </p:nvPicPr>
        <p:blipFill>
          <a:blip r:embed="rId1"/>
          <a:stretch>
            <a:fillRect/>
          </a:stretch>
        </p:blipFill>
        <p:spPr>
          <a:xfrm>
            <a:off x="1143000" y="2286000"/>
            <a:ext cx="274320" cy="274320"/>
          </a:xfrm>
          <a:prstGeom prst="rect">
            <a:avLst/>
          </a:prstGeom>
        </p:spPr>
      </p:pic>
      <p:sp>
        <p:nvSpPr>
          <p:cNvPr id="8" name="Text 4"/>
          <p:cNvSpPr txBox="1"/>
          <p:nvPr/>
        </p:nvSpPr>
        <p:spPr>
          <a:xfrm>
            <a:off x="1691640" y="2148840"/>
            <a:ext cx="2212848"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Warning signs</a:t>
            </a:r>
            <a:endParaRPr lang="en-US" sz="1700" dirty="0"/>
          </a:p>
        </p:txBody>
      </p:sp>
      <p:sp>
        <p:nvSpPr>
          <p:cNvPr id="9" name="Text 5"/>
          <p:cNvSpPr txBox="1"/>
          <p:nvPr/>
        </p:nvSpPr>
        <p:spPr>
          <a:xfrm>
            <a:off x="1005840" y="2971800"/>
            <a:ext cx="2761488" cy="237744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chemeClr val="tx2"/>
                </a:solidFill>
              </a:rPr>
              <a:t>Urgency and indifference to price</a:t>
            </a:r>
            <a:endParaRPr lang="en-US" sz="1450" dirty="0"/>
          </a:p>
          <a:p>
            <a:pPr marL="203200" indent="-203200">
              <a:spcAft>
                <a:spcPts val="1000"/>
              </a:spcAft>
              <a:buSzPct val="100000"/>
              <a:buChar char="•"/>
            </a:pPr>
            <a:r>
              <a:rPr lang="en-US" sz="1450" dirty="0">
                <a:solidFill>
                  <a:schemeClr val="tx2"/>
                </a:solidFill>
              </a:rPr>
              <a:t>Third-party funding with no clear link</a:t>
            </a:r>
            <a:endParaRPr lang="en-US" sz="1450" dirty="0"/>
          </a:p>
          <a:p>
            <a:pPr marL="203200" indent="-203200">
              <a:spcAft>
                <a:spcPts val="1000"/>
              </a:spcAft>
              <a:buSzPct val="100000"/>
              <a:buChar char="•"/>
            </a:pPr>
            <a:r>
              <a:rPr lang="en-US" sz="1450" dirty="0">
                <a:solidFill>
                  <a:schemeClr val="tx2"/>
                </a:solidFill>
              </a:rPr>
              <a:t>A request to pay in crypto</a:t>
            </a:r>
            <a:endParaRPr lang="en-US" sz="1450" dirty="0"/>
          </a:p>
          <a:p>
            <a:pPr marL="203200" indent="-203200">
              <a:spcAft>
                <a:spcPts val="1000"/>
              </a:spcAft>
              <a:buSzPct val="100000"/>
              <a:buChar char="•"/>
            </a:pPr>
            <a:r>
              <a:rPr lang="en-US" sz="1450" dirty="0">
                <a:solidFill>
                  <a:schemeClr val="tx2"/>
                </a:solidFill>
              </a:rPr>
              <a:t>Resistance to routine questions</a:t>
            </a:r>
            <a:endParaRPr lang="en-US" sz="1450" dirty="0"/>
          </a:p>
        </p:txBody>
      </p:sp>
      <p:sp>
        <p:nvSpPr>
          <p:cNvPr id="10" name="Debrief card"/>
          <p:cNvSpPr/>
          <p:nvPr/>
        </p:nvSpPr>
        <p:spPr>
          <a:xfrm>
            <a:off x="4393692" y="1828800"/>
            <a:ext cx="3401568" cy="365760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11" name="Icon disc"/>
          <p:cNvSpPr/>
          <p:nvPr/>
        </p:nvSpPr>
        <p:spPr>
          <a:xfrm>
            <a:off x="4713732" y="2148840"/>
            <a:ext cx="548640" cy="548640"/>
          </a:xfrm>
          <a:prstGeom prst="ellipse">
            <a:avLst/>
          </a:prstGeom>
          <a:solidFill>
            <a:schemeClr val="accent1"/>
          </a:solidFill>
          <a:ln/>
        </p:spPr>
      </p:sp>
      <p:pic>
        <p:nvPicPr>
          <p:cNvPr id="12" name="Image 1" descr="CircleCheck icon">    </p:cNvPr>
          <p:cNvPicPr>
            <a:picLocks noChangeAspect="1"/>
          </p:cNvPicPr>
          <p:nvPr/>
        </p:nvPicPr>
        <p:blipFill>
          <a:blip r:embed="rId2"/>
          <a:stretch>
            <a:fillRect/>
          </a:stretch>
        </p:blipFill>
        <p:spPr>
          <a:xfrm>
            <a:off x="4850892" y="2286000"/>
            <a:ext cx="274320" cy="274320"/>
          </a:xfrm>
          <a:prstGeom prst="rect">
            <a:avLst/>
          </a:prstGeom>
        </p:spPr>
      </p:pic>
      <p:sp>
        <p:nvSpPr>
          <p:cNvPr id="13" name="Text 8"/>
          <p:cNvSpPr txBox="1"/>
          <p:nvPr/>
        </p:nvSpPr>
        <p:spPr>
          <a:xfrm>
            <a:off x="5399532" y="2148840"/>
            <a:ext cx="2212848"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What good looks like</a:t>
            </a:r>
            <a:endParaRPr lang="en-US" sz="1700" dirty="0"/>
          </a:p>
        </p:txBody>
      </p:sp>
      <p:sp>
        <p:nvSpPr>
          <p:cNvPr id="14" name="Text 9"/>
          <p:cNvSpPr txBox="1"/>
          <p:nvPr/>
        </p:nvSpPr>
        <p:spPr>
          <a:xfrm>
            <a:off x="4713732" y="2971800"/>
            <a:ext cx="2761488" cy="237744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chemeClr val="tx2"/>
                </a:solidFill>
              </a:rPr>
              <a:t>Identify and verify the paying company and its owners</a:t>
            </a:r>
            <a:endParaRPr lang="en-US" sz="1450" dirty="0"/>
          </a:p>
          <a:p>
            <a:pPr marL="203200" indent="-203200">
              <a:spcAft>
                <a:spcPts val="1000"/>
              </a:spcAft>
              <a:buSzPct val="100000"/>
              <a:buChar char="•"/>
            </a:pPr>
            <a:r>
              <a:rPr lang="en-US" sz="1450" dirty="0">
                <a:solidFill>
                  <a:schemeClr val="tx2"/>
                </a:solidFill>
              </a:rPr>
              <a:t>Establish source of funds and source of wealth, including the crypto trail</a:t>
            </a:r>
            <a:endParaRPr lang="en-US" sz="1450" dirty="0"/>
          </a:p>
          <a:p>
            <a:pPr marL="203200" indent="-203200">
              <a:spcAft>
                <a:spcPts val="1000"/>
              </a:spcAft>
              <a:buSzPct val="100000"/>
              <a:buChar char="•"/>
            </a:pPr>
            <a:r>
              <a:rPr lang="en-US" sz="1450" dirty="0">
                <a:solidFill>
                  <a:schemeClr val="tx2"/>
                </a:solidFill>
              </a:rPr>
              <a:t>Apply EDD and get partner approval</a:t>
            </a:r>
            <a:endParaRPr lang="en-US" sz="1450" dirty="0"/>
          </a:p>
          <a:p>
            <a:pPr marL="203200" indent="-203200">
              <a:spcAft>
                <a:spcPts val="1000"/>
              </a:spcAft>
              <a:buSzPct val="100000"/>
              <a:buChar char="•"/>
            </a:pPr>
            <a:r>
              <a:rPr lang="en-US" sz="1450" dirty="0">
                <a:solidFill>
                  <a:schemeClr val="tx2"/>
                </a:solidFill>
              </a:rPr>
              <a:t>Report to the MLRO if it doesn't add up</a:t>
            </a:r>
            <a:endParaRPr lang="en-US" sz="1450" dirty="0"/>
          </a:p>
        </p:txBody>
      </p:sp>
      <p:sp>
        <p:nvSpPr>
          <p:cNvPr id="15" name="Debrief card"/>
          <p:cNvSpPr/>
          <p:nvPr/>
        </p:nvSpPr>
        <p:spPr>
          <a:xfrm>
            <a:off x="8101584" y="1828800"/>
            <a:ext cx="3401568" cy="365760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16" name="Icon disc"/>
          <p:cNvSpPr/>
          <p:nvPr/>
        </p:nvSpPr>
        <p:spPr>
          <a:xfrm>
            <a:off x="8421624" y="2148840"/>
            <a:ext cx="548640" cy="548640"/>
          </a:xfrm>
          <a:prstGeom prst="ellipse">
            <a:avLst/>
          </a:prstGeom>
          <a:solidFill>
            <a:schemeClr val="tx1"/>
          </a:solidFill>
          <a:ln/>
        </p:spPr>
      </p:sp>
      <p:pic>
        <p:nvPicPr>
          <p:cNvPr id="17" name="Image 2" descr="Ban icon">    </p:cNvPr>
          <p:cNvPicPr>
            <a:picLocks noChangeAspect="1"/>
          </p:cNvPicPr>
          <p:nvPr/>
        </p:nvPicPr>
        <p:blipFill>
          <a:blip r:embed="rId3"/>
          <a:stretch>
            <a:fillRect/>
          </a:stretch>
        </p:blipFill>
        <p:spPr>
          <a:xfrm>
            <a:off x="8558784" y="2286000"/>
            <a:ext cx="274320" cy="274320"/>
          </a:xfrm>
          <a:prstGeom prst="rect">
            <a:avLst/>
          </a:prstGeom>
        </p:spPr>
      </p:pic>
      <p:sp>
        <p:nvSpPr>
          <p:cNvPr id="18" name="Text 12"/>
          <p:cNvSpPr txBox="1"/>
          <p:nvPr/>
        </p:nvSpPr>
        <p:spPr>
          <a:xfrm>
            <a:off x="9107424" y="2148840"/>
            <a:ext cx="2212848"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What we must not do</a:t>
            </a:r>
            <a:endParaRPr lang="en-US" sz="1700" dirty="0"/>
          </a:p>
        </p:txBody>
      </p:sp>
      <p:sp>
        <p:nvSpPr>
          <p:cNvPr id="19" name="Text 13"/>
          <p:cNvSpPr txBox="1"/>
          <p:nvPr/>
        </p:nvSpPr>
        <p:spPr>
          <a:xfrm>
            <a:off x="8421624" y="2971800"/>
            <a:ext cx="2761488" cy="237744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chemeClr val="tx2"/>
                </a:solidFill>
              </a:rPr>
              <a:t>Proceed to meet the deadline while CDD is outstanding</a:t>
            </a:r>
            <a:endParaRPr lang="en-US" sz="1450" dirty="0"/>
          </a:p>
          <a:p>
            <a:pPr marL="203200" indent="-203200">
              <a:spcAft>
                <a:spcPts val="1000"/>
              </a:spcAft>
              <a:buSzPct val="100000"/>
              <a:buChar char="•"/>
            </a:pPr>
            <a:r>
              <a:rPr lang="en-US" sz="1450" dirty="0">
                <a:solidFill>
                  <a:schemeClr val="tx2"/>
                </a:solidFill>
              </a:rPr>
              <a:t>Return the deposit to the paying company without MLRO approval</a:t>
            </a:r>
            <a:endParaRPr lang="en-US" sz="1450" dirty="0"/>
          </a:p>
          <a:p>
            <a:pPr marL="203200" indent="-203200">
              <a:spcAft>
                <a:spcPts val="1000"/>
              </a:spcAft>
              <a:buSzPct val="100000"/>
              <a:buChar char="•"/>
            </a:pPr>
            <a:r>
              <a:rPr lang="en-US" sz="1450" dirty="0">
                <a:solidFill>
                  <a:schemeClr val="tx2"/>
                </a:solidFill>
              </a:rPr>
              <a:t>Explain that "compliance is concerned"</a:t>
            </a:r>
            <a:endParaRPr lang="en-US" sz="14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04 · CASE STUDY 2</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The generous settlor</a:t>
            </a:r>
            <a:endParaRPr lang="en-US" sz="3400" dirty="0"/>
          </a:p>
        </p:txBody>
      </p:sp>
      <p:sp>
        <p:nvSpPr>
          <p:cNvPr id="5" name="Case panel"/>
          <p:cNvSpPr/>
          <p:nvPr/>
        </p:nvSpPr>
        <p:spPr>
          <a:xfrm>
            <a:off x="685800" y="1828800"/>
            <a:ext cx="3017520" cy="4069080"/>
          </a:xfrm>
          <a:prstGeom prst="roundRect">
            <a:avLst>
              <a:gd name="adj" fmla="val 3636"/>
            </a:avLst>
          </a:prstGeom>
          <a:solidFill>
            <a:schemeClr val="tx1"/>
          </a:solidFill>
          <a:ln/>
          <a:effectLst>
            <a:outerShdw sx="100000" sy="100000" kx="0" ky="0" algn="bl" rotWithShape="0" blurRad="177800" dist="38100" dir="5400000">
              <a:srgbClr val="0B1F2A">
                <a:alpha val="10000"/>
              </a:srgbClr>
            </a:outerShdw>
          </a:effectLst>
        </p:spPr>
      </p:sp>
      <p:sp>
        <p:nvSpPr>
          <p:cNvPr id="6" name="Text 3"/>
          <p:cNvSpPr txBox="1"/>
          <p:nvPr/>
        </p:nvSpPr>
        <p:spPr>
          <a:xfrm>
            <a:off x="1051560" y="2148840"/>
            <a:ext cx="1828800" cy="274320"/>
          </a:xfrm>
          <a:prstGeom prst="rect">
            <a:avLst/>
          </a:prstGeom>
          <a:noFill/>
          <a:ln/>
        </p:spPr>
        <p:txBody>
          <a:bodyPr wrap="square" lIns="0" tIns="0" rIns="0" bIns="0" rtlCol="0" anchor="t"/>
          <a:lstStyle/>
          <a:p>
            <a:pPr indent="0" marL="0">
              <a:buNone/>
            </a:pPr>
            <a:r>
              <a:rPr lang="en-US" sz="1100" b="1" spc="400" kern="0" dirty="0">
                <a:solidFill>
                  <a:schemeClr val="accent5"/>
                </a:solidFill>
              </a:rPr>
              <a:t>CASE</a:t>
            </a:r>
            <a:endParaRPr lang="en-US" sz="1100" dirty="0"/>
          </a:p>
        </p:txBody>
      </p:sp>
      <p:sp>
        <p:nvSpPr>
          <p:cNvPr id="7" name="Text 4"/>
          <p:cNvSpPr txBox="1"/>
          <p:nvPr/>
        </p:nvSpPr>
        <p:spPr>
          <a:xfrm>
            <a:off x="1051560" y="2423160"/>
            <a:ext cx="2194560" cy="1371600"/>
          </a:xfrm>
          <a:prstGeom prst="rect">
            <a:avLst/>
          </a:prstGeom>
          <a:noFill/>
          <a:ln/>
        </p:spPr>
        <p:txBody>
          <a:bodyPr wrap="square" lIns="0" tIns="0" rIns="0" bIns="0" rtlCol="0" anchor="t"/>
          <a:lstStyle/>
          <a:p>
            <a:pPr indent="0" marL="0">
              <a:buNone/>
            </a:pPr>
            <a:r>
              <a:rPr lang="en-US" sz="9600" dirty="0">
                <a:solidFill>
                  <a:schemeClr val="bg1"/>
                </a:solidFill>
                <a:latin typeface="Cambria" pitchFamily="34" charset="0"/>
                <a:ea typeface="Cambria" pitchFamily="34" charset="-122"/>
                <a:cs typeface="Cambria" pitchFamily="34" charset="-120"/>
              </a:rPr>
              <a:t>02</a:t>
            </a:r>
            <a:endParaRPr lang="en-US" sz="9600" dirty="0"/>
          </a:p>
        </p:txBody>
      </p:sp>
      <p:sp>
        <p:nvSpPr>
          <p:cNvPr id="8" name="Icon disc"/>
          <p:cNvSpPr/>
          <p:nvPr/>
        </p:nvSpPr>
        <p:spPr>
          <a:xfrm>
            <a:off x="1051560" y="4800600"/>
            <a:ext cx="731520" cy="731520"/>
          </a:xfrm>
          <a:prstGeom prst="ellipse">
            <a:avLst/>
          </a:prstGeom>
          <a:solidFill>
            <a:schemeClr val="accent2"/>
          </a:solidFill>
          <a:ln/>
        </p:spPr>
      </p:sp>
      <p:pic>
        <p:nvPicPr>
          <p:cNvPr id="9" name="Image 0" descr="Network icon">    </p:cNvPr>
          <p:cNvPicPr>
            <a:picLocks noChangeAspect="1"/>
          </p:cNvPicPr>
          <p:nvPr/>
        </p:nvPicPr>
        <p:blipFill>
          <a:blip r:embed="rId1"/>
          <a:stretch>
            <a:fillRect/>
          </a:stretch>
        </p:blipFill>
        <p:spPr>
          <a:xfrm>
            <a:off x="1234440" y="4983480"/>
            <a:ext cx="365760" cy="365760"/>
          </a:xfrm>
          <a:prstGeom prst="rect">
            <a:avLst/>
          </a:prstGeom>
        </p:spPr>
      </p:pic>
      <p:sp>
        <p:nvSpPr>
          <p:cNvPr id="10" name="Text 6"/>
          <p:cNvSpPr txBox="1"/>
          <p:nvPr/>
        </p:nvSpPr>
        <p:spPr>
          <a:xfrm>
            <a:off x="4114800" y="1828800"/>
            <a:ext cx="7360920" cy="2103120"/>
          </a:xfrm>
          <a:prstGeom prst="rect">
            <a:avLst/>
          </a:prstGeom>
          <a:noFill/>
          <a:ln/>
        </p:spPr>
        <p:txBody>
          <a:bodyPr wrap="square" lIns="0" tIns="0" rIns="0" bIns="0" rtlCol="0" anchor="t"/>
          <a:lstStyle/>
          <a:p>
            <a:pPr indent="0" marL="0">
              <a:lnSpc>
                <a:spcPct val="115000"/>
              </a:lnSpc>
              <a:buNone/>
            </a:pPr>
            <a:r>
              <a:rPr lang="en-US" sz="1700" dirty="0">
                <a:solidFill>
                  <a:schemeClr val="tx1"/>
                </a:solidFill>
                <a:latin typeface="Cambria" pitchFamily="34" charset="0"/>
                <a:ea typeface="Cambria" pitchFamily="34" charset="-122"/>
                <a:cs typeface="Cambria" pitchFamily="34" charset="-120"/>
              </a:rPr>
              <a:t>A long-standing client asks us to set up a discretionary trust and settle $8m into it. He mentions his brother-in-law is a government minister abroad. He says the wealth is from "the family business" but is vague on detail. The proposed protector is a friend who will "do as he is asked".</a:t>
            </a:r>
            <a:endParaRPr lang="en-US" sz="1700" dirty="0"/>
          </a:p>
        </p:txBody>
      </p:sp>
      <p:sp>
        <p:nvSpPr>
          <p:cNvPr id="11" name="Text 7"/>
          <p:cNvSpPr txBox="1"/>
          <p:nvPr/>
        </p:nvSpPr>
        <p:spPr>
          <a:xfrm>
            <a:off x="4114800" y="4041648"/>
            <a:ext cx="2743200" cy="256032"/>
          </a:xfrm>
          <a:prstGeom prst="rect">
            <a:avLst/>
          </a:prstGeom>
          <a:noFill/>
          <a:ln/>
        </p:spPr>
        <p:txBody>
          <a:bodyPr wrap="square" lIns="0" tIns="0" rIns="0" bIns="0" rtlCol="0" anchor="t"/>
          <a:lstStyle/>
          <a:p>
            <a:pPr indent="0" marL="0">
              <a:buNone/>
            </a:pPr>
            <a:r>
              <a:rPr lang="en-US" sz="1000" b="1" spc="300" kern="0" dirty="0">
                <a:solidFill>
                  <a:schemeClr val="accent1"/>
                </a:solidFill>
              </a:rPr>
              <a:t>DISCUSS</a:t>
            </a:r>
            <a:endParaRPr lang="en-US" sz="1000" dirty="0"/>
          </a:p>
        </p:txBody>
      </p:sp>
      <p:sp>
        <p:nvSpPr>
          <p:cNvPr id="12" name="Question card"/>
          <p:cNvSpPr/>
          <p:nvPr/>
        </p:nvSpPr>
        <p:spPr>
          <a:xfrm>
            <a:off x="4114800" y="4389120"/>
            <a:ext cx="2359152" cy="1508760"/>
          </a:xfrm>
          <a:prstGeom prst="roundRect">
            <a:avLst>
              <a:gd name="adj" fmla="val 7273"/>
            </a:avLst>
          </a:prstGeom>
          <a:solidFill>
            <a:schemeClr val="bg2"/>
          </a:solidFill>
          <a:ln/>
        </p:spPr>
      </p:sp>
      <p:pic>
        <p:nvPicPr>
          <p:cNvPr id="13" name="Image 1" descr="question">    </p:cNvPr>
          <p:cNvPicPr>
            <a:picLocks noChangeAspect="1"/>
          </p:cNvPicPr>
          <p:nvPr/>
        </p:nvPicPr>
        <p:blipFill>
          <a:blip r:embed="rId2"/>
          <a:stretch>
            <a:fillRect/>
          </a:stretch>
        </p:blipFill>
        <p:spPr>
          <a:xfrm>
            <a:off x="4343400" y="4572000"/>
            <a:ext cx="310896" cy="310896"/>
          </a:xfrm>
          <a:prstGeom prst="rect">
            <a:avLst/>
          </a:prstGeom>
        </p:spPr>
      </p:pic>
      <p:sp>
        <p:nvSpPr>
          <p:cNvPr id="14" name="Text 9"/>
          <p:cNvSpPr txBox="1"/>
          <p:nvPr/>
        </p:nvSpPr>
        <p:spPr>
          <a:xfrm>
            <a:off x="4343400" y="4956048"/>
            <a:ext cx="1920240" cy="822960"/>
          </a:xfrm>
          <a:prstGeom prst="rect">
            <a:avLst/>
          </a:prstGeom>
          <a:noFill/>
          <a:ln/>
        </p:spPr>
        <p:txBody>
          <a:bodyPr wrap="square" lIns="0" tIns="0" rIns="0" bIns="0" rtlCol="0" anchor="t"/>
          <a:lstStyle/>
          <a:p>
            <a:pPr indent="0" marL="0">
              <a:buNone/>
            </a:pPr>
            <a:r>
              <a:rPr lang="en-US" sz="1350" dirty="0">
                <a:solidFill>
                  <a:schemeClr val="tx1"/>
                </a:solidFill>
              </a:rPr>
              <a:t>Does a long relationship change anything?</a:t>
            </a:r>
            <a:endParaRPr lang="en-US" sz="1350" dirty="0"/>
          </a:p>
        </p:txBody>
      </p:sp>
      <p:sp>
        <p:nvSpPr>
          <p:cNvPr id="15" name="Question card"/>
          <p:cNvSpPr/>
          <p:nvPr/>
        </p:nvSpPr>
        <p:spPr>
          <a:xfrm>
            <a:off x="6629400" y="4389120"/>
            <a:ext cx="2359152" cy="1508760"/>
          </a:xfrm>
          <a:prstGeom prst="roundRect">
            <a:avLst>
              <a:gd name="adj" fmla="val 7273"/>
            </a:avLst>
          </a:prstGeom>
          <a:solidFill>
            <a:schemeClr val="bg2"/>
          </a:solidFill>
          <a:ln/>
        </p:spPr>
      </p:sp>
      <p:pic>
        <p:nvPicPr>
          <p:cNvPr id="16" name="Image 2" descr="question">    </p:cNvPr>
          <p:cNvPicPr>
            <a:picLocks noChangeAspect="1"/>
          </p:cNvPicPr>
          <p:nvPr/>
        </p:nvPicPr>
        <p:blipFill>
          <a:blip r:embed="rId3"/>
          <a:stretch>
            <a:fillRect/>
          </a:stretch>
        </p:blipFill>
        <p:spPr>
          <a:xfrm>
            <a:off x="6858000" y="4572000"/>
            <a:ext cx="310896" cy="310896"/>
          </a:xfrm>
          <a:prstGeom prst="rect">
            <a:avLst/>
          </a:prstGeom>
        </p:spPr>
      </p:pic>
      <p:sp>
        <p:nvSpPr>
          <p:cNvPr id="17" name="Text 11"/>
          <p:cNvSpPr txBox="1"/>
          <p:nvPr/>
        </p:nvSpPr>
        <p:spPr>
          <a:xfrm>
            <a:off x="6858000" y="4956048"/>
            <a:ext cx="1920240" cy="822960"/>
          </a:xfrm>
          <a:prstGeom prst="rect">
            <a:avLst/>
          </a:prstGeom>
          <a:noFill/>
          <a:ln/>
        </p:spPr>
        <p:txBody>
          <a:bodyPr wrap="square" lIns="0" tIns="0" rIns="0" bIns="0" rtlCol="0" anchor="t"/>
          <a:lstStyle/>
          <a:p>
            <a:pPr indent="0" marL="0">
              <a:buNone/>
            </a:pPr>
            <a:r>
              <a:rPr lang="en-US" sz="1350" dirty="0">
                <a:solidFill>
                  <a:schemeClr val="tx1"/>
                </a:solidFill>
              </a:rPr>
              <a:t>Who is the beneficial owner here?</a:t>
            </a:r>
            <a:endParaRPr lang="en-US" sz="1350" dirty="0"/>
          </a:p>
        </p:txBody>
      </p:sp>
      <p:sp>
        <p:nvSpPr>
          <p:cNvPr id="18" name="Question card"/>
          <p:cNvSpPr/>
          <p:nvPr/>
        </p:nvSpPr>
        <p:spPr>
          <a:xfrm>
            <a:off x="9144000" y="4389120"/>
            <a:ext cx="2359152" cy="1508760"/>
          </a:xfrm>
          <a:prstGeom prst="roundRect">
            <a:avLst>
              <a:gd name="adj" fmla="val 7273"/>
            </a:avLst>
          </a:prstGeom>
          <a:solidFill>
            <a:schemeClr val="bg2"/>
          </a:solidFill>
          <a:ln/>
        </p:spPr>
      </p:sp>
      <p:pic>
        <p:nvPicPr>
          <p:cNvPr id="19" name="Image 3" descr="question">    </p:cNvPr>
          <p:cNvPicPr>
            <a:picLocks noChangeAspect="1"/>
          </p:cNvPicPr>
          <p:nvPr/>
        </p:nvPicPr>
        <p:blipFill>
          <a:blip r:embed="rId4"/>
          <a:stretch>
            <a:fillRect/>
          </a:stretch>
        </p:blipFill>
        <p:spPr>
          <a:xfrm>
            <a:off x="9372600" y="4572000"/>
            <a:ext cx="310896" cy="310896"/>
          </a:xfrm>
          <a:prstGeom prst="rect">
            <a:avLst/>
          </a:prstGeom>
        </p:spPr>
      </p:pic>
      <p:sp>
        <p:nvSpPr>
          <p:cNvPr id="20" name="Text 13"/>
          <p:cNvSpPr txBox="1"/>
          <p:nvPr/>
        </p:nvSpPr>
        <p:spPr>
          <a:xfrm>
            <a:off x="9372600" y="4956048"/>
            <a:ext cx="1920240" cy="822960"/>
          </a:xfrm>
          <a:prstGeom prst="rect">
            <a:avLst/>
          </a:prstGeom>
          <a:noFill/>
          <a:ln/>
        </p:spPr>
        <p:txBody>
          <a:bodyPr wrap="square" lIns="0" tIns="0" rIns="0" bIns="0" rtlCol="0" anchor="t"/>
          <a:lstStyle/>
          <a:p>
            <a:pPr indent="0" marL="0">
              <a:buNone/>
            </a:pPr>
            <a:r>
              <a:rPr lang="en-US" sz="1350" dirty="0">
                <a:solidFill>
                  <a:schemeClr val="tx1"/>
                </a:solidFill>
              </a:rPr>
              <a:t>What evidence would satisfy you?</a:t>
            </a:r>
            <a:endParaRPr lang="en-US" sz="13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04 · CASE STUDY 2 · DEBRIEF</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The generous settlor</a:t>
            </a:r>
            <a:endParaRPr lang="en-US" sz="3400" dirty="0"/>
          </a:p>
        </p:txBody>
      </p:sp>
      <p:sp>
        <p:nvSpPr>
          <p:cNvPr id="5" name="Debrief card"/>
          <p:cNvSpPr/>
          <p:nvPr/>
        </p:nvSpPr>
        <p:spPr>
          <a:xfrm>
            <a:off x="685800" y="1828800"/>
            <a:ext cx="3401568" cy="365760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6" name="Icon disc"/>
          <p:cNvSpPr/>
          <p:nvPr/>
        </p:nvSpPr>
        <p:spPr>
          <a:xfrm>
            <a:off x="1005840" y="2148840"/>
            <a:ext cx="548640" cy="548640"/>
          </a:xfrm>
          <a:prstGeom prst="ellipse">
            <a:avLst/>
          </a:prstGeom>
          <a:solidFill>
            <a:schemeClr val="accent2"/>
          </a:solidFill>
          <a:ln/>
        </p:spPr>
      </p:sp>
      <p:pic>
        <p:nvPicPr>
          <p:cNvPr id="7" name="Image 0" descr="Flag icon">    </p:cNvPr>
          <p:cNvPicPr>
            <a:picLocks noChangeAspect="1"/>
          </p:cNvPicPr>
          <p:nvPr/>
        </p:nvPicPr>
        <p:blipFill>
          <a:blip r:embed="rId1"/>
          <a:stretch>
            <a:fillRect/>
          </a:stretch>
        </p:blipFill>
        <p:spPr>
          <a:xfrm>
            <a:off x="1143000" y="2286000"/>
            <a:ext cx="274320" cy="274320"/>
          </a:xfrm>
          <a:prstGeom prst="rect">
            <a:avLst/>
          </a:prstGeom>
        </p:spPr>
      </p:pic>
      <p:sp>
        <p:nvSpPr>
          <p:cNvPr id="8" name="Text 4"/>
          <p:cNvSpPr txBox="1"/>
          <p:nvPr/>
        </p:nvSpPr>
        <p:spPr>
          <a:xfrm>
            <a:off x="1691640" y="2148840"/>
            <a:ext cx="2212848"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Warning signs</a:t>
            </a:r>
            <a:endParaRPr lang="en-US" sz="1700" dirty="0"/>
          </a:p>
        </p:txBody>
      </p:sp>
      <p:sp>
        <p:nvSpPr>
          <p:cNvPr id="9" name="Text 5"/>
          <p:cNvSpPr txBox="1"/>
          <p:nvPr/>
        </p:nvSpPr>
        <p:spPr>
          <a:xfrm>
            <a:off x="1005840" y="2971800"/>
            <a:ext cx="2761488" cy="237744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chemeClr val="tx2"/>
                </a:solidFill>
              </a:rPr>
              <a:t>Close family link to a foreign PEP</a:t>
            </a:r>
            <a:endParaRPr lang="en-US" sz="1450" dirty="0"/>
          </a:p>
          <a:p>
            <a:pPr marL="203200" indent="-203200">
              <a:spcAft>
                <a:spcPts val="1000"/>
              </a:spcAft>
              <a:buSzPct val="100000"/>
              <a:buChar char="•"/>
            </a:pPr>
            <a:r>
              <a:rPr lang="en-US" sz="1450" dirty="0">
                <a:solidFill>
                  <a:schemeClr val="tx2"/>
                </a:solidFill>
              </a:rPr>
              <a:t>Vague source of wealth for a large sum</a:t>
            </a:r>
            <a:endParaRPr lang="en-US" sz="1450" dirty="0"/>
          </a:p>
          <a:p>
            <a:pPr marL="203200" indent="-203200">
              <a:spcAft>
                <a:spcPts val="1000"/>
              </a:spcAft>
              <a:buSzPct val="100000"/>
              <a:buChar char="•"/>
            </a:pPr>
            <a:r>
              <a:rPr lang="en-US" sz="1450" dirty="0">
                <a:solidFill>
                  <a:schemeClr val="tx2"/>
                </a:solidFill>
              </a:rPr>
              <a:t>A protector who acts on instruction, so control may sit elsewhere</a:t>
            </a:r>
            <a:endParaRPr lang="en-US" sz="1450" dirty="0"/>
          </a:p>
          <a:p>
            <a:pPr marL="203200" indent="-203200">
              <a:spcAft>
                <a:spcPts val="1000"/>
              </a:spcAft>
              <a:buSzPct val="100000"/>
              <a:buChar char="•"/>
            </a:pPr>
            <a:r>
              <a:rPr lang="en-US" sz="1450" dirty="0">
                <a:solidFill>
                  <a:schemeClr val="tx2"/>
                </a:solidFill>
              </a:rPr>
              <a:t>A significant change from the client's usual activity</a:t>
            </a:r>
            <a:endParaRPr lang="en-US" sz="1450" dirty="0"/>
          </a:p>
        </p:txBody>
      </p:sp>
      <p:sp>
        <p:nvSpPr>
          <p:cNvPr id="10" name="Debrief card"/>
          <p:cNvSpPr/>
          <p:nvPr/>
        </p:nvSpPr>
        <p:spPr>
          <a:xfrm>
            <a:off x="4393692" y="1828800"/>
            <a:ext cx="3401568" cy="365760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11" name="Icon disc"/>
          <p:cNvSpPr/>
          <p:nvPr/>
        </p:nvSpPr>
        <p:spPr>
          <a:xfrm>
            <a:off x="4713732" y="2148840"/>
            <a:ext cx="548640" cy="548640"/>
          </a:xfrm>
          <a:prstGeom prst="ellipse">
            <a:avLst/>
          </a:prstGeom>
          <a:solidFill>
            <a:schemeClr val="accent1"/>
          </a:solidFill>
          <a:ln/>
        </p:spPr>
      </p:sp>
      <p:pic>
        <p:nvPicPr>
          <p:cNvPr id="12" name="Image 1" descr="CircleCheck icon">    </p:cNvPr>
          <p:cNvPicPr>
            <a:picLocks noChangeAspect="1"/>
          </p:cNvPicPr>
          <p:nvPr/>
        </p:nvPicPr>
        <p:blipFill>
          <a:blip r:embed="rId2"/>
          <a:stretch>
            <a:fillRect/>
          </a:stretch>
        </p:blipFill>
        <p:spPr>
          <a:xfrm>
            <a:off x="4850892" y="2286000"/>
            <a:ext cx="274320" cy="274320"/>
          </a:xfrm>
          <a:prstGeom prst="rect">
            <a:avLst/>
          </a:prstGeom>
        </p:spPr>
      </p:pic>
      <p:sp>
        <p:nvSpPr>
          <p:cNvPr id="13" name="Text 8"/>
          <p:cNvSpPr txBox="1"/>
          <p:nvPr/>
        </p:nvSpPr>
        <p:spPr>
          <a:xfrm>
            <a:off x="5399532" y="2148840"/>
            <a:ext cx="2212848"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What good looks like</a:t>
            </a:r>
            <a:endParaRPr lang="en-US" sz="1700" dirty="0"/>
          </a:p>
        </p:txBody>
      </p:sp>
      <p:sp>
        <p:nvSpPr>
          <p:cNvPr id="14" name="Text 9"/>
          <p:cNvSpPr txBox="1"/>
          <p:nvPr/>
        </p:nvSpPr>
        <p:spPr>
          <a:xfrm>
            <a:off x="4713732" y="2971800"/>
            <a:ext cx="2761488" cy="237744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chemeClr val="tx2"/>
                </a:solidFill>
              </a:rPr>
              <a:t>Treat as EDD: PEP family member</a:t>
            </a:r>
            <a:endParaRPr lang="en-US" sz="1450" dirty="0"/>
          </a:p>
          <a:p>
            <a:pPr marL="203200" indent="-203200">
              <a:spcAft>
                <a:spcPts val="1000"/>
              </a:spcAft>
              <a:buSzPct val="100000"/>
              <a:buChar char="•"/>
            </a:pPr>
            <a:r>
              <a:rPr lang="en-US" sz="1450" dirty="0">
                <a:solidFill>
                  <a:schemeClr val="tx2"/>
                </a:solidFill>
              </a:rPr>
              <a:t>Obtain evidence of the family business and his share of it</a:t>
            </a:r>
            <a:endParaRPr lang="en-US" sz="1450" dirty="0"/>
          </a:p>
          <a:p>
            <a:pPr marL="203200" indent="-203200">
              <a:spcAft>
                <a:spcPts val="1000"/>
              </a:spcAft>
              <a:buSzPct val="100000"/>
              <a:buChar char="•"/>
            </a:pPr>
            <a:r>
              <a:rPr lang="en-US" sz="1450" dirty="0">
                <a:solidFill>
                  <a:schemeClr val="tx2"/>
                </a:solidFill>
              </a:rPr>
              <a:t>Identify everyone with effective control, including the protector</a:t>
            </a:r>
            <a:endParaRPr lang="en-US" sz="1450" dirty="0"/>
          </a:p>
          <a:p>
            <a:pPr marL="203200" indent="-203200">
              <a:spcAft>
                <a:spcPts val="1000"/>
              </a:spcAft>
              <a:buSzPct val="100000"/>
              <a:buChar char="•"/>
            </a:pPr>
            <a:r>
              <a:rPr lang="en-US" sz="1450" dirty="0">
                <a:solidFill>
                  <a:schemeClr val="tx2"/>
                </a:solidFill>
              </a:rPr>
              <a:t>Sanctions and adverse media checks on all parties</a:t>
            </a:r>
            <a:endParaRPr lang="en-US" sz="1450" dirty="0"/>
          </a:p>
        </p:txBody>
      </p:sp>
      <p:sp>
        <p:nvSpPr>
          <p:cNvPr id="15" name="Debrief card"/>
          <p:cNvSpPr/>
          <p:nvPr/>
        </p:nvSpPr>
        <p:spPr>
          <a:xfrm>
            <a:off x="8101584" y="1828800"/>
            <a:ext cx="3401568" cy="365760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16" name="Icon disc"/>
          <p:cNvSpPr/>
          <p:nvPr/>
        </p:nvSpPr>
        <p:spPr>
          <a:xfrm>
            <a:off x="8421624" y="2148840"/>
            <a:ext cx="548640" cy="548640"/>
          </a:xfrm>
          <a:prstGeom prst="ellipse">
            <a:avLst/>
          </a:prstGeom>
          <a:solidFill>
            <a:schemeClr val="tx1"/>
          </a:solidFill>
          <a:ln/>
        </p:spPr>
      </p:sp>
      <p:pic>
        <p:nvPicPr>
          <p:cNvPr id="17" name="Image 2" descr="Ban icon">    </p:cNvPr>
          <p:cNvPicPr>
            <a:picLocks noChangeAspect="1"/>
          </p:cNvPicPr>
          <p:nvPr/>
        </p:nvPicPr>
        <p:blipFill>
          <a:blip r:embed="rId3"/>
          <a:stretch>
            <a:fillRect/>
          </a:stretch>
        </p:blipFill>
        <p:spPr>
          <a:xfrm>
            <a:off x="8558784" y="2286000"/>
            <a:ext cx="274320" cy="274320"/>
          </a:xfrm>
          <a:prstGeom prst="rect">
            <a:avLst/>
          </a:prstGeom>
        </p:spPr>
      </p:pic>
      <p:sp>
        <p:nvSpPr>
          <p:cNvPr id="18" name="Text 12"/>
          <p:cNvSpPr txBox="1"/>
          <p:nvPr/>
        </p:nvSpPr>
        <p:spPr>
          <a:xfrm>
            <a:off x="9107424" y="2148840"/>
            <a:ext cx="2212848"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What we must not do</a:t>
            </a:r>
            <a:endParaRPr lang="en-US" sz="1700" dirty="0"/>
          </a:p>
        </p:txBody>
      </p:sp>
      <p:sp>
        <p:nvSpPr>
          <p:cNvPr id="19" name="Text 13"/>
          <p:cNvSpPr txBox="1"/>
          <p:nvPr/>
        </p:nvSpPr>
        <p:spPr>
          <a:xfrm>
            <a:off x="8421624" y="2971800"/>
            <a:ext cx="2761488" cy="237744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chemeClr val="tx2"/>
                </a:solidFill>
              </a:rPr>
              <a:t>Rely on the client's long history with the firm</a:t>
            </a:r>
            <a:endParaRPr lang="en-US" sz="1450" dirty="0"/>
          </a:p>
          <a:p>
            <a:pPr marL="203200" indent="-203200">
              <a:spcAft>
                <a:spcPts val="1000"/>
              </a:spcAft>
              <a:buSzPct val="100000"/>
              <a:buChar char="•"/>
            </a:pPr>
            <a:r>
              <a:rPr lang="en-US" sz="1450" dirty="0">
                <a:solidFill>
                  <a:schemeClr val="tx2"/>
                </a:solidFill>
              </a:rPr>
              <a:t>Accept "family business" without evidence</a:t>
            </a:r>
            <a:endParaRPr lang="en-US" sz="1450" dirty="0"/>
          </a:p>
          <a:p>
            <a:pPr marL="203200" indent="-203200">
              <a:spcAft>
                <a:spcPts val="1000"/>
              </a:spcAft>
              <a:buSzPct val="100000"/>
              <a:buChar char="•"/>
            </a:pPr>
            <a:r>
              <a:rPr lang="en-US" sz="1450" dirty="0">
                <a:solidFill>
                  <a:schemeClr val="tx2"/>
                </a:solidFill>
              </a:rPr>
              <a:t>Overlook the protector's real role</a:t>
            </a:r>
            <a:endParaRPr lang="en-US" sz="14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04 · CASE STUDY 3</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The new bank details</a:t>
            </a:r>
            <a:endParaRPr lang="en-US" sz="3400" dirty="0"/>
          </a:p>
        </p:txBody>
      </p:sp>
      <p:sp>
        <p:nvSpPr>
          <p:cNvPr id="5" name="Case panel"/>
          <p:cNvSpPr/>
          <p:nvPr/>
        </p:nvSpPr>
        <p:spPr>
          <a:xfrm>
            <a:off x="685800" y="1828800"/>
            <a:ext cx="3017520" cy="4069080"/>
          </a:xfrm>
          <a:prstGeom prst="roundRect">
            <a:avLst>
              <a:gd name="adj" fmla="val 3636"/>
            </a:avLst>
          </a:prstGeom>
          <a:solidFill>
            <a:schemeClr val="tx1"/>
          </a:solidFill>
          <a:ln/>
          <a:effectLst>
            <a:outerShdw sx="100000" sy="100000" kx="0" ky="0" algn="bl" rotWithShape="0" blurRad="177800" dist="38100" dir="5400000">
              <a:srgbClr val="0B1F2A">
                <a:alpha val="10000"/>
              </a:srgbClr>
            </a:outerShdw>
          </a:effectLst>
        </p:spPr>
      </p:sp>
      <p:sp>
        <p:nvSpPr>
          <p:cNvPr id="6" name="Text 3"/>
          <p:cNvSpPr txBox="1"/>
          <p:nvPr/>
        </p:nvSpPr>
        <p:spPr>
          <a:xfrm>
            <a:off x="1051560" y="2148840"/>
            <a:ext cx="1828800" cy="274320"/>
          </a:xfrm>
          <a:prstGeom prst="rect">
            <a:avLst/>
          </a:prstGeom>
          <a:noFill/>
          <a:ln/>
        </p:spPr>
        <p:txBody>
          <a:bodyPr wrap="square" lIns="0" tIns="0" rIns="0" bIns="0" rtlCol="0" anchor="t"/>
          <a:lstStyle/>
          <a:p>
            <a:pPr indent="0" marL="0">
              <a:buNone/>
            </a:pPr>
            <a:r>
              <a:rPr lang="en-US" sz="1100" b="1" spc="400" kern="0" dirty="0">
                <a:solidFill>
                  <a:schemeClr val="accent5"/>
                </a:solidFill>
              </a:rPr>
              <a:t>CASE</a:t>
            </a:r>
            <a:endParaRPr lang="en-US" sz="1100" dirty="0"/>
          </a:p>
        </p:txBody>
      </p:sp>
      <p:sp>
        <p:nvSpPr>
          <p:cNvPr id="7" name="Text 4"/>
          <p:cNvSpPr txBox="1"/>
          <p:nvPr/>
        </p:nvSpPr>
        <p:spPr>
          <a:xfrm>
            <a:off x="1051560" y="2423160"/>
            <a:ext cx="2194560" cy="1371600"/>
          </a:xfrm>
          <a:prstGeom prst="rect">
            <a:avLst/>
          </a:prstGeom>
          <a:noFill/>
          <a:ln/>
        </p:spPr>
        <p:txBody>
          <a:bodyPr wrap="square" lIns="0" tIns="0" rIns="0" bIns="0" rtlCol="0" anchor="t"/>
          <a:lstStyle/>
          <a:p>
            <a:pPr indent="0" marL="0">
              <a:buNone/>
            </a:pPr>
            <a:r>
              <a:rPr lang="en-US" sz="9600" dirty="0">
                <a:solidFill>
                  <a:schemeClr val="bg1"/>
                </a:solidFill>
                <a:latin typeface="Cambria" pitchFamily="34" charset="0"/>
                <a:ea typeface="Cambria" pitchFamily="34" charset="-122"/>
                <a:cs typeface="Cambria" pitchFamily="34" charset="-120"/>
              </a:rPr>
              <a:t>03</a:t>
            </a:r>
            <a:endParaRPr lang="en-US" sz="9600" dirty="0"/>
          </a:p>
        </p:txBody>
      </p:sp>
      <p:sp>
        <p:nvSpPr>
          <p:cNvPr id="8" name="Icon disc"/>
          <p:cNvSpPr/>
          <p:nvPr/>
        </p:nvSpPr>
        <p:spPr>
          <a:xfrm>
            <a:off x="1051560" y="4800600"/>
            <a:ext cx="731520" cy="731520"/>
          </a:xfrm>
          <a:prstGeom prst="ellipse">
            <a:avLst/>
          </a:prstGeom>
          <a:solidFill>
            <a:schemeClr val="accent2"/>
          </a:solidFill>
          <a:ln/>
        </p:spPr>
      </p:sp>
      <p:pic>
        <p:nvPicPr>
          <p:cNvPr id="9" name="Image 0" descr="Mail icon">    </p:cNvPr>
          <p:cNvPicPr>
            <a:picLocks noChangeAspect="1"/>
          </p:cNvPicPr>
          <p:nvPr/>
        </p:nvPicPr>
        <p:blipFill>
          <a:blip r:embed="rId1"/>
          <a:stretch>
            <a:fillRect/>
          </a:stretch>
        </p:blipFill>
        <p:spPr>
          <a:xfrm>
            <a:off x="1234440" y="4983480"/>
            <a:ext cx="365760" cy="365760"/>
          </a:xfrm>
          <a:prstGeom prst="rect">
            <a:avLst/>
          </a:prstGeom>
        </p:spPr>
      </p:pic>
      <p:sp>
        <p:nvSpPr>
          <p:cNvPr id="10" name="Text 6"/>
          <p:cNvSpPr txBox="1"/>
          <p:nvPr/>
        </p:nvSpPr>
        <p:spPr>
          <a:xfrm>
            <a:off x="4114800" y="1828800"/>
            <a:ext cx="7360920" cy="2103120"/>
          </a:xfrm>
          <a:prstGeom prst="rect">
            <a:avLst/>
          </a:prstGeom>
          <a:noFill/>
          <a:ln/>
        </p:spPr>
        <p:txBody>
          <a:bodyPr wrap="square" lIns="0" tIns="0" rIns="0" bIns="0" rtlCol="0" anchor="t"/>
          <a:lstStyle/>
          <a:p>
            <a:pPr indent="0" marL="0">
              <a:lnSpc>
                <a:spcPct val="115000"/>
              </a:lnSpc>
              <a:buNone/>
            </a:pPr>
            <a:r>
              <a:rPr lang="en-US" sz="1700" dirty="0">
                <a:solidFill>
                  <a:schemeClr val="tx1"/>
                </a:solidFill>
                <a:latin typeface="Cambria" pitchFamily="34" charset="0"/>
                <a:ea typeface="Cambria" pitchFamily="34" charset="-122"/>
                <a:cs typeface="Cambria" pitchFamily="34" charset="-120"/>
              </a:rPr>
              <a:t>Two days before completion, our conveyancing team receives an email that appears to be from the seller's attorneys. It says their bank has changed and gives new account details for the $2.1m purchase price. The email signature looks right, but the sender's domain differs by one letter.</a:t>
            </a:r>
            <a:endParaRPr lang="en-US" sz="1700" dirty="0"/>
          </a:p>
        </p:txBody>
      </p:sp>
      <p:sp>
        <p:nvSpPr>
          <p:cNvPr id="11" name="Text 7"/>
          <p:cNvSpPr txBox="1"/>
          <p:nvPr/>
        </p:nvSpPr>
        <p:spPr>
          <a:xfrm>
            <a:off x="4114800" y="4041648"/>
            <a:ext cx="2743200" cy="256032"/>
          </a:xfrm>
          <a:prstGeom prst="rect">
            <a:avLst/>
          </a:prstGeom>
          <a:noFill/>
          <a:ln/>
        </p:spPr>
        <p:txBody>
          <a:bodyPr wrap="square" lIns="0" tIns="0" rIns="0" bIns="0" rtlCol="0" anchor="t"/>
          <a:lstStyle/>
          <a:p>
            <a:pPr indent="0" marL="0">
              <a:buNone/>
            </a:pPr>
            <a:r>
              <a:rPr lang="en-US" sz="1000" b="1" spc="300" kern="0" dirty="0">
                <a:solidFill>
                  <a:schemeClr val="accent1"/>
                </a:solidFill>
              </a:rPr>
              <a:t>DISCUSS</a:t>
            </a:r>
            <a:endParaRPr lang="en-US" sz="1000" dirty="0"/>
          </a:p>
        </p:txBody>
      </p:sp>
      <p:sp>
        <p:nvSpPr>
          <p:cNvPr id="12" name="Question card"/>
          <p:cNvSpPr/>
          <p:nvPr/>
        </p:nvSpPr>
        <p:spPr>
          <a:xfrm>
            <a:off x="4114800" y="4389120"/>
            <a:ext cx="2359152" cy="1508760"/>
          </a:xfrm>
          <a:prstGeom prst="roundRect">
            <a:avLst>
              <a:gd name="adj" fmla="val 7273"/>
            </a:avLst>
          </a:prstGeom>
          <a:solidFill>
            <a:schemeClr val="bg2"/>
          </a:solidFill>
          <a:ln/>
        </p:spPr>
      </p:sp>
      <p:pic>
        <p:nvPicPr>
          <p:cNvPr id="13" name="Image 1" descr="question">    </p:cNvPr>
          <p:cNvPicPr>
            <a:picLocks noChangeAspect="1"/>
          </p:cNvPicPr>
          <p:nvPr/>
        </p:nvPicPr>
        <p:blipFill>
          <a:blip r:embed="rId2"/>
          <a:stretch>
            <a:fillRect/>
          </a:stretch>
        </p:blipFill>
        <p:spPr>
          <a:xfrm>
            <a:off x="4343400" y="4572000"/>
            <a:ext cx="310896" cy="310896"/>
          </a:xfrm>
          <a:prstGeom prst="rect">
            <a:avLst/>
          </a:prstGeom>
        </p:spPr>
      </p:pic>
      <p:sp>
        <p:nvSpPr>
          <p:cNvPr id="14" name="Text 9"/>
          <p:cNvSpPr txBox="1"/>
          <p:nvPr/>
        </p:nvSpPr>
        <p:spPr>
          <a:xfrm>
            <a:off x="4343400" y="4956048"/>
            <a:ext cx="1920240" cy="822960"/>
          </a:xfrm>
          <a:prstGeom prst="rect">
            <a:avLst/>
          </a:prstGeom>
          <a:noFill/>
          <a:ln/>
        </p:spPr>
        <p:txBody>
          <a:bodyPr wrap="square" lIns="0" tIns="0" rIns="0" bIns="0" rtlCol="0" anchor="t"/>
          <a:lstStyle/>
          <a:p>
            <a:pPr indent="0" marL="0">
              <a:buNone/>
            </a:pPr>
            <a:r>
              <a:rPr lang="en-US" sz="1350" dirty="0">
                <a:solidFill>
                  <a:schemeClr val="tx1"/>
                </a:solidFill>
              </a:rPr>
              <a:t>What's happening here?</a:t>
            </a:r>
            <a:endParaRPr lang="en-US" sz="1350" dirty="0"/>
          </a:p>
        </p:txBody>
      </p:sp>
      <p:sp>
        <p:nvSpPr>
          <p:cNvPr id="15" name="Question card"/>
          <p:cNvSpPr/>
          <p:nvPr/>
        </p:nvSpPr>
        <p:spPr>
          <a:xfrm>
            <a:off x="6629400" y="4389120"/>
            <a:ext cx="2359152" cy="1508760"/>
          </a:xfrm>
          <a:prstGeom prst="roundRect">
            <a:avLst>
              <a:gd name="adj" fmla="val 7273"/>
            </a:avLst>
          </a:prstGeom>
          <a:solidFill>
            <a:schemeClr val="bg2"/>
          </a:solidFill>
          <a:ln/>
        </p:spPr>
      </p:sp>
      <p:pic>
        <p:nvPicPr>
          <p:cNvPr id="16" name="Image 2" descr="question">    </p:cNvPr>
          <p:cNvPicPr>
            <a:picLocks noChangeAspect="1"/>
          </p:cNvPicPr>
          <p:nvPr/>
        </p:nvPicPr>
        <p:blipFill>
          <a:blip r:embed="rId3"/>
          <a:stretch>
            <a:fillRect/>
          </a:stretch>
        </p:blipFill>
        <p:spPr>
          <a:xfrm>
            <a:off x="6858000" y="4572000"/>
            <a:ext cx="310896" cy="310896"/>
          </a:xfrm>
          <a:prstGeom prst="rect">
            <a:avLst/>
          </a:prstGeom>
        </p:spPr>
      </p:pic>
      <p:sp>
        <p:nvSpPr>
          <p:cNvPr id="17" name="Text 11"/>
          <p:cNvSpPr txBox="1"/>
          <p:nvPr/>
        </p:nvSpPr>
        <p:spPr>
          <a:xfrm>
            <a:off x="6858000" y="4956048"/>
            <a:ext cx="1920240" cy="822960"/>
          </a:xfrm>
          <a:prstGeom prst="rect">
            <a:avLst/>
          </a:prstGeom>
          <a:noFill/>
          <a:ln/>
        </p:spPr>
        <p:txBody>
          <a:bodyPr wrap="square" lIns="0" tIns="0" rIns="0" bIns="0" rtlCol="0" anchor="t"/>
          <a:lstStyle/>
          <a:p>
            <a:pPr indent="0" marL="0">
              <a:buNone/>
            </a:pPr>
            <a:r>
              <a:rPr lang="en-US" sz="1350" dirty="0">
                <a:solidFill>
                  <a:schemeClr val="tx1"/>
                </a:solidFill>
              </a:rPr>
              <a:t>What should you do right now?</a:t>
            </a:r>
            <a:endParaRPr lang="en-US" sz="1350" dirty="0"/>
          </a:p>
        </p:txBody>
      </p:sp>
      <p:sp>
        <p:nvSpPr>
          <p:cNvPr id="18" name="Question card"/>
          <p:cNvSpPr/>
          <p:nvPr/>
        </p:nvSpPr>
        <p:spPr>
          <a:xfrm>
            <a:off x="9144000" y="4389120"/>
            <a:ext cx="2359152" cy="1508760"/>
          </a:xfrm>
          <a:prstGeom prst="roundRect">
            <a:avLst>
              <a:gd name="adj" fmla="val 7273"/>
            </a:avLst>
          </a:prstGeom>
          <a:solidFill>
            <a:schemeClr val="bg2"/>
          </a:solidFill>
          <a:ln/>
        </p:spPr>
      </p:sp>
      <p:pic>
        <p:nvPicPr>
          <p:cNvPr id="19" name="Image 3" descr="question">    </p:cNvPr>
          <p:cNvPicPr>
            <a:picLocks noChangeAspect="1"/>
          </p:cNvPicPr>
          <p:nvPr/>
        </p:nvPicPr>
        <p:blipFill>
          <a:blip r:embed="rId4"/>
          <a:stretch>
            <a:fillRect/>
          </a:stretch>
        </p:blipFill>
        <p:spPr>
          <a:xfrm>
            <a:off x="9372600" y="4572000"/>
            <a:ext cx="310896" cy="310896"/>
          </a:xfrm>
          <a:prstGeom prst="rect">
            <a:avLst/>
          </a:prstGeom>
        </p:spPr>
      </p:pic>
      <p:sp>
        <p:nvSpPr>
          <p:cNvPr id="20" name="Text 13"/>
          <p:cNvSpPr txBox="1"/>
          <p:nvPr/>
        </p:nvSpPr>
        <p:spPr>
          <a:xfrm>
            <a:off x="9372600" y="4956048"/>
            <a:ext cx="1920240" cy="822960"/>
          </a:xfrm>
          <a:prstGeom prst="rect">
            <a:avLst/>
          </a:prstGeom>
          <a:noFill/>
          <a:ln/>
        </p:spPr>
        <p:txBody>
          <a:bodyPr wrap="square" lIns="0" tIns="0" rIns="0" bIns="0" rtlCol="0" anchor="t"/>
          <a:lstStyle/>
          <a:p>
            <a:pPr indent="0" marL="0">
              <a:buNone/>
            </a:pPr>
            <a:r>
              <a:rPr lang="en-US" sz="1350" dirty="0">
                <a:solidFill>
                  <a:schemeClr val="tx1"/>
                </a:solidFill>
              </a:rPr>
              <a:t>Who needs to know?</a:t>
            </a:r>
            <a:endParaRPr lang="en-US" sz="13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04 · CASE STUDY 3 · DEBRIEF</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The new bank details</a:t>
            </a:r>
            <a:endParaRPr lang="en-US" sz="3400" dirty="0"/>
          </a:p>
        </p:txBody>
      </p:sp>
      <p:sp>
        <p:nvSpPr>
          <p:cNvPr id="5" name="Debrief card"/>
          <p:cNvSpPr/>
          <p:nvPr/>
        </p:nvSpPr>
        <p:spPr>
          <a:xfrm>
            <a:off x="685800" y="1828800"/>
            <a:ext cx="3401568" cy="365760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6" name="Icon disc"/>
          <p:cNvSpPr/>
          <p:nvPr/>
        </p:nvSpPr>
        <p:spPr>
          <a:xfrm>
            <a:off x="1005840" y="2148840"/>
            <a:ext cx="548640" cy="548640"/>
          </a:xfrm>
          <a:prstGeom prst="ellipse">
            <a:avLst/>
          </a:prstGeom>
          <a:solidFill>
            <a:schemeClr val="accent2"/>
          </a:solidFill>
          <a:ln/>
        </p:spPr>
      </p:sp>
      <p:pic>
        <p:nvPicPr>
          <p:cNvPr id="7" name="Image 0" descr="Flag icon">    </p:cNvPr>
          <p:cNvPicPr>
            <a:picLocks noChangeAspect="1"/>
          </p:cNvPicPr>
          <p:nvPr/>
        </p:nvPicPr>
        <p:blipFill>
          <a:blip r:embed="rId1"/>
          <a:stretch>
            <a:fillRect/>
          </a:stretch>
        </p:blipFill>
        <p:spPr>
          <a:xfrm>
            <a:off x="1143000" y="2286000"/>
            <a:ext cx="274320" cy="274320"/>
          </a:xfrm>
          <a:prstGeom prst="rect">
            <a:avLst/>
          </a:prstGeom>
        </p:spPr>
      </p:pic>
      <p:sp>
        <p:nvSpPr>
          <p:cNvPr id="8" name="Text 4"/>
          <p:cNvSpPr txBox="1"/>
          <p:nvPr/>
        </p:nvSpPr>
        <p:spPr>
          <a:xfrm>
            <a:off x="1691640" y="2148840"/>
            <a:ext cx="2212848"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Warning signs</a:t>
            </a:r>
            <a:endParaRPr lang="en-US" sz="1700" dirty="0"/>
          </a:p>
        </p:txBody>
      </p:sp>
      <p:sp>
        <p:nvSpPr>
          <p:cNvPr id="9" name="Text 5"/>
          <p:cNvSpPr txBox="1"/>
          <p:nvPr/>
        </p:nvSpPr>
        <p:spPr>
          <a:xfrm>
            <a:off x="1005840" y="2971800"/>
            <a:ext cx="2761488" cy="237744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chemeClr val="tx2"/>
                </a:solidFill>
              </a:rPr>
              <a:t>Late change of bank details before completion</a:t>
            </a:r>
            <a:endParaRPr lang="en-US" sz="1450" dirty="0"/>
          </a:p>
          <a:p>
            <a:pPr marL="203200" indent="-203200">
              <a:spcAft>
                <a:spcPts val="1000"/>
              </a:spcAft>
              <a:buSzPct val="100000"/>
              <a:buChar char="•"/>
            </a:pPr>
            <a:r>
              <a:rPr lang="en-US" sz="1450" dirty="0">
                <a:solidFill>
                  <a:schemeClr val="tx2"/>
                </a:solidFill>
              </a:rPr>
              <a:t>A look-alike sender domain</a:t>
            </a:r>
            <a:endParaRPr lang="en-US" sz="1450" dirty="0"/>
          </a:p>
          <a:p>
            <a:pPr marL="203200" indent="-203200">
              <a:spcAft>
                <a:spcPts val="1000"/>
              </a:spcAft>
              <a:buSzPct val="100000"/>
              <a:buChar char="•"/>
            </a:pPr>
            <a:r>
              <a:rPr lang="en-US" sz="1450" dirty="0">
                <a:solidFill>
                  <a:schemeClr val="tx2"/>
                </a:solidFill>
              </a:rPr>
              <a:t>Urgency and pressure to pay on time</a:t>
            </a:r>
            <a:endParaRPr lang="en-US" sz="1450" dirty="0"/>
          </a:p>
        </p:txBody>
      </p:sp>
      <p:sp>
        <p:nvSpPr>
          <p:cNvPr id="10" name="Debrief card"/>
          <p:cNvSpPr/>
          <p:nvPr/>
        </p:nvSpPr>
        <p:spPr>
          <a:xfrm>
            <a:off x="4393692" y="1828800"/>
            <a:ext cx="3401568" cy="365760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11" name="Icon disc"/>
          <p:cNvSpPr/>
          <p:nvPr/>
        </p:nvSpPr>
        <p:spPr>
          <a:xfrm>
            <a:off x="4713732" y="2148840"/>
            <a:ext cx="548640" cy="548640"/>
          </a:xfrm>
          <a:prstGeom prst="ellipse">
            <a:avLst/>
          </a:prstGeom>
          <a:solidFill>
            <a:schemeClr val="accent1"/>
          </a:solidFill>
          <a:ln/>
        </p:spPr>
      </p:sp>
      <p:pic>
        <p:nvPicPr>
          <p:cNvPr id="12" name="Image 1" descr="CircleCheck icon">    </p:cNvPr>
          <p:cNvPicPr>
            <a:picLocks noChangeAspect="1"/>
          </p:cNvPicPr>
          <p:nvPr/>
        </p:nvPicPr>
        <p:blipFill>
          <a:blip r:embed="rId2"/>
          <a:stretch>
            <a:fillRect/>
          </a:stretch>
        </p:blipFill>
        <p:spPr>
          <a:xfrm>
            <a:off x="4850892" y="2286000"/>
            <a:ext cx="274320" cy="274320"/>
          </a:xfrm>
          <a:prstGeom prst="rect">
            <a:avLst/>
          </a:prstGeom>
        </p:spPr>
      </p:pic>
      <p:sp>
        <p:nvSpPr>
          <p:cNvPr id="13" name="Text 8"/>
          <p:cNvSpPr txBox="1"/>
          <p:nvPr/>
        </p:nvSpPr>
        <p:spPr>
          <a:xfrm>
            <a:off x="5399532" y="2148840"/>
            <a:ext cx="2212848"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What good looks like</a:t>
            </a:r>
            <a:endParaRPr lang="en-US" sz="1700" dirty="0"/>
          </a:p>
        </p:txBody>
      </p:sp>
      <p:sp>
        <p:nvSpPr>
          <p:cNvPr id="14" name="Text 9"/>
          <p:cNvSpPr txBox="1"/>
          <p:nvPr/>
        </p:nvSpPr>
        <p:spPr>
          <a:xfrm>
            <a:off x="4713732" y="2971800"/>
            <a:ext cx="2761488" cy="237744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chemeClr val="tx2"/>
                </a:solidFill>
              </a:rPr>
              <a:t>Don't pay. Call the seller's attorneys on a number you already hold</a:t>
            </a:r>
            <a:endParaRPr lang="en-US" sz="1450" dirty="0"/>
          </a:p>
          <a:p>
            <a:pPr marL="203200" indent="-203200">
              <a:spcAft>
                <a:spcPts val="1000"/>
              </a:spcAft>
              <a:buSzPct val="100000"/>
              <a:buChar char="•"/>
            </a:pPr>
            <a:r>
              <a:rPr lang="en-US" sz="1450" dirty="0">
                <a:solidFill>
                  <a:schemeClr val="tx2"/>
                </a:solidFill>
              </a:rPr>
              <a:t>Alert the partner, IT and the MLRO</a:t>
            </a:r>
            <a:endParaRPr lang="en-US" sz="1450" dirty="0"/>
          </a:p>
          <a:p>
            <a:pPr marL="203200" indent="-203200">
              <a:spcAft>
                <a:spcPts val="1000"/>
              </a:spcAft>
              <a:buSzPct val="100000"/>
              <a:buChar char="•"/>
            </a:pPr>
            <a:r>
              <a:rPr lang="en-US" sz="1450" dirty="0">
                <a:solidFill>
                  <a:schemeClr val="tx2"/>
                </a:solidFill>
              </a:rPr>
              <a:t>Preserve the email for investigation</a:t>
            </a:r>
            <a:endParaRPr lang="en-US" sz="1450" dirty="0"/>
          </a:p>
          <a:p>
            <a:pPr marL="203200" indent="-203200">
              <a:spcAft>
                <a:spcPts val="1000"/>
              </a:spcAft>
              <a:buSzPct val="100000"/>
              <a:buChar char="•"/>
            </a:pPr>
            <a:r>
              <a:rPr lang="en-US" sz="1450" dirty="0">
                <a:solidFill>
                  <a:schemeClr val="tx2"/>
                </a:solidFill>
              </a:rPr>
              <a:t>Warn the client by phone that fraudsters may contact them</a:t>
            </a:r>
            <a:endParaRPr lang="en-US" sz="1450" dirty="0"/>
          </a:p>
        </p:txBody>
      </p:sp>
      <p:sp>
        <p:nvSpPr>
          <p:cNvPr id="15" name="Debrief card"/>
          <p:cNvSpPr/>
          <p:nvPr/>
        </p:nvSpPr>
        <p:spPr>
          <a:xfrm>
            <a:off x="8101584" y="1828800"/>
            <a:ext cx="3401568" cy="365760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16" name="Icon disc"/>
          <p:cNvSpPr/>
          <p:nvPr/>
        </p:nvSpPr>
        <p:spPr>
          <a:xfrm>
            <a:off x="8421624" y="2148840"/>
            <a:ext cx="548640" cy="548640"/>
          </a:xfrm>
          <a:prstGeom prst="ellipse">
            <a:avLst/>
          </a:prstGeom>
          <a:solidFill>
            <a:schemeClr val="tx1"/>
          </a:solidFill>
          <a:ln/>
        </p:spPr>
      </p:sp>
      <p:pic>
        <p:nvPicPr>
          <p:cNvPr id="17" name="Image 2" descr="Ban icon">    </p:cNvPr>
          <p:cNvPicPr>
            <a:picLocks noChangeAspect="1"/>
          </p:cNvPicPr>
          <p:nvPr/>
        </p:nvPicPr>
        <p:blipFill>
          <a:blip r:embed="rId3"/>
          <a:stretch>
            <a:fillRect/>
          </a:stretch>
        </p:blipFill>
        <p:spPr>
          <a:xfrm>
            <a:off x="8558784" y="2286000"/>
            <a:ext cx="274320" cy="274320"/>
          </a:xfrm>
          <a:prstGeom prst="rect">
            <a:avLst/>
          </a:prstGeom>
        </p:spPr>
      </p:pic>
      <p:sp>
        <p:nvSpPr>
          <p:cNvPr id="18" name="Text 12"/>
          <p:cNvSpPr txBox="1"/>
          <p:nvPr/>
        </p:nvSpPr>
        <p:spPr>
          <a:xfrm>
            <a:off x="9107424" y="2148840"/>
            <a:ext cx="2212848"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What we must not do</a:t>
            </a:r>
            <a:endParaRPr lang="en-US" sz="1700" dirty="0"/>
          </a:p>
        </p:txBody>
      </p:sp>
      <p:sp>
        <p:nvSpPr>
          <p:cNvPr id="19" name="Text 13"/>
          <p:cNvSpPr txBox="1"/>
          <p:nvPr/>
        </p:nvSpPr>
        <p:spPr>
          <a:xfrm>
            <a:off x="8421624" y="2971800"/>
            <a:ext cx="2761488" cy="237744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chemeClr val="tx2"/>
                </a:solidFill>
              </a:rPr>
              <a:t>Reply to the email to "confirm" the details</a:t>
            </a:r>
            <a:endParaRPr lang="en-US" sz="1450" dirty="0"/>
          </a:p>
          <a:p>
            <a:pPr marL="203200" indent="-203200">
              <a:spcAft>
                <a:spcPts val="1000"/>
              </a:spcAft>
              <a:buSzPct val="100000"/>
              <a:buChar char="•"/>
            </a:pPr>
            <a:r>
              <a:rPr lang="en-US" sz="1450" dirty="0">
                <a:solidFill>
                  <a:schemeClr val="tx2"/>
                </a:solidFill>
              </a:rPr>
              <a:t>Use contact details from the suspicious email</a:t>
            </a:r>
            <a:endParaRPr lang="en-US" sz="1450" dirty="0"/>
          </a:p>
          <a:p>
            <a:pPr marL="203200" indent="-203200">
              <a:spcAft>
                <a:spcPts val="1000"/>
              </a:spcAft>
              <a:buSzPct val="100000"/>
              <a:buChar char="•"/>
            </a:pPr>
            <a:r>
              <a:rPr lang="en-US" sz="1450" dirty="0">
                <a:solidFill>
                  <a:schemeClr val="tx2"/>
                </a:solidFill>
              </a:rPr>
              <a:t>Delete the email or keep it to yourself</a:t>
            </a:r>
            <a:endParaRPr lang="en-US" sz="14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04 · CASE STUDY 4</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The quick refund</a:t>
            </a:r>
            <a:endParaRPr lang="en-US" sz="3400" dirty="0"/>
          </a:p>
        </p:txBody>
      </p:sp>
      <p:sp>
        <p:nvSpPr>
          <p:cNvPr id="5" name="Case panel"/>
          <p:cNvSpPr/>
          <p:nvPr/>
        </p:nvSpPr>
        <p:spPr>
          <a:xfrm>
            <a:off x="685800" y="1828800"/>
            <a:ext cx="3017520" cy="4069080"/>
          </a:xfrm>
          <a:prstGeom prst="roundRect">
            <a:avLst>
              <a:gd name="adj" fmla="val 3636"/>
            </a:avLst>
          </a:prstGeom>
          <a:solidFill>
            <a:schemeClr val="tx1"/>
          </a:solidFill>
          <a:ln/>
          <a:effectLst>
            <a:outerShdw sx="100000" sy="100000" kx="0" ky="0" algn="bl" rotWithShape="0" blurRad="177800" dist="38100" dir="5400000">
              <a:srgbClr val="0B1F2A">
                <a:alpha val="10000"/>
              </a:srgbClr>
            </a:outerShdw>
          </a:effectLst>
        </p:spPr>
      </p:sp>
      <p:sp>
        <p:nvSpPr>
          <p:cNvPr id="6" name="Text 3"/>
          <p:cNvSpPr txBox="1"/>
          <p:nvPr/>
        </p:nvSpPr>
        <p:spPr>
          <a:xfrm>
            <a:off x="1051560" y="2148840"/>
            <a:ext cx="1828800" cy="274320"/>
          </a:xfrm>
          <a:prstGeom prst="rect">
            <a:avLst/>
          </a:prstGeom>
          <a:noFill/>
          <a:ln/>
        </p:spPr>
        <p:txBody>
          <a:bodyPr wrap="square" lIns="0" tIns="0" rIns="0" bIns="0" rtlCol="0" anchor="t"/>
          <a:lstStyle/>
          <a:p>
            <a:pPr indent="0" marL="0">
              <a:buNone/>
            </a:pPr>
            <a:r>
              <a:rPr lang="en-US" sz="1100" b="1" spc="400" kern="0" dirty="0">
                <a:solidFill>
                  <a:schemeClr val="accent5"/>
                </a:solidFill>
              </a:rPr>
              <a:t>CASE</a:t>
            </a:r>
            <a:endParaRPr lang="en-US" sz="1100" dirty="0"/>
          </a:p>
        </p:txBody>
      </p:sp>
      <p:sp>
        <p:nvSpPr>
          <p:cNvPr id="7" name="Text 4"/>
          <p:cNvSpPr txBox="1"/>
          <p:nvPr/>
        </p:nvSpPr>
        <p:spPr>
          <a:xfrm>
            <a:off x="1051560" y="2423160"/>
            <a:ext cx="2194560" cy="1371600"/>
          </a:xfrm>
          <a:prstGeom prst="rect">
            <a:avLst/>
          </a:prstGeom>
          <a:noFill/>
          <a:ln/>
        </p:spPr>
        <p:txBody>
          <a:bodyPr wrap="square" lIns="0" tIns="0" rIns="0" bIns="0" rtlCol="0" anchor="t"/>
          <a:lstStyle/>
          <a:p>
            <a:pPr indent="0" marL="0">
              <a:buNone/>
            </a:pPr>
            <a:r>
              <a:rPr lang="en-US" sz="9600" dirty="0">
                <a:solidFill>
                  <a:schemeClr val="bg1"/>
                </a:solidFill>
                <a:latin typeface="Cambria" pitchFamily="34" charset="0"/>
                <a:ea typeface="Cambria" pitchFamily="34" charset="-122"/>
                <a:cs typeface="Cambria" pitchFamily="34" charset="-120"/>
              </a:rPr>
              <a:t>04</a:t>
            </a:r>
            <a:endParaRPr lang="en-US" sz="9600" dirty="0"/>
          </a:p>
        </p:txBody>
      </p:sp>
      <p:sp>
        <p:nvSpPr>
          <p:cNvPr id="8" name="Icon disc"/>
          <p:cNvSpPr/>
          <p:nvPr/>
        </p:nvSpPr>
        <p:spPr>
          <a:xfrm>
            <a:off x="1051560" y="4800600"/>
            <a:ext cx="731520" cy="731520"/>
          </a:xfrm>
          <a:prstGeom prst="ellipse">
            <a:avLst/>
          </a:prstGeom>
          <a:solidFill>
            <a:schemeClr val="accent2"/>
          </a:solidFill>
          <a:ln/>
        </p:spPr>
      </p:sp>
      <p:pic>
        <p:nvPicPr>
          <p:cNvPr id="9" name="Image 0" descr="Wallet icon">    </p:cNvPr>
          <p:cNvPicPr>
            <a:picLocks noChangeAspect="1"/>
          </p:cNvPicPr>
          <p:nvPr/>
        </p:nvPicPr>
        <p:blipFill>
          <a:blip r:embed="rId1"/>
          <a:stretch>
            <a:fillRect/>
          </a:stretch>
        </p:blipFill>
        <p:spPr>
          <a:xfrm>
            <a:off x="1234440" y="4983480"/>
            <a:ext cx="365760" cy="365760"/>
          </a:xfrm>
          <a:prstGeom prst="rect">
            <a:avLst/>
          </a:prstGeom>
        </p:spPr>
      </p:pic>
      <p:sp>
        <p:nvSpPr>
          <p:cNvPr id="10" name="Text 6"/>
          <p:cNvSpPr txBox="1"/>
          <p:nvPr/>
        </p:nvSpPr>
        <p:spPr>
          <a:xfrm>
            <a:off x="4114800" y="1828800"/>
            <a:ext cx="7360920" cy="2103120"/>
          </a:xfrm>
          <a:prstGeom prst="rect">
            <a:avLst/>
          </a:prstGeom>
          <a:noFill/>
          <a:ln/>
        </p:spPr>
        <p:txBody>
          <a:bodyPr wrap="square" lIns="0" tIns="0" rIns="0" bIns="0" rtlCol="0" anchor="t"/>
          <a:lstStyle/>
          <a:p>
            <a:pPr indent="0" marL="0">
              <a:lnSpc>
                <a:spcPct val="115000"/>
              </a:lnSpc>
              <a:buNone/>
            </a:pPr>
            <a:r>
              <a:rPr lang="en-US" sz="1700" dirty="0">
                <a:solidFill>
                  <a:schemeClr val="tx1"/>
                </a:solidFill>
                <a:latin typeface="Cambria" pitchFamily="34" charset="0"/>
                <a:ea typeface="Cambria" pitchFamily="34" charset="-122"/>
                <a:cs typeface="Cambria" pitchFamily="34" charset="-120"/>
              </a:rPr>
              <a:t>A new client pays $350,000 into our client account to fund an investment structure. A week later, before any real work is done, he cancels the instruction. He asks us to refund the money to a different bank account, in another person's name, in another country.</a:t>
            </a:r>
            <a:endParaRPr lang="en-US" sz="1700" dirty="0"/>
          </a:p>
        </p:txBody>
      </p:sp>
      <p:sp>
        <p:nvSpPr>
          <p:cNvPr id="11" name="Text 7"/>
          <p:cNvSpPr txBox="1"/>
          <p:nvPr/>
        </p:nvSpPr>
        <p:spPr>
          <a:xfrm>
            <a:off x="4114800" y="4041648"/>
            <a:ext cx="2743200" cy="256032"/>
          </a:xfrm>
          <a:prstGeom prst="rect">
            <a:avLst/>
          </a:prstGeom>
          <a:noFill/>
          <a:ln/>
        </p:spPr>
        <p:txBody>
          <a:bodyPr wrap="square" lIns="0" tIns="0" rIns="0" bIns="0" rtlCol="0" anchor="t"/>
          <a:lstStyle/>
          <a:p>
            <a:pPr indent="0" marL="0">
              <a:buNone/>
            </a:pPr>
            <a:r>
              <a:rPr lang="en-US" sz="1000" b="1" spc="300" kern="0" dirty="0">
                <a:solidFill>
                  <a:schemeClr val="accent1"/>
                </a:solidFill>
              </a:rPr>
              <a:t>DISCUSS</a:t>
            </a:r>
            <a:endParaRPr lang="en-US" sz="1000" dirty="0"/>
          </a:p>
        </p:txBody>
      </p:sp>
      <p:sp>
        <p:nvSpPr>
          <p:cNvPr id="12" name="Question card"/>
          <p:cNvSpPr/>
          <p:nvPr/>
        </p:nvSpPr>
        <p:spPr>
          <a:xfrm>
            <a:off x="4114800" y="4389120"/>
            <a:ext cx="2359152" cy="1508760"/>
          </a:xfrm>
          <a:prstGeom prst="roundRect">
            <a:avLst>
              <a:gd name="adj" fmla="val 7273"/>
            </a:avLst>
          </a:prstGeom>
          <a:solidFill>
            <a:schemeClr val="bg2"/>
          </a:solidFill>
          <a:ln/>
        </p:spPr>
      </p:sp>
      <p:pic>
        <p:nvPicPr>
          <p:cNvPr id="13" name="Image 1" descr="question">    </p:cNvPr>
          <p:cNvPicPr>
            <a:picLocks noChangeAspect="1"/>
          </p:cNvPicPr>
          <p:nvPr/>
        </p:nvPicPr>
        <p:blipFill>
          <a:blip r:embed="rId2"/>
          <a:stretch>
            <a:fillRect/>
          </a:stretch>
        </p:blipFill>
        <p:spPr>
          <a:xfrm>
            <a:off x="4343400" y="4572000"/>
            <a:ext cx="310896" cy="310896"/>
          </a:xfrm>
          <a:prstGeom prst="rect">
            <a:avLst/>
          </a:prstGeom>
        </p:spPr>
      </p:pic>
      <p:sp>
        <p:nvSpPr>
          <p:cNvPr id="14" name="Text 9"/>
          <p:cNvSpPr txBox="1"/>
          <p:nvPr/>
        </p:nvSpPr>
        <p:spPr>
          <a:xfrm>
            <a:off x="4343400" y="4956048"/>
            <a:ext cx="1920240" cy="822960"/>
          </a:xfrm>
          <a:prstGeom prst="rect">
            <a:avLst/>
          </a:prstGeom>
          <a:noFill/>
          <a:ln/>
        </p:spPr>
        <p:txBody>
          <a:bodyPr wrap="square" lIns="0" tIns="0" rIns="0" bIns="0" rtlCol="0" anchor="t"/>
          <a:lstStyle/>
          <a:p>
            <a:pPr indent="0" marL="0">
              <a:buNone/>
            </a:pPr>
            <a:r>
              <a:rPr lang="en-US" sz="1350" dirty="0">
                <a:solidFill>
                  <a:schemeClr val="tx1"/>
                </a:solidFill>
              </a:rPr>
              <a:t>Why might a client do this?</a:t>
            </a:r>
            <a:endParaRPr lang="en-US" sz="1350" dirty="0"/>
          </a:p>
        </p:txBody>
      </p:sp>
      <p:sp>
        <p:nvSpPr>
          <p:cNvPr id="15" name="Question card"/>
          <p:cNvSpPr/>
          <p:nvPr/>
        </p:nvSpPr>
        <p:spPr>
          <a:xfrm>
            <a:off x="6629400" y="4389120"/>
            <a:ext cx="2359152" cy="1508760"/>
          </a:xfrm>
          <a:prstGeom prst="roundRect">
            <a:avLst>
              <a:gd name="adj" fmla="val 7273"/>
            </a:avLst>
          </a:prstGeom>
          <a:solidFill>
            <a:schemeClr val="bg2"/>
          </a:solidFill>
          <a:ln/>
        </p:spPr>
      </p:sp>
      <p:pic>
        <p:nvPicPr>
          <p:cNvPr id="16" name="Image 2" descr="question">    </p:cNvPr>
          <p:cNvPicPr>
            <a:picLocks noChangeAspect="1"/>
          </p:cNvPicPr>
          <p:nvPr/>
        </p:nvPicPr>
        <p:blipFill>
          <a:blip r:embed="rId3"/>
          <a:stretch>
            <a:fillRect/>
          </a:stretch>
        </p:blipFill>
        <p:spPr>
          <a:xfrm>
            <a:off x="6858000" y="4572000"/>
            <a:ext cx="310896" cy="310896"/>
          </a:xfrm>
          <a:prstGeom prst="rect">
            <a:avLst/>
          </a:prstGeom>
        </p:spPr>
      </p:pic>
      <p:sp>
        <p:nvSpPr>
          <p:cNvPr id="17" name="Text 11"/>
          <p:cNvSpPr txBox="1"/>
          <p:nvPr/>
        </p:nvSpPr>
        <p:spPr>
          <a:xfrm>
            <a:off x="6858000" y="4956048"/>
            <a:ext cx="1920240" cy="822960"/>
          </a:xfrm>
          <a:prstGeom prst="rect">
            <a:avLst/>
          </a:prstGeom>
          <a:noFill/>
          <a:ln/>
        </p:spPr>
        <p:txBody>
          <a:bodyPr wrap="square" lIns="0" tIns="0" rIns="0" bIns="0" rtlCol="0" anchor="t"/>
          <a:lstStyle/>
          <a:p>
            <a:pPr indent="0" marL="0">
              <a:buNone/>
            </a:pPr>
            <a:r>
              <a:rPr lang="en-US" sz="1350" dirty="0">
                <a:solidFill>
                  <a:schemeClr val="tx1"/>
                </a:solidFill>
              </a:rPr>
              <a:t>Can we simply refund it?</a:t>
            </a:r>
            <a:endParaRPr lang="en-US" sz="1350" dirty="0"/>
          </a:p>
        </p:txBody>
      </p:sp>
      <p:sp>
        <p:nvSpPr>
          <p:cNvPr id="18" name="Question card"/>
          <p:cNvSpPr/>
          <p:nvPr/>
        </p:nvSpPr>
        <p:spPr>
          <a:xfrm>
            <a:off x="9144000" y="4389120"/>
            <a:ext cx="2359152" cy="1508760"/>
          </a:xfrm>
          <a:prstGeom prst="roundRect">
            <a:avLst>
              <a:gd name="adj" fmla="val 7273"/>
            </a:avLst>
          </a:prstGeom>
          <a:solidFill>
            <a:schemeClr val="bg2"/>
          </a:solidFill>
          <a:ln/>
        </p:spPr>
      </p:sp>
      <p:pic>
        <p:nvPicPr>
          <p:cNvPr id="19" name="Image 3" descr="question">    </p:cNvPr>
          <p:cNvPicPr>
            <a:picLocks noChangeAspect="1"/>
          </p:cNvPicPr>
          <p:nvPr/>
        </p:nvPicPr>
        <p:blipFill>
          <a:blip r:embed="rId4"/>
          <a:stretch>
            <a:fillRect/>
          </a:stretch>
        </p:blipFill>
        <p:spPr>
          <a:xfrm>
            <a:off x="9372600" y="4572000"/>
            <a:ext cx="310896" cy="310896"/>
          </a:xfrm>
          <a:prstGeom prst="rect">
            <a:avLst/>
          </a:prstGeom>
        </p:spPr>
      </p:pic>
      <p:sp>
        <p:nvSpPr>
          <p:cNvPr id="20" name="Text 13"/>
          <p:cNvSpPr txBox="1"/>
          <p:nvPr/>
        </p:nvSpPr>
        <p:spPr>
          <a:xfrm>
            <a:off x="9372600" y="4956048"/>
            <a:ext cx="1920240" cy="822960"/>
          </a:xfrm>
          <a:prstGeom prst="rect">
            <a:avLst/>
          </a:prstGeom>
          <a:noFill/>
          <a:ln/>
        </p:spPr>
        <p:txBody>
          <a:bodyPr wrap="square" lIns="0" tIns="0" rIns="0" bIns="0" rtlCol="0" anchor="t"/>
          <a:lstStyle/>
          <a:p>
            <a:pPr indent="0" marL="0">
              <a:buNone/>
            </a:pPr>
            <a:r>
              <a:rPr lang="en-US" sz="1350" dirty="0">
                <a:solidFill>
                  <a:schemeClr val="tx1"/>
                </a:solidFill>
              </a:rPr>
              <a:t>What's the risk to the firm?</a:t>
            </a:r>
            <a:endParaRPr lang="en-US" sz="13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04 · CASE STUDY 4 · DEBRIEF</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The quick refund</a:t>
            </a:r>
            <a:endParaRPr lang="en-US" sz="3400" dirty="0"/>
          </a:p>
        </p:txBody>
      </p:sp>
      <p:sp>
        <p:nvSpPr>
          <p:cNvPr id="5" name="Debrief card"/>
          <p:cNvSpPr/>
          <p:nvPr/>
        </p:nvSpPr>
        <p:spPr>
          <a:xfrm>
            <a:off x="685800" y="1828800"/>
            <a:ext cx="3401568" cy="365760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6" name="Icon disc"/>
          <p:cNvSpPr/>
          <p:nvPr/>
        </p:nvSpPr>
        <p:spPr>
          <a:xfrm>
            <a:off x="1005840" y="2148840"/>
            <a:ext cx="548640" cy="548640"/>
          </a:xfrm>
          <a:prstGeom prst="ellipse">
            <a:avLst/>
          </a:prstGeom>
          <a:solidFill>
            <a:schemeClr val="accent2"/>
          </a:solidFill>
          <a:ln/>
        </p:spPr>
      </p:sp>
      <p:pic>
        <p:nvPicPr>
          <p:cNvPr id="7" name="Image 0" descr="Flag icon">    </p:cNvPr>
          <p:cNvPicPr>
            <a:picLocks noChangeAspect="1"/>
          </p:cNvPicPr>
          <p:nvPr/>
        </p:nvPicPr>
        <p:blipFill>
          <a:blip r:embed="rId1"/>
          <a:stretch>
            <a:fillRect/>
          </a:stretch>
        </p:blipFill>
        <p:spPr>
          <a:xfrm>
            <a:off x="1143000" y="2286000"/>
            <a:ext cx="274320" cy="274320"/>
          </a:xfrm>
          <a:prstGeom prst="rect">
            <a:avLst/>
          </a:prstGeom>
        </p:spPr>
      </p:pic>
      <p:sp>
        <p:nvSpPr>
          <p:cNvPr id="8" name="Text 4"/>
          <p:cNvSpPr txBox="1"/>
          <p:nvPr/>
        </p:nvSpPr>
        <p:spPr>
          <a:xfrm>
            <a:off x="1691640" y="2148840"/>
            <a:ext cx="2212848"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Warning signs</a:t>
            </a:r>
            <a:endParaRPr lang="en-US" sz="1700" dirty="0"/>
          </a:p>
        </p:txBody>
      </p:sp>
      <p:sp>
        <p:nvSpPr>
          <p:cNvPr id="9" name="Text 5"/>
          <p:cNvSpPr txBox="1"/>
          <p:nvPr/>
        </p:nvSpPr>
        <p:spPr>
          <a:xfrm>
            <a:off x="1005840" y="2971800"/>
            <a:ext cx="2761488" cy="237744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chemeClr val="tx2"/>
                </a:solidFill>
              </a:rPr>
              <a:t>Funds in, then out, with no real legal work done</a:t>
            </a:r>
            <a:endParaRPr lang="en-US" sz="1450" dirty="0"/>
          </a:p>
          <a:p>
            <a:pPr marL="203200" indent="-203200">
              <a:spcAft>
                <a:spcPts val="1000"/>
              </a:spcAft>
              <a:buSzPct val="100000"/>
              <a:buChar char="•"/>
            </a:pPr>
            <a:r>
              <a:rPr lang="en-US" sz="1450" dirty="0">
                <a:solidFill>
                  <a:schemeClr val="tx2"/>
                </a:solidFill>
              </a:rPr>
              <a:t>Refund to a third party in another country</a:t>
            </a:r>
            <a:endParaRPr lang="en-US" sz="1450" dirty="0"/>
          </a:p>
          <a:p>
            <a:pPr marL="203200" indent="-203200">
              <a:spcAft>
                <a:spcPts val="1000"/>
              </a:spcAft>
              <a:buSzPct val="100000"/>
              <a:buChar char="•"/>
            </a:pPr>
            <a:r>
              <a:rPr lang="en-US" sz="1450" dirty="0">
                <a:solidFill>
                  <a:schemeClr val="tx2"/>
                </a:solidFill>
              </a:rPr>
              <a:t>No credible reason for the change</a:t>
            </a:r>
            <a:endParaRPr lang="en-US" sz="1450" dirty="0"/>
          </a:p>
        </p:txBody>
      </p:sp>
      <p:sp>
        <p:nvSpPr>
          <p:cNvPr id="10" name="Debrief card"/>
          <p:cNvSpPr/>
          <p:nvPr/>
        </p:nvSpPr>
        <p:spPr>
          <a:xfrm>
            <a:off x="4393692" y="1828800"/>
            <a:ext cx="3401568" cy="365760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11" name="Icon disc"/>
          <p:cNvSpPr/>
          <p:nvPr/>
        </p:nvSpPr>
        <p:spPr>
          <a:xfrm>
            <a:off x="4713732" y="2148840"/>
            <a:ext cx="548640" cy="548640"/>
          </a:xfrm>
          <a:prstGeom prst="ellipse">
            <a:avLst/>
          </a:prstGeom>
          <a:solidFill>
            <a:schemeClr val="accent1"/>
          </a:solidFill>
          <a:ln/>
        </p:spPr>
      </p:sp>
      <p:pic>
        <p:nvPicPr>
          <p:cNvPr id="12" name="Image 1" descr="CircleCheck icon">    </p:cNvPr>
          <p:cNvPicPr>
            <a:picLocks noChangeAspect="1"/>
          </p:cNvPicPr>
          <p:nvPr/>
        </p:nvPicPr>
        <p:blipFill>
          <a:blip r:embed="rId2"/>
          <a:stretch>
            <a:fillRect/>
          </a:stretch>
        </p:blipFill>
        <p:spPr>
          <a:xfrm>
            <a:off x="4850892" y="2286000"/>
            <a:ext cx="274320" cy="274320"/>
          </a:xfrm>
          <a:prstGeom prst="rect">
            <a:avLst/>
          </a:prstGeom>
        </p:spPr>
      </p:pic>
      <p:sp>
        <p:nvSpPr>
          <p:cNvPr id="13" name="Text 8"/>
          <p:cNvSpPr txBox="1"/>
          <p:nvPr/>
        </p:nvSpPr>
        <p:spPr>
          <a:xfrm>
            <a:off x="5399532" y="2148840"/>
            <a:ext cx="2212848"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What good looks like</a:t>
            </a:r>
            <a:endParaRPr lang="en-US" sz="1700" dirty="0"/>
          </a:p>
        </p:txBody>
      </p:sp>
      <p:sp>
        <p:nvSpPr>
          <p:cNvPr id="14" name="Text 9"/>
          <p:cNvSpPr txBox="1"/>
          <p:nvPr/>
        </p:nvSpPr>
        <p:spPr>
          <a:xfrm>
            <a:off x="4713732" y="2971800"/>
            <a:ext cx="2761488" cy="237744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chemeClr val="tx2"/>
                </a:solidFill>
              </a:rPr>
              <a:t>Refund only to the original source account, if at all</a:t>
            </a:r>
            <a:endParaRPr lang="en-US" sz="1450" dirty="0"/>
          </a:p>
          <a:p>
            <a:pPr marL="203200" indent="-203200">
              <a:spcAft>
                <a:spcPts val="1000"/>
              </a:spcAft>
              <a:buSzPct val="100000"/>
              <a:buChar char="•"/>
            </a:pPr>
            <a:r>
              <a:rPr lang="en-US" sz="1450" dirty="0">
                <a:solidFill>
                  <a:schemeClr val="tx2"/>
                </a:solidFill>
              </a:rPr>
              <a:t>Pause and report to the MLRO before any payment</a:t>
            </a:r>
            <a:endParaRPr lang="en-US" sz="1450" dirty="0"/>
          </a:p>
          <a:p>
            <a:pPr marL="203200" indent="-203200">
              <a:spcAft>
                <a:spcPts val="1000"/>
              </a:spcAft>
              <a:buSzPct val="100000"/>
              <a:buChar char="•"/>
            </a:pPr>
            <a:r>
              <a:rPr lang="en-US" sz="1450" dirty="0">
                <a:solidFill>
                  <a:schemeClr val="tx2"/>
                </a:solidFill>
              </a:rPr>
              <a:t>Document the full sequence of events</a:t>
            </a:r>
            <a:endParaRPr lang="en-US" sz="1450" dirty="0"/>
          </a:p>
        </p:txBody>
      </p:sp>
      <p:sp>
        <p:nvSpPr>
          <p:cNvPr id="15" name="Debrief card"/>
          <p:cNvSpPr/>
          <p:nvPr/>
        </p:nvSpPr>
        <p:spPr>
          <a:xfrm>
            <a:off x="8101584" y="1828800"/>
            <a:ext cx="3401568" cy="365760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16" name="Icon disc"/>
          <p:cNvSpPr/>
          <p:nvPr/>
        </p:nvSpPr>
        <p:spPr>
          <a:xfrm>
            <a:off x="8421624" y="2148840"/>
            <a:ext cx="548640" cy="548640"/>
          </a:xfrm>
          <a:prstGeom prst="ellipse">
            <a:avLst/>
          </a:prstGeom>
          <a:solidFill>
            <a:schemeClr val="tx1"/>
          </a:solidFill>
          <a:ln/>
        </p:spPr>
      </p:sp>
      <p:pic>
        <p:nvPicPr>
          <p:cNvPr id="17" name="Image 2" descr="Ban icon">    </p:cNvPr>
          <p:cNvPicPr>
            <a:picLocks noChangeAspect="1"/>
          </p:cNvPicPr>
          <p:nvPr/>
        </p:nvPicPr>
        <p:blipFill>
          <a:blip r:embed="rId3"/>
          <a:stretch>
            <a:fillRect/>
          </a:stretch>
        </p:blipFill>
        <p:spPr>
          <a:xfrm>
            <a:off x="8558784" y="2286000"/>
            <a:ext cx="274320" cy="274320"/>
          </a:xfrm>
          <a:prstGeom prst="rect">
            <a:avLst/>
          </a:prstGeom>
        </p:spPr>
      </p:pic>
      <p:sp>
        <p:nvSpPr>
          <p:cNvPr id="18" name="Text 12"/>
          <p:cNvSpPr txBox="1"/>
          <p:nvPr/>
        </p:nvSpPr>
        <p:spPr>
          <a:xfrm>
            <a:off x="9107424" y="2148840"/>
            <a:ext cx="2212848"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What we must not do</a:t>
            </a:r>
            <a:endParaRPr lang="en-US" sz="1700" dirty="0"/>
          </a:p>
        </p:txBody>
      </p:sp>
      <p:sp>
        <p:nvSpPr>
          <p:cNvPr id="19" name="Text 13"/>
          <p:cNvSpPr txBox="1"/>
          <p:nvPr/>
        </p:nvSpPr>
        <p:spPr>
          <a:xfrm>
            <a:off x="8421624" y="2971800"/>
            <a:ext cx="2761488" cy="237744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chemeClr val="tx2"/>
                </a:solidFill>
              </a:rPr>
              <a:t>Pay a third party because the client asks</a:t>
            </a:r>
            <a:endParaRPr lang="en-US" sz="1450" dirty="0"/>
          </a:p>
          <a:p>
            <a:pPr marL="203200" indent="-203200">
              <a:spcAft>
                <a:spcPts val="1000"/>
              </a:spcAft>
              <a:buSzPct val="100000"/>
              <a:buChar char="•"/>
            </a:pPr>
            <a:r>
              <a:rPr lang="en-US" sz="1450" dirty="0">
                <a:solidFill>
                  <a:schemeClr val="tx2"/>
                </a:solidFill>
              </a:rPr>
              <a:t>Let our client account act as a bank</a:t>
            </a:r>
            <a:endParaRPr lang="en-US" sz="1450" dirty="0"/>
          </a:p>
          <a:p>
            <a:pPr marL="203200" indent="-203200">
              <a:spcAft>
                <a:spcPts val="1000"/>
              </a:spcAft>
              <a:buSzPct val="100000"/>
              <a:buChar char="•"/>
            </a:pPr>
            <a:r>
              <a:rPr lang="en-US" sz="1450" dirty="0">
                <a:solidFill>
                  <a:schemeClr val="tx2"/>
                </a:solidFill>
              </a:rPr>
              <a:t>Tell the client a report is being considered</a:t>
            </a:r>
            <a:endParaRPr lang="en-US" sz="14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body" hasCustomPrompt="1"/>
          </p:nvPr>
        </p:nvSpPr>
        <p:spPr>
          <a:xfrm>
            <a:off x="685800" y="1097280"/>
            <a:ext cx="3657600" cy="1645920"/>
          </a:xfrm>
          <a:prstGeom prst="rect">
            <a:avLst/>
          </a:prstGeom>
          <a:noFill/>
          <a:ln/>
        </p:spPr>
        <p:txBody>
          <a:bodyPr wrap="square" lIns="0" tIns="0" rIns="0" bIns="0" rtlCol="0" anchor="b"/>
          <a:lstStyle/>
          <a:p>
            <a:pPr algn="l" indent="0" marL="0">
              <a:buNone/>
            </a:pPr>
            <a:r>
              <a:rPr lang="en-US" sz="11000" dirty="0">
                <a:solidFill>
                  <a:schemeClr val="accent1"/>
                </a:solidFill>
                <a:latin typeface="Cambria" pitchFamily="34" charset="0"/>
                <a:ea typeface="Cambria" pitchFamily="34" charset="-122"/>
                <a:cs typeface="Cambria" pitchFamily="34" charset="-120"/>
              </a:rPr>
              <a:t>05</a:t>
            </a:r>
            <a:endParaRPr lang="en-US" sz="11000" dirty="0"/>
          </a:p>
        </p:txBody>
      </p:sp>
      <p:sp>
        <p:nvSpPr>
          <p:cNvPr id="3" name="Text 2"/>
          <p:cNvSpPr/>
          <p:nvPr>
            <p:ph idx="103" type="title" hasCustomPrompt="1"/>
          </p:nvPr>
        </p:nvSpPr>
        <p:spPr>
          <a:xfrm>
            <a:off x="685800" y="2880360"/>
            <a:ext cx="8229600" cy="1188720"/>
          </a:xfrm>
          <a:prstGeom prst="rect">
            <a:avLst/>
          </a:prstGeom>
          <a:noFill/>
          <a:ln/>
        </p:spPr>
        <p:txBody>
          <a:bodyPr wrap="square" lIns="0" tIns="0" rIns="0" bIns="0" rtlCol="0" anchor="t"/>
          <a:lstStyle/>
          <a:p>
            <a:pPr algn="l" indent="0" marL="0">
              <a:buNone/>
            </a:pPr>
            <a:r>
              <a:rPr lang="en-US" sz="4400" dirty="0">
                <a:solidFill>
                  <a:schemeClr val="bg1"/>
                </a:solidFill>
                <a:latin typeface="Cambria" pitchFamily="34" charset="0"/>
                <a:ea typeface="Cambria" pitchFamily="34" charset="-122"/>
                <a:cs typeface="Cambria" pitchFamily="34" charset="-120"/>
              </a:rPr>
              <a:t>Getting it right</a:t>
            </a:r>
            <a:endParaRPr lang="en-US" sz="4400" dirty="0"/>
          </a:p>
        </p:txBody>
      </p:sp>
      <p:sp>
        <p:nvSpPr>
          <p:cNvPr id="4" name="Text 2"/>
          <p:cNvSpPr/>
          <p:nvPr>
            <p:ph idx="104" type="body" hasCustomPrompt="1"/>
          </p:nvPr>
        </p:nvSpPr>
        <p:spPr>
          <a:xfrm>
            <a:off x="685800" y="4160520"/>
            <a:ext cx="6583680" cy="1097280"/>
          </a:xfrm>
          <a:prstGeom prst="rect">
            <a:avLst/>
          </a:prstGeom>
          <a:noFill/>
          <a:ln/>
        </p:spPr>
        <p:txBody>
          <a:bodyPr wrap="square" lIns="0" tIns="0" rIns="0" bIns="0" rtlCol="0" anchor="t"/>
          <a:lstStyle/>
          <a:p>
            <a:pPr algn="l" indent="0" marL="0">
              <a:buNone/>
            </a:pPr>
            <a:r>
              <a:rPr lang="en-US" sz="1800" dirty="0">
                <a:solidFill>
                  <a:schemeClr val="accent6"/>
                </a:solidFill>
              </a:rPr>
              <a:t>What supervisors commonly find, a short assessment, and your annual attestation</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05 · GETTING IT RIGHT</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Where firms commonly fall short</a:t>
            </a:r>
            <a:endParaRPr lang="en-US" sz="3400" dirty="0"/>
          </a:p>
        </p:txBody>
      </p:sp>
      <p:sp>
        <p:nvSpPr>
          <p:cNvPr id="5" name="Text 2"/>
          <p:cNvSpPr txBox="1"/>
          <p:nvPr/>
        </p:nvSpPr>
        <p:spPr>
          <a:xfrm>
            <a:off x="960120" y="1783080"/>
            <a:ext cx="3657600" cy="256032"/>
          </a:xfrm>
          <a:prstGeom prst="rect">
            <a:avLst/>
          </a:prstGeom>
          <a:noFill/>
          <a:ln/>
        </p:spPr>
        <p:txBody>
          <a:bodyPr wrap="square" lIns="0" tIns="0" rIns="0" bIns="0" rtlCol="0" anchor="t"/>
          <a:lstStyle/>
          <a:p>
            <a:pPr indent="0" marL="0">
              <a:buNone/>
            </a:pPr>
            <a:r>
              <a:rPr lang="en-US" sz="1000" b="1" spc="300" kern="0" dirty="0">
                <a:solidFill>
                  <a:schemeClr val="accent2"/>
                </a:solidFill>
              </a:rPr>
              <a:t>COMMON WEAKNESS</a:t>
            </a:r>
            <a:endParaRPr lang="en-US" sz="1000" dirty="0"/>
          </a:p>
        </p:txBody>
      </p:sp>
      <p:sp>
        <p:nvSpPr>
          <p:cNvPr id="6" name="Text 3"/>
          <p:cNvSpPr txBox="1"/>
          <p:nvPr/>
        </p:nvSpPr>
        <p:spPr>
          <a:xfrm>
            <a:off x="5349240" y="1783080"/>
            <a:ext cx="3657600" cy="256032"/>
          </a:xfrm>
          <a:prstGeom prst="rect">
            <a:avLst/>
          </a:prstGeom>
          <a:noFill/>
          <a:ln/>
        </p:spPr>
        <p:txBody>
          <a:bodyPr wrap="square" lIns="0" tIns="0" rIns="0" bIns="0" rtlCol="0" anchor="t"/>
          <a:lstStyle/>
          <a:p>
            <a:pPr indent="0" marL="0">
              <a:buNone/>
            </a:pPr>
            <a:r>
              <a:rPr lang="en-US" sz="1000" b="1" spc="300" kern="0" dirty="0">
                <a:solidFill>
                  <a:schemeClr val="accent1"/>
                </a:solidFill>
              </a:rPr>
              <a:t>WHAT GOOD LOOKS LIKE</a:t>
            </a:r>
            <a:endParaRPr lang="en-US" sz="1000" dirty="0"/>
          </a:p>
        </p:txBody>
      </p:sp>
      <p:sp>
        <p:nvSpPr>
          <p:cNvPr id="7" name="Finding row"/>
          <p:cNvSpPr/>
          <p:nvPr/>
        </p:nvSpPr>
        <p:spPr>
          <a:xfrm>
            <a:off x="685800" y="2148840"/>
            <a:ext cx="10817352" cy="640080"/>
          </a:xfrm>
          <a:prstGeom prst="roundRect">
            <a:avLst>
              <a:gd name="adj" fmla="val 17143"/>
            </a:avLst>
          </a:prstGeom>
          <a:solidFill>
            <a:schemeClr val="bg1"/>
          </a:solidFill>
          <a:ln/>
          <a:effectLst>
            <a:outerShdw sx="100000" sy="100000" kx="0" ky="0" algn="bl" rotWithShape="0" blurRad="177800" dist="38100" dir="5400000">
              <a:srgbClr val="0B1F2A">
                <a:alpha val="10000"/>
              </a:srgbClr>
            </a:outerShdw>
          </a:effectLst>
        </p:spPr>
      </p:sp>
      <p:pic>
        <p:nvPicPr>
          <p:cNvPr id="8" name="Image 0" descr="weakness">    </p:cNvPr>
          <p:cNvPicPr>
            <a:picLocks noChangeAspect="1"/>
          </p:cNvPicPr>
          <p:nvPr/>
        </p:nvPicPr>
        <p:blipFill>
          <a:blip r:embed="rId1"/>
          <a:stretch>
            <a:fillRect/>
          </a:stretch>
        </p:blipFill>
        <p:spPr>
          <a:xfrm>
            <a:off x="960120" y="2313432"/>
            <a:ext cx="310896" cy="310896"/>
          </a:xfrm>
          <a:prstGeom prst="rect">
            <a:avLst/>
          </a:prstGeom>
        </p:spPr>
      </p:pic>
      <p:sp>
        <p:nvSpPr>
          <p:cNvPr id="9" name="Text 5"/>
          <p:cNvSpPr txBox="1"/>
          <p:nvPr/>
        </p:nvSpPr>
        <p:spPr>
          <a:xfrm>
            <a:off x="1417320" y="2148840"/>
            <a:ext cx="3749040" cy="640080"/>
          </a:xfrm>
          <a:prstGeom prst="rect">
            <a:avLst/>
          </a:prstGeom>
          <a:noFill/>
          <a:ln/>
        </p:spPr>
        <p:txBody>
          <a:bodyPr wrap="square" lIns="0" tIns="0" rIns="0" bIns="0" rtlCol="0" anchor="ctr"/>
          <a:lstStyle/>
          <a:p>
            <a:pPr indent="0" marL="0">
              <a:buNone/>
            </a:pPr>
            <a:r>
              <a:rPr lang="en-US" sz="1500" b="1" dirty="0">
                <a:solidFill>
                  <a:schemeClr val="tx1"/>
                </a:solidFill>
              </a:rPr>
              <a:t>Generic risk assessments</a:t>
            </a:r>
            <a:endParaRPr lang="en-US" sz="1500" dirty="0"/>
          </a:p>
        </p:txBody>
      </p:sp>
      <p:pic>
        <p:nvPicPr>
          <p:cNvPr id="10" name="Image 1" descr="arrow">    </p:cNvPr>
          <p:cNvPicPr>
            <a:picLocks noChangeAspect="1"/>
          </p:cNvPicPr>
          <p:nvPr/>
        </p:nvPicPr>
        <p:blipFill>
          <a:blip r:embed="rId2"/>
          <a:stretch>
            <a:fillRect/>
          </a:stretch>
        </p:blipFill>
        <p:spPr>
          <a:xfrm>
            <a:off x="4800600" y="2331720"/>
            <a:ext cx="274320" cy="274320"/>
          </a:xfrm>
          <a:prstGeom prst="rect">
            <a:avLst/>
          </a:prstGeom>
        </p:spPr>
      </p:pic>
      <p:sp>
        <p:nvSpPr>
          <p:cNvPr id="11" name="Text 6"/>
          <p:cNvSpPr txBox="1"/>
          <p:nvPr/>
        </p:nvSpPr>
        <p:spPr>
          <a:xfrm>
            <a:off x="5349240" y="2148840"/>
            <a:ext cx="5943600" cy="640080"/>
          </a:xfrm>
          <a:prstGeom prst="rect">
            <a:avLst/>
          </a:prstGeom>
          <a:noFill/>
          <a:ln/>
        </p:spPr>
        <p:txBody>
          <a:bodyPr wrap="square" lIns="0" tIns="0" rIns="0" bIns="0" rtlCol="0" anchor="ctr"/>
          <a:lstStyle/>
          <a:p>
            <a:pPr indent="0" marL="0">
              <a:buNone/>
            </a:pPr>
            <a:r>
              <a:rPr lang="en-US" sz="1450" dirty="0">
                <a:solidFill>
                  <a:schemeClr val="tx2"/>
                </a:solidFill>
              </a:rPr>
              <a:t>A client risk rating with reasons specific to that client and matter</a:t>
            </a:r>
            <a:endParaRPr lang="en-US" sz="1450" dirty="0"/>
          </a:p>
        </p:txBody>
      </p:sp>
      <p:sp>
        <p:nvSpPr>
          <p:cNvPr id="12" name="Finding row"/>
          <p:cNvSpPr/>
          <p:nvPr/>
        </p:nvSpPr>
        <p:spPr>
          <a:xfrm>
            <a:off x="685800" y="2907792"/>
            <a:ext cx="10817352" cy="640080"/>
          </a:xfrm>
          <a:prstGeom prst="roundRect">
            <a:avLst>
              <a:gd name="adj" fmla="val 17143"/>
            </a:avLst>
          </a:prstGeom>
          <a:solidFill>
            <a:schemeClr val="bg2"/>
          </a:solidFill>
          <a:ln/>
        </p:spPr>
      </p:sp>
      <p:pic>
        <p:nvPicPr>
          <p:cNvPr id="13" name="Image 2" descr="weakness">    </p:cNvPr>
          <p:cNvPicPr>
            <a:picLocks noChangeAspect="1"/>
          </p:cNvPicPr>
          <p:nvPr/>
        </p:nvPicPr>
        <p:blipFill>
          <a:blip r:embed="rId3"/>
          <a:stretch>
            <a:fillRect/>
          </a:stretch>
        </p:blipFill>
        <p:spPr>
          <a:xfrm>
            <a:off x="960120" y="3072384"/>
            <a:ext cx="310896" cy="310896"/>
          </a:xfrm>
          <a:prstGeom prst="rect">
            <a:avLst/>
          </a:prstGeom>
        </p:spPr>
      </p:pic>
      <p:sp>
        <p:nvSpPr>
          <p:cNvPr id="14" name="Text 8"/>
          <p:cNvSpPr txBox="1"/>
          <p:nvPr/>
        </p:nvSpPr>
        <p:spPr>
          <a:xfrm>
            <a:off x="1417320" y="2907792"/>
            <a:ext cx="3749040" cy="640080"/>
          </a:xfrm>
          <a:prstGeom prst="rect">
            <a:avLst/>
          </a:prstGeom>
          <a:noFill/>
          <a:ln/>
        </p:spPr>
        <p:txBody>
          <a:bodyPr wrap="square" lIns="0" tIns="0" rIns="0" bIns="0" rtlCol="0" anchor="ctr"/>
          <a:lstStyle/>
          <a:p>
            <a:pPr indent="0" marL="0">
              <a:buNone/>
            </a:pPr>
            <a:r>
              <a:rPr lang="en-US" sz="1500" b="1" dirty="0">
                <a:solidFill>
                  <a:schemeClr val="tx1"/>
                </a:solidFill>
              </a:rPr>
              <a:t>Source of wealth taken on trust</a:t>
            </a:r>
            <a:endParaRPr lang="en-US" sz="1500" dirty="0"/>
          </a:p>
        </p:txBody>
      </p:sp>
      <p:pic>
        <p:nvPicPr>
          <p:cNvPr id="15" name="Image 3" descr="arrow">    </p:cNvPr>
          <p:cNvPicPr>
            <a:picLocks noChangeAspect="1"/>
          </p:cNvPicPr>
          <p:nvPr/>
        </p:nvPicPr>
        <p:blipFill>
          <a:blip r:embed="rId4"/>
          <a:stretch>
            <a:fillRect/>
          </a:stretch>
        </p:blipFill>
        <p:spPr>
          <a:xfrm>
            <a:off x="4800600" y="3090672"/>
            <a:ext cx="274320" cy="274320"/>
          </a:xfrm>
          <a:prstGeom prst="rect">
            <a:avLst/>
          </a:prstGeom>
        </p:spPr>
      </p:pic>
      <p:sp>
        <p:nvSpPr>
          <p:cNvPr id="16" name="Text 9"/>
          <p:cNvSpPr txBox="1"/>
          <p:nvPr/>
        </p:nvSpPr>
        <p:spPr>
          <a:xfrm>
            <a:off x="5349240" y="2907792"/>
            <a:ext cx="5943600" cy="640080"/>
          </a:xfrm>
          <a:prstGeom prst="rect">
            <a:avLst/>
          </a:prstGeom>
          <a:noFill/>
          <a:ln/>
        </p:spPr>
        <p:txBody>
          <a:bodyPr wrap="square" lIns="0" tIns="0" rIns="0" bIns="0" rtlCol="0" anchor="ctr"/>
          <a:lstStyle/>
          <a:p>
            <a:pPr indent="0" marL="0">
              <a:buNone/>
            </a:pPr>
            <a:r>
              <a:rPr lang="en-US" sz="1450" dirty="0">
                <a:solidFill>
                  <a:schemeClr val="tx2"/>
                </a:solidFill>
              </a:rPr>
              <a:t>Documentary evidence that corroborates the client's account</a:t>
            </a:r>
            <a:endParaRPr lang="en-US" sz="1450" dirty="0"/>
          </a:p>
        </p:txBody>
      </p:sp>
      <p:sp>
        <p:nvSpPr>
          <p:cNvPr id="17" name="Finding row"/>
          <p:cNvSpPr/>
          <p:nvPr/>
        </p:nvSpPr>
        <p:spPr>
          <a:xfrm>
            <a:off x="685800" y="3666744"/>
            <a:ext cx="10817352" cy="640080"/>
          </a:xfrm>
          <a:prstGeom prst="roundRect">
            <a:avLst>
              <a:gd name="adj" fmla="val 17143"/>
            </a:avLst>
          </a:prstGeom>
          <a:solidFill>
            <a:schemeClr val="bg1"/>
          </a:solidFill>
          <a:ln/>
          <a:effectLst>
            <a:outerShdw sx="100000" sy="100000" kx="0" ky="0" algn="bl" rotWithShape="0" blurRad="177800" dist="38100" dir="5400000">
              <a:srgbClr val="0B1F2A">
                <a:alpha val="10000"/>
              </a:srgbClr>
            </a:outerShdw>
          </a:effectLst>
        </p:spPr>
      </p:sp>
      <p:pic>
        <p:nvPicPr>
          <p:cNvPr id="18" name="Image 4" descr="weakness">    </p:cNvPr>
          <p:cNvPicPr>
            <a:picLocks noChangeAspect="1"/>
          </p:cNvPicPr>
          <p:nvPr/>
        </p:nvPicPr>
        <p:blipFill>
          <a:blip r:embed="rId5"/>
          <a:stretch>
            <a:fillRect/>
          </a:stretch>
        </p:blipFill>
        <p:spPr>
          <a:xfrm>
            <a:off x="960120" y="3831336"/>
            <a:ext cx="310896" cy="310896"/>
          </a:xfrm>
          <a:prstGeom prst="rect">
            <a:avLst/>
          </a:prstGeom>
        </p:spPr>
      </p:pic>
      <p:sp>
        <p:nvSpPr>
          <p:cNvPr id="19" name="Text 11"/>
          <p:cNvSpPr txBox="1"/>
          <p:nvPr/>
        </p:nvSpPr>
        <p:spPr>
          <a:xfrm>
            <a:off x="1417320" y="3666744"/>
            <a:ext cx="3749040" cy="640080"/>
          </a:xfrm>
          <a:prstGeom prst="rect">
            <a:avLst/>
          </a:prstGeom>
          <a:noFill/>
          <a:ln/>
        </p:spPr>
        <p:txBody>
          <a:bodyPr wrap="square" lIns="0" tIns="0" rIns="0" bIns="0" rtlCol="0" anchor="ctr"/>
          <a:lstStyle/>
          <a:p>
            <a:pPr indent="0" marL="0">
              <a:buNone/>
            </a:pPr>
            <a:r>
              <a:rPr lang="en-US" sz="1500" b="1" dirty="0">
                <a:solidFill>
                  <a:schemeClr val="tx1"/>
                </a:solidFill>
              </a:rPr>
              <a:t>Out-of-date CDD</a:t>
            </a:r>
            <a:endParaRPr lang="en-US" sz="1500" dirty="0"/>
          </a:p>
        </p:txBody>
      </p:sp>
      <p:pic>
        <p:nvPicPr>
          <p:cNvPr id="20" name="Image 5" descr="arrow">    </p:cNvPr>
          <p:cNvPicPr>
            <a:picLocks noChangeAspect="1"/>
          </p:cNvPicPr>
          <p:nvPr/>
        </p:nvPicPr>
        <p:blipFill>
          <a:blip r:embed="rId6"/>
          <a:stretch>
            <a:fillRect/>
          </a:stretch>
        </p:blipFill>
        <p:spPr>
          <a:xfrm>
            <a:off x="4800600" y="3849624"/>
            <a:ext cx="274320" cy="274320"/>
          </a:xfrm>
          <a:prstGeom prst="rect">
            <a:avLst/>
          </a:prstGeom>
        </p:spPr>
      </p:pic>
      <p:sp>
        <p:nvSpPr>
          <p:cNvPr id="21" name="Text 12"/>
          <p:cNvSpPr txBox="1"/>
          <p:nvPr/>
        </p:nvSpPr>
        <p:spPr>
          <a:xfrm>
            <a:off x="5349240" y="3666744"/>
            <a:ext cx="5943600" cy="640080"/>
          </a:xfrm>
          <a:prstGeom prst="rect">
            <a:avLst/>
          </a:prstGeom>
          <a:noFill/>
          <a:ln/>
        </p:spPr>
        <p:txBody>
          <a:bodyPr wrap="square" lIns="0" tIns="0" rIns="0" bIns="0" rtlCol="0" anchor="ctr"/>
          <a:lstStyle/>
          <a:p>
            <a:pPr indent="0" marL="0">
              <a:buNone/>
            </a:pPr>
            <a:r>
              <a:rPr lang="en-US" sz="1450" dirty="0">
                <a:solidFill>
                  <a:schemeClr val="tx2"/>
                </a:solidFill>
              </a:rPr>
              <a:t>Reviews completed on schedule and after trigger events</a:t>
            </a:r>
            <a:endParaRPr lang="en-US" sz="1450" dirty="0"/>
          </a:p>
        </p:txBody>
      </p:sp>
      <p:sp>
        <p:nvSpPr>
          <p:cNvPr id="22" name="Finding row"/>
          <p:cNvSpPr/>
          <p:nvPr/>
        </p:nvSpPr>
        <p:spPr>
          <a:xfrm>
            <a:off x="685800" y="4425696"/>
            <a:ext cx="10817352" cy="640080"/>
          </a:xfrm>
          <a:prstGeom prst="roundRect">
            <a:avLst>
              <a:gd name="adj" fmla="val 17143"/>
            </a:avLst>
          </a:prstGeom>
          <a:solidFill>
            <a:schemeClr val="bg2"/>
          </a:solidFill>
          <a:ln/>
        </p:spPr>
      </p:sp>
      <p:pic>
        <p:nvPicPr>
          <p:cNvPr id="23" name="Image 6" descr="weakness">    </p:cNvPr>
          <p:cNvPicPr>
            <a:picLocks noChangeAspect="1"/>
          </p:cNvPicPr>
          <p:nvPr/>
        </p:nvPicPr>
        <p:blipFill>
          <a:blip r:embed="rId7"/>
          <a:stretch>
            <a:fillRect/>
          </a:stretch>
        </p:blipFill>
        <p:spPr>
          <a:xfrm>
            <a:off x="960120" y="4590288"/>
            <a:ext cx="310896" cy="310896"/>
          </a:xfrm>
          <a:prstGeom prst="rect">
            <a:avLst/>
          </a:prstGeom>
        </p:spPr>
      </p:pic>
      <p:sp>
        <p:nvSpPr>
          <p:cNvPr id="24" name="Text 14"/>
          <p:cNvSpPr txBox="1"/>
          <p:nvPr/>
        </p:nvSpPr>
        <p:spPr>
          <a:xfrm>
            <a:off x="1417320" y="4425696"/>
            <a:ext cx="3749040" cy="640080"/>
          </a:xfrm>
          <a:prstGeom prst="rect">
            <a:avLst/>
          </a:prstGeom>
          <a:noFill/>
          <a:ln/>
        </p:spPr>
        <p:txBody>
          <a:bodyPr wrap="square" lIns="0" tIns="0" rIns="0" bIns="0" rtlCol="0" anchor="ctr"/>
          <a:lstStyle/>
          <a:p>
            <a:pPr indent="0" marL="0">
              <a:buNone/>
            </a:pPr>
            <a:r>
              <a:rPr lang="en-US" sz="1500" b="1" dirty="0">
                <a:solidFill>
                  <a:schemeClr val="tx1"/>
                </a:solidFill>
              </a:rPr>
              <a:t>Weak beneficial ownership</a:t>
            </a:r>
            <a:endParaRPr lang="en-US" sz="1500" dirty="0"/>
          </a:p>
        </p:txBody>
      </p:sp>
      <p:pic>
        <p:nvPicPr>
          <p:cNvPr id="25" name="Image 7" descr="arrow">    </p:cNvPr>
          <p:cNvPicPr>
            <a:picLocks noChangeAspect="1"/>
          </p:cNvPicPr>
          <p:nvPr/>
        </p:nvPicPr>
        <p:blipFill>
          <a:blip r:embed="rId8"/>
          <a:stretch>
            <a:fillRect/>
          </a:stretch>
        </p:blipFill>
        <p:spPr>
          <a:xfrm>
            <a:off x="4800600" y="4608576"/>
            <a:ext cx="274320" cy="274320"/>
          </a:xfrm>
          <a:prstGeom prst="rect">
            <a:avLst/>
          </a:prstGeom>
        </p:spPr>
      </p:pic>
      <p:sp>
        <p:nvSpPr>
          <p:cNvPr id="26" name="Text 15"/>
          <p:cNvSpPr txBox="1"/>
          <p:nvPr/>
        </p:nvSpPr>
        <p:spPr>
          <a:xfrm>
            <a:off x="5349240" y="4425696"/>
            <a:ext cx="5943600" cy="640080"/>
          </a:xfrm>
          <a:prstGeom prst="rect">
            <a:avLst/>
          </a:prstGeom>
          <a:noFill/>
          <a:ln/>
        </p:spPr>
        <p:txBody>
          <a:bodyPr wrap="square" lIns="0" tIns="0" rIns="0" bIns="0" rtlCol="0" anchor="ctr"/>
          <a:lstStyle/>
          <a:p>
            <a:pPr indent="0" marL="0">
              <a:buNone/>
            </a:pPr>
            <a:r>
              <a:rPr lang="en-US" sz="1450" dirty="0">
                <a:solidFill>
                  <a:schemeClr val="tx2"/>
                </a:solidFill>
              </a:rPr>
              <a:t>Every person with real control identified, especially in trusts</a:t>
            </a:r>
            <a:endParaRPr lang="en-US" sz="1450" dirty="0"/>
          </a:p>
        </p:txBody>
      </p:sp>
      <p:sp>
        <p:nvSpPr>
          <p:cNvPr id="27" name="Finding row"/>
          <p:cNvSpPr/>
          <p:nvPr/>
        </p:nvSpPr>
        <p:spPr>
          <a:xfrm>
            <a:off x="685800" y="5184648"/>
            <a:ext cx="10817352" cy="640080"/>
          </a:xfrm>
          <a:prstGeom prst="roundRect">
            <a:avLst>
              <a:gd name="adj" fmla="val 17143"/>
            </a:avLst>
          </a:prstGeom>
          <a:solidFill>
            <a:schemeClr val="bg1"/>
          </a:solidFill>
          <a:ln/>
          <a:effectLst>
            <a:outerShdw sx="100000" sy="100000" kx="0" ky="0" algn="bl" rotWithShape="0" blurRad="177800" dist="38100" dir="5400000">
              <a:srgbClr val="0B1F2A">
                <a:alpha val="10000"/>
              </a:srgbClr>
            </a:outerShdw>
          </a:effectLst>
        </p:spPr>
      </p:sp>
      <p:pic>
        <p:nvPicPr>
          <p:cNvPr id="28" name="Image 8" descr="weakness">    </p:cNvPr>
          <p:cNvPicPr>
            <a:picLocks noChangeAspect="1"/>
          </p:cNvPicPr>
          <p:nvPr/>
        </p:nvPicPr>
        <p:blipFill>
          <a:blip r:embed="rId9"/>
          <a:stretch>
            <a:fillRect/>
          </a:stretch>
        </p:blipFill>
        <p:spPr>
          <a:xfrm>
            <a:off x="960120" y="5349240"/>
            <a:ext cx="310896" cy="310896"/>
          </a:xfrm>
          <a:prstGeom prst="rect">
            <a:avLst/>
          </a:prstGeom>
        </p:spPr>
      </p:pic>
      <p:sp>
        <p:nvSpPr>
          <p:cNvPr id="29" name="Text 17"/>
          <p:cNvSpPr txBox="1"/>
          <p:nvPr/>
        </p:nvSpPr>
        <p:spPr>
          <a:xfrm>
            <a:off x="1417320" y="5184648"/>
            <a:ext cx="3749040" cy="640080"/>
          </a:xfrm>
          <a:prstGeom prst="rect">
            <a:avLst/>
          </a:prstGeom>
          <a:noFill/>
          <a:ln/>
        </p:spPr>
        <p:txBody>
          <a:bodyPr wrap="square" lIns="0" tIns="0" rIns="0" bIns="0" rtlCol="0" anchor="ctr"/>
          <a:lstStyle/>
          <a:p>
            <a:pPr indent="0" marL="0">
              <a:buNone/>
            </a:pPr>
            <a:r>
              <a:rPr lang="en-US" sz="1500" b="1" dirty="0">
                <a:solidFill>
                  <a:schemeClr val="tx1"/>
                </a:solidFill>
              </a:rPr>
              <a:t>Thin reporting records</a:t>
            </a:r>
            <a:endParaRPr lang="en-US" sz="1500" dirty="0"/>
          </a:p>
        </p:txBody>
      </p:sp>
      <p:pic>
        <p:nvPicPr>
          <p:cNvPr id="30" name="Image 9" descr="arrow">    </p:cNvPr>
          <p:cNvPicPr>
            <a:picLocks noChangeAspect="1"/>
          </p:cNvPicPr>
          <p:nvPr/>
        </p:nvPicPr>
        <p:blipFill>
          <a:blip r:embed="rId10"/>
          <a:stretch>
            <a:fillRect/>
          </a:stretch>
        </p:blipFill>
        <p:spPr>
          <a:xfrm>
            <a:off x="4800600" y="5367528"/>
            <a:ext cx="274320" cy="274320"/>
          </a:xfrm>
          <a:prstGeom prst="rect">
            <a:avLst/>
          </a:prstGeom>
        </p:spPr>
      </p:pic>
      <p:sp>
        <p:nvSpPr>
          <p:cNvPr id="31" name="Text 18"/>
          <p:cNvSpPr txBox="1"/>
          <p:nvPr/>
        </p:nvSpPr>
        <p:spPr>
          <a:xfrm>
            <a:off x="5349240" y="5184648"/>
            <a:ext cx="5943600" cy="640080"/>
          </a:xfrm>
          <a:prstGeom prst="rect">
            <a:avLst/>
          </a:prstGeom>
          <a:noFill/>
          <a:ln/>
        </p:spPr>
        <p:txBody>
          <a:bodyPr wrap="square" lIns="0" tIns="0" rIns="0" bIns="0" rtlCol="0" anchor="ctr"/>
          <a:lstStyle/>
          <a:p>
            <a:pPr indent="0" marL="0">
              <a:buNone/>
            </a:pPr>
            <a:r>
              <a:rPr lang="en-US" sz="1450" dirty="0">
                <a:solidFill>
                  <a:schemeClr val="tx2"/>
                </a:solidFill>
              </a:rPr>
              <a:t>MLRO decisions recorded with reasons, whether or not a SAR is filed</a:t>
            </a:r>
            <a:endParaRPr lang="en-US" sz="14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05 · ASSESSMENT</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Eight questions</a:t>
            </a:r>
            <a:endParaRPr lang="en-US" sz="3400" dirty="0"/>
          </a:p>
        </p:txBody>
      </p:sp>
      <p:sp>
        <p:nvSpPr>
          <p:cNvPr id="5" name="Question card"/>
          <p:cNvSpPr/>
          <p:nvPr/>
        </p:nvSpPr>
        <p:spPr>
          <a:xfrm>
            <a:off x="685800" y="1828800"/>
            <a:ext cx="5303520" cy="896112"/>
          </a:xfrm>
          <a:prstGeom prst="roundRect">
            <a:avLst>
              <a:gd name="adj" fmla="val 12245"/>
            </a:avLst>
          </a:prstGeom>
          <a:solidFill>
            <a:schemeClr val="bg1"/>
          </a:solidFill>
          <a:ln/>
          <a:effectLst>
            <a:outerShdw sx="100000" sy="100000" kx="0" ky="0" algn="bl" rotWithShape="0" blurRad="177800" dist="38100" dir="5400000">
              <a:srgbClr val="0B1F2A">
                <a:alpha val="10000"/>
              </a:srgbClr>
            </a:outerShdw>
          </a:effectLst>
        </p:spPr>
      </p:sp>
      <p:sp>
        <p:nvSpPr>
          <p:cNvPr id="6" name="Number disc"/>
          <p:cNvSpPr/>
          <p:nvPr/>
        </p:nvSpPr>
        <p:spPr>
          <a:xfrm>
            <a:off x="886968" y="2048256"/>
            <a:ext cx="457200" cy="457200"/>
          </a:xfrm>
          <a:prstGeom prst="ellipse">
            <a:avLst/>
          </a:prstGeom>
          <a:solidFill>
            <a:schemeClr val="accent1"/>
          </a:solidFill>
          <a:ln/>
        </p:spPr>
      </p:sp>
      <p:sp>
        <p:nvSpPr>
          <p:cNvPr id="7" name="Text 4"/>
          <p:cNvSpPr txBox="1"/>
          <p:nvPr/>
        </p:nvSpPr>
        <p:spPr>
          <a:xfrm>
            <a:off x="886968" y="204825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5"/>
          <p:cNvSpPr txBox="1"/>
          <p:nvPr/>
        </p:nvSpPr>
        <p:spPr>
          <a:xfrm>
            <a:off x="1527048" y="1901952"/>
            <a:ext cx="4297680" cy="749808"/>
          </a:xfrm>
          <a:prstGeom prst="rect">
            <a:avLst/>
          </a:prstGeom>
          <a:noFill/>
          <a:ln/>
        </p:spPr>
        <p:txBody>
          <a:bodyPr wrap="square" lIns="0" tIns="0" rIns="0" bIns="0" rtlCol="0" anchor="ctr"/>
          <a:lstStyle/>
          <a:p>
            <a:pPr indent="0" marL="0">
              <a:buNone/>
            </a:pPr>
            <a:r>
              <a:rPr lang="en-US" sz="1400" dirty="0">
                <a:solidFill>
                  <a:schemeClr val="tx1"/>
                </a:solidFill>
              </a:rPr>
              <a:t>True or false: you need proof of money laundering before reporting to the MLRO.</a:t>
            </a:r>
            <a:endParaRPr lang="en-US" sz="1400" dirty="0"/>
          </a:p>
        </p:txBody>
      </p:sp>
      <p:sp>
        <p:nvSpPr>
          <p:cNvPr id="9" name="Question card"/>
          <p:cNvSpPr/>
          <p:nvPr/>
        </p:nvSpPr>
        <p:spPr>
          <a:xfrm>
            <a:off x="685800" y="2852928"/>
            <a:ext cx="5303520" cy="896112"/>
          </a:xfrm>
          <a:prstGeom prst="roundRect">
            <a:avLst>
              <a:gd name="adj" fmla="val 12245"/>
            </a:avLst>
          </a:prstGeom>
          <a:solidFill>
            <a:schemeClr val="bg1"/>
          </a:solidFill>
          <a:ln/>
          <a:effectLst>
            <a:outerShdw sx="100000" sy="100000" kx="0" ky="0" algn="bl" rotWithShape="0" blurRad="177800" dist="38100" dir="5400000">
              <a:srgbClr val="0B1F2A">
                <a:alpha val="10000"/>
              </a:srgbClr>
            </a:outerShdw>
          </a:effectLst>
        </p:spPr>
      </p:sp>
      <p:sp>
        <p:nvSpPr>
          <p:cNvPr id="10" name="Number disc"/>
          <p:cNvSpPr/>
          <p:nvPr/>
        </p:nvSpPr>
        <p:spPr>
          <a:xfrm>
            <a:off x="886968" y="3072384"/>
            <a:ext cx="457200" cy="457200"/>
          </a:xfrm>
          <a:prstGeom prst="ellipse">
            <a:avLst/>
          </a:prstGeom>
          <a:solidFill>
            <a:schemeClr val="accent1"/>
          </a:solidFill>
          <a:ln/>
        </p:spPr>
      </p:sp>
      <p:sp>
        <p:nvSpPr>
          <p:cNvPr id="11" name="Text 8"/>
          <p:cNvSpPr txBox="1"/>
          <p:nvPr/>
        </p:nvSpPr>
        <p:spPr>
          <a:xfrm>
            <a:off x="886968" y="307238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9"/>
          <p:cNvSpPr txBox="1"/>
          <p:nvPr/>
        </p:nvSpPr>
        <p:spPr>
          <a:xfrm>
            <a:off x="1527048" y="2926080"/>
            <a:ext cx="4297680" cy="749808"/>
          </a:xfrm>
          <a:prstGeom prst="rect">
            <a:avLst/>
          </a:prstGeom>
          <a:noFill/>
          <a:ln/>
        </p:spPr>
        <p:txBody>
          <a:bodyPr wrap="square" lIns="0" tIns="0" rIns="0" bIns="0" rtlCol="0" anchor="ctr"/>
          <a:lstStyle/>
          <a:p>
            <a:pPr indent="0" marL="0">
              <a:buNone/>
            </a:pPr>
            <a:r>
              <a:rPr lang="en-US" sz="1400" dirty="0">
                <a:solidFill>
                  <a:schemeClr val="tx1"/>
                </a:solidFill>
              </a:rPr>
              <a:t>Is "where the money for this purchase comes from" source of funds or source of wealth?</a:t>
            </a:r>
            <a:endParaRPr lang="en-US" sz="1400" dirty="0"/>
          </a:p>
        </p:txBody>
      </p:sp>
      <p:sp>
        <p:nvSpPr>
          <p:cNvPr id="13" name="Question card"/>
          <p:cNvSpPr/>
          <p:nvPr/>
        </p:nvSpPr>
        <p:spPr>
          <a:xfrm>
            <a:off x="685800" y="3877056"/>
            <a:ext cx="5303520" cy="896112"/>
          </a:xfrm>
          <a:prstGeom prst="roundRect">
            <a:avLst>
              <a:gd name="adj" fmla="val 12245"/>
            </a:avLst>
          </a:prstGeom>
          <a:solidFill>
            <a:schemeClr val="bg1"/>
          </a:solidFill>
          <a:ln/>
          <a:effectLst>
            <a:outerShdw sx="100000" sy="100000" kx="0" ky="0" algn="bl" rotWithShape="0" blurRad="177800" dist="38100" dir="5400000">
              <a:srgbClr val="0B1F2A">
                <a:alpha val="10000"/>
              </a:srgbClr>
            </a:outerShdw>
          </a:effectLst>
        </p:spPr>
      </p:sp>
      <p:sp>
        <p:nvSpPr>
          <p:cNvPr id="14" name="Number disc"/>
          <p:cNvSpPr/>
          <p:nvPr/>
        </p:nvSpPr>
        <p:spPr>
          <a:xfrm>
            <a:off x="886968" y="4096512"/>
            <a:ext cx="457200" cy="457200"/>
          </a:xfrm>
          <a:prstGeom prst="ellipse">
            <a:avLst/>
          </a:prstGeom>
          <a:solidFill>
            <a:schemeClr val="accent1"/>
          </a:solidFill>
          <a:ln/>
        </p:spPr>
      </p:sp>
      <p:sp>
        <p:nvSpPr>
          <p:cNvPr id="15" name="Text 12"/>
          <p:cNvSpPr txBox="1"/>
          <p:nvPr/>
        </p:nvSpPr>
        <p:spPr>
          <a:xfrm>
            <a:off x="886968" y="40965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3"/>
          <p:cNvSpPr txBox="1"/>
          <p:nvPr/>
        </p:nvSpPr>
        <p:spPr>
          <a:xfrm>
            <a:off x="1527048" y="3950208"/>
            <a:ext cx="4297680" cy="749808"/>
          </a:xfrm>
          <a:prstGeom prst="rect">
            <a:avLst/>
          </a:prstGeom>
          <a:noFill/>
          <a:ln/>
        </p:spPr>
        <p:txBody>
          <a:bodyPr wrap="square" lIns="0" tIns="0" rIns="0" bIns="0" rtlCol="0" anchor="ctr"/>
          <a:lstStyle/>
          <a:p>
            <a:pPr indent="0" marL="0">
              <a:buNone/>
            </a:pPr>
            <a:r>
              <a:rPr lang="en-US" sz="1400" dirty="0">
                <a:solidFill>
                  <a:schemeClr val="tx1"/>
                </a:solidFill>
              </a:rPr>
              <a:t>Does a foreign minister's sister-in-law need enhanced due diligence?</a:t>
            </a:r>
            <a:endParaRPr lang="en-US" sz="1400" dirty="0"/>
          </a:p>
        </p:txBody>
      </p:sp>
      <p:sp>
        <p:nvSpPr>
          <p:cNvPr id="17" name="Question card"/>
          <p:cNvSpPr/>
          <p:nvPr/>
        </p:nvSpPr>
        <p:spPr>
          <a:xfrm>
            <a:off x="685800" y="4901184"/>
            <a:ext cx="5303520" cy="896112"/>
          </a:xfrm>
          <a:prstGeom prst="roundRect">
            <a:avLst>
              <a:gd name="adj" fmla="val 12245"/>
            </a:avLst>
          </a:prstGeom>
          <a:solidFill>
            <a:schemeClr val="bg1"/>
          </a:solidFill>
          <a:ln/>
          <a:effectLst>
            <a:outerShdw sx="100000" sy="100000" kx="0" ky="0" algn="bl" rotWithShape="0" blurRad="177800" dist="38100" dir="5400000">
              <a:srgbClr val="0B1F2A">
                <a:alpha val="10000"/>
              </a:srgbClr>
            </a:outerShdw>
          </a:effectLst>
        </p:spPr>
      </p:sp>
      <p:sp>
        <p:nvSpPr>
          <p:cNvPr id="18" name="Number disc"/>
          <p:cNvSpPr/>
          <p:nvPr/>
        </p:nvSpPr>
        <p:spPr>
          <a:xfrm>
            <a:off x="886968" y="5120640"/>
            <a:ext cx="457200" cy="457200"/>
          </a:xfrm>
          <a:prstGeom prst="ellipse">
            <a:avLst/>
          </a:prstGeom>
          <a:solidFill>
            <a:schemeClr val="accent1"/>
          </a:solidFill>
          <a:ln/>
        </p:spPr>
      </p:sp>
      <p:sp>
        <p:nvSpPr>
          <p:cNvPr id="19" name="Text 16"/>
          <p:cNvSpPr txBox="1"/>
          <p:nvPr/>
        </p:nvSpPr>
        <p:spPr>
          <a:xfrm>
            <a:off x="886968" y="51206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0" name="Text 17"/>
          <p:cNvSpPr txBox="1"/>
          <p:nvPr/>
        </p:nvSpPr>
        <p:spPr>
          <a:xfrm>
            <a:off x="1527048" y="4974336"/>
            <a:ext cx="4297680" cy="749808"/>
          </a:xfrm>
          <a:prstGeom prst="rect">
            <a:avLst/>
          </a:prstGeom>
          <a:noFill/>
          <a:ln/>
        </p:spPr>
        <p:txBody>
          <a:bodyPr wrap="square" lIns="0" tIns="0" rIns="0" bIns="0" rtlCol="0" anchor="ctr"/>
          <a:lstStyle/>
          <a:p>
            <a:pPr indent="0" marL="0">
              <a:buNone/>
            </a:pPr>
            <a:r>
              <a:rPr lang="en-US" sz="1400" dirty="0">
                <a:solidFill>
                  <a:schemeClr val="tx1"/>
                </a:solidFill>
              </a:rPr>
              <a:t>Can a refund go to a third party if the client asks in writing?</a:t>
            </a:r>
            <a:endParaRPr lang="en-US" sz="1400" dirty="0"/>
          </a:p>
        </p:txBody>
      </p:sp>
      <p:sp>
        <p:nvSpPr>
          <p:cNvPr id="21" name="Question card"/>
          <p:cNvSpPr/>
          <p:nvPr/>
        </p:nvSpPr>
        <p:spPr>
          <a:xfrm>
            <a:off x="6199632" y="1828800"/>
            <a:ext cx="5303520" cy="896112"/>
          </a:xfrm>
          <a:prstGeom prst="roundRect">
            <a:avLst>
              <a:gd name="adj" fmla="val 12245"/>
            </a:avLst>
          </a:prstGeom>
          <a:solidFill>
            <a:schemeClr val="bg1"/>
          </a:solidFill>
          <a:ln/>
          <a:effectLst>
            <a:outerShdw sx="100000" sy="100000" kx="0" ky="0" algn="bl" rotWithShape="0" blurRad="177800" dist="38100" dir="5400000">
              <a:srgbClr val="0B1F2A">
                <a:alpha val="10000"/>
              </a:srgbClr>
            </a:outerShdw>
          </a:effectLst>
        </p:spPr>
      </p:sp>
      <p:sp>
        <p:nvSpPr>
          <p:cNvPr id="22" name="Number disc"/>
          <p:cNvSpPr/>
          <p:nvPr/>
        </p:nvSpPr>
        <p:spPr>
          <a:xfrm>
            <a:off x="6400800" y="2048256"/>
            <a:ext cx="457200" cy="457200"/>
          </a:xfrm>
          <a:prstGeom prst="ellipse">
            <a:avLst/>
          </a:prstGeom>
          <a:solidFill>
            <a:schemeClr val="accent1"/>
          </a:solidFill>
          <a:ln/>
        </p:spPr>
      </p:sp>
      <p:sp>
        <p:nvSpPr>
          <p:cNvPr id="23" name="Text 20"/>
          <p:cNvSpPr txBox="1"/>
          <p:nvPr/>
        </p:nvSpPr>
        <p:spPr>
          <a:xfrm>
            <a:off x="6400800" y="204825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4" name="Text 21"/>
          <p:cNvSpPr txBox="1"/>
          <p:nvPr/>
        </p:nvSpPr>
        <p:spPr>
          <a:xfrm>
            <a:off x="7040880" y="1901952"/>
            <a:ext cx="4297680" cy="749808"/>
          </a:xfrm>
          <a:prstGeom prst="rect">
            <a:avLst/>
          </a:prstGeom>
          <a:noFill/>
          <a:ln/>
        </p:spPr>
        <p:txBody>
          <a:bodyPr wrap="square" lIns="0" tIns="0" rIns="0" bIns="0" rtlCol="0" anchor="ctr"/>
          <a:lstStyle/>
          <a:p>
            <a:pPr indent="0" marL="0">
              <a:buNone/>
            </a:pPr>
            <a:r>
              <a:rPr lang="en-US" sz="1400" dirty="0">
                <a:solidFill>
                  <a:schemeClr val="tx1"/>
                </a:solidFill>
              </a:rPr>
              <a:t>Payment details change by email. What's your first step?</a:t>
            </a:r>
            <a:endParaRPr lang="en-US" sz="1400" dirty="0"/>
          </a:p>
        </p:txBody>
      </p:sp>
      <p:sp>
        <p:nvSpPr>
          <p:cNvPr id="25" name="Question card"/>
          <p:cNvSpPr/>
          <p:nvPr/>
        </p:nvSpPr>
        <p:spPr>
          <a:xfrm>
            <a:off x="6199632" y="2852928"/>
            <a:ext cx="5303520" cy="896112"/>
          </a:xfrm>
          <a:prstGeom prst="roundRect">
            <a:avLst>
              <a:gd name="adj" fmla="val 12245"/>
            </a:avLst>
          </a:prstGeom>
          <a:solidFill>
            <a:schemeClr val="bg1"/>
          </a:solidFill>
          <a:ln/>
          <a:effectLst>
            <a:outerShdw sx="100000" sy="100000" kx="0" ky="0" algn="bl" rotWithShape="0" blurRad="177800" dist="38100" dir="5400000">
              <a:srgbClr val="0B1F2A">
                <a:alpha val="10000"/>
              </a:srgbClr>
            </a:outerShdw>
          </a:effectLst>
        </p:spPr>
      </p:sp>
      <p:sp>
        <p:nvSpPr>
          <p:cNvPr id="26" name="Number disc"/>
          <p:cNvSpPr/>
          <p:nvPr/>
        </p:nvSpPr>
        <p:spPr>
          <a:xfrm>
            <a:off x="6400800" y="3072384"/>
            <a:ext cx="457200" cy="457200"/>
          </a:xfrm>
          <a:prstGeom prst="ellipse">
            <a:avLst/>
          </a:prstGeom>
          <a:solidFill>
            <a:schemeClr val="accent1"/>
          </a:solidFill>
          <a:ln/>
        </p:spPr>
      </p:sp>
      <p:sp>
        <p:nvSpPr>
          <p:cNvPr id="27" name="Text 24"/>
          <p:cNvSpPr txBox="1"/>
          <p:nvPr/>
        </p:nvSpPr>
        <p:spPr>
          <a:xfrm>
            <a:off x="6400800" y="307238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8" name="Text 25"/>
          <p:cNvSpPr txBox="1"/>
          <p:nvPr/>
        </p:nvSpPr>
        <p:spPr>
          <a:xfrm>
            <a:off x="7040880" y="2926080"/>
            <a:ext cx="4297680" cy="749808"/>
          </a:xfrm>
          <a:prstGeom prst="rect">
            <a:avLst/>
          </a:prstGeom>
          <a:noFill/>
          <a:ln/>
        </p:spPr>
        <p:txBody>
          <a:bodyPr wrap="square" lIns="0" tIns="0" rIns="0" bIns="0" rtlCol="0" anchor="ctr"/>
          <a:lstStyle/>
          <a:p>
            <a:pPr indent="0" marL="0">
              <a:buNone/>
            </a:pPr>
            <a:r>
              <a:rPr lang="en-US" sz="1400" dirty="0">
                <a:solidFill>
                  <a:schemeClr val="tx1"/>
                </a:solidFill>
              </a:rPr>
              <a:t>Is there a minimum amount below which sanctions don't apply?</a:t>
            </a:r>
            <a:endParaRPr lang="en-US" sz="1400" dirty="0"/>
          </a:p>
        </p:txBody>
      </p:sp>
      <p:sp>
        <p:nvSpPr>
          <p:cNvPr id="29" name="Question card"/>
          <p:cNvSpPr/>
          <p:nvPr/>
        </p:nvSpPr>
        <p:spPr>
          <a:xfrm>
            <a:off x="6199632" y="3877056"/>
            <a:ext cx="5303520" cy="896112"/>
          </a:xfrm>
          <a:prstGeom prst="roundRect">
            <a:avLst>
              <a:gd name="adj" fmla="val 12245"/>
            </a:avLst>
          </a:prstGeom>
          <a:solidFill>
            <a:schemeClr val="bg1"/>
          </a:solidFill>
          <a:ln/>
          <a:effectLst>
            <a:outerShdw sx="100000" sy="100000" kx="0" ky="0" algn="bl" rotWithShape="0" blurRad="177800" dist="38100" dir="5400000">
              <a:srgbClr val="0B1F2A">
                <a:alpha val="10000"/>
              </a:srgbClr>
            </a:outerShdw>
          </a:effectLst>
        </p:spPr>
      </p:sp>
      <p:sp>
        <p:nvSpPr>
          <p:cNvPr id="30" name="Number disc"/>
          <p:cNvSpPr/>
          <p:nvPr/>
        </p:nvSpPr>
        <p:spPr>
          <a:xfrm>
            <a:off x="6400800" y="4096512"/>
            <a:ext cx="457200" cy="457200"/>
          </a:xfrm>
          <a:prstGeom prst="ellipse">
            <a:avLst/>
          </a:prstGeom>
          <a:solidFill>
            <a:schemeClr val="accent1"/>
          </a:solidFill>
          <a:ln/>
        </p:spPr>
      </p:sp>
      <p:sp>
        <p:nvSpPr>
          <p:cNvPr id="31" name="Text 28"/>
          <p:cNvSpPr txBox="1"/>
          <p:nvPr/>
        </p:nvSpPr>
        <p:spPr>
          <a:xfrm>
            <a:off x="6400800" y="40965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32" name="Text 29"/>
          <p:cNvSpPr txBox="1"/>
          <p:nvPr/>
        </p:nvSpPr>
        <p:spPr>
          <a:xfrm>
            <a:off x="7040880" y="3950208"/>
            <a:ext cx="4297680" cy="749808"/>
          </a:xfrm>
          <a:prstGeom prst="rect">
            <a:avLst/>
          </a:prstGeom>
          <a:noFill/>
          <a:ln/>
        </p:spPr>
        <p:txBody>
          <a:bodyPr wrap="square" lIns="0" tIns="0" rIns="0" bIns="0" rtlCol="0" anchor="ctr"/>
          <a:lstStyle/>
          <a:p>
            <a:pPr indent="0" marL="0">
              <a:buNone/>
            </a:pPr>
            <a:r>
              <a:rPr lang="en-US" sz="1400" dirty="0">
                <a:solidFill>
                  <a:schemeClr val="tx1"/>
                </a:solidFill>
              </a:rPr>
              <a:t>A client asks if we've 'reported them'. What's the risk in answering?</a:t>
            </a:r>
            <a:endParaRPr lang="en-US" sz="1400" dirty="0"/>
          </a:p>
        </p:txBody>
      </p:sp>
      <p:sp>
        <p:nvSpPr>
          <p:cNvPr id="33" name="Question card"/>
          <p:cNvSpPr/>
          <p:nvPr/>
        </p:nvSpPr>
        <p:spPr>
          <a:xfrm>
            <a:off x="6199632" y="4901184"/>
            <a:ext cx="5303520" cy="896112"/>
          </a:xfrm>
          <a:prstGeom prst="roundRect">
            <a:avLst>
              <a:gd name="adj" fmla="val 12245"/>
            </a:avLst>
          </a:prstGeom>
          <a:solidFill>
            <a:schemeClr val="bg1"/>
          </a:solidFill>
          <a:ln/>
          <a:effectLst>
            <a:outerShdw sx="100000" sy="100000" kx="0" ky="0" algn="bl" rotWithShape="0" blurRad="177800" dist="38100" dir="5400000">
              <a:srgbClr val="0B1F2A">
                <a:alpha val="10000"/>
              </a:srgbClr>
            </a:outerShdw>
          </a:effectLst>
        </p:spPr>
      </p:sp>
      <p:sp>
        <p:nvSpPr>
          <p:cNvPr id="34" name="Number disc"/>
          <p:cNvSpPr/>
          <p:nvPr/>
        </p:nvSpPr>
        <p:spPr>
          <a:xfrm>
            <a:off x="6400800" y="5120640"/>
            <a:ext cx="457200" cy="457200"/>
          </a:xfrm>
          <a:prstGeom prst="ellipse">
            <a:avLst/>
          </a:prstGeom>
          <a:solidFill>
            <a:schemeClr val="accent1"/>
          </a:solidFill>
          <a:ln/>
        </p:spPr>
      </p:sp>
      <p:sp>
        <p:nvSpPr>
          <p:cNvPr id="35" name="Text 32"/>
          <p:cNvSpPr txBox="1"/>
          <p:nvPr/>
        </p:nvSpPr>
        <p:spPr>
          <a:xfrm>
            <a:off x="6400800" y="51206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36" name="Text 33"/>
          <p:cNvSpPr txBox="1"/>
          <p:nvPr/>
        </p:nvSpPr>
        <p:spPr>
          <a:xfrm>
            <a:off x="7040880" y="4974336"/>
            <a:ext cx="4297680" cy="749808"/>
          </a:xfrm>
          <a:prstGeom prst="rect">
            <a:avLst/>
          </a:prstGeom>
          <a:noFill/>
          <a:ln/>
        </p:spPr>
        <p:txBody>
          <a:bodyPr wrap="square" lIns="0" tIns="0" rIns="0" bIns="0" rtlCol="0" anchor="ctr"/>
          <a:lstStyle/>
          <a:p>
            <a:pPr indent="0" marL="0">
              <a:buNone/>
            </a:pPr>
            <a:r>
              <a:rPr lang="en-US" sz="1400" dirty="0">
                <a:solidFill>
                  <a:schemeClr val="tx1"/>
                </a:solidFill>
              </a:rPr>
              <a:t>What discharges your personal legal duty when you suspect ML?</a:t>
            </a:r>
            <a:endParaRPr lang="en-US" sz="1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5"/>
                </a:solidFill>
              </a:rPr>
              <a:t>ANNUAL ATTESTATION</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bg1"/>
                </a:solidFill>
                <a:latin typeface="Cambria" pitchFamily="34" charset="0"/>
                <a:ea typeface="Cambria" pitchFamily="34" charset="-122"/>
                <a:cs typeface="Cambria" pitchFamily="34" charset="-120"/>
              </a:rPr>
              <a:t>Thank you for keeping us safe</a:t>
            </a:r>
            <a:endParaRPr lang="en-US" sz="3400" dirty="0"/>
          </a:p>
        </p:txBody>
      </p:sp>
      <p:sp>
        <p:nvSpPr>
          <p:cNvPr id="5" name="Attestation card"/>
          <p:cNvSpPr/>
          <p:nvPr/>
        </p:nvSpPr>
        <p:spPr>
          <a:xfrm>
            <a:off x="685800" y="1828800"/>
            <a:ext cx="6035040" cy="3931920"/>
          </a:xfrm>
          <a:prstGeom prst="roundRect">
            <a:avLst>
              <a:gd name="adj" fmla="val 2791"/>
            </a:avLst>
          </a:prstGeom>
          <a:solidFill>
            <a:schemeClr val="bg1"/>
          </a:solidFill>
          <a:ln/>
          <a:effectLst>
            <a:outerShdw sx="100000" sy="100000" kx="0" ky="0" algn="bl" rotWithShape="0" blurRad="177800" dist="38100" dir="5400000">
              <a:srgbClr val="0B1F2A">
                <a:alpha val="10000"/>
              </a:srgbClr>
            </a:outerShdw>
          </a:effectLst>
        </p:spPr>
      </p:sp>
      <p:sp>
        <p:nvSpPr>
          <p:cNvPr id="6" name="Text 3"/>
          <p:cNvSpPr txBox="1"/>
          <p:nvPr/>
        </p:nvSpPr>
        <p:spPr>
          <a:xfrm>
            <a:off x="1051560" y="2103120"/>
            <a:ext cx="4572000" cy="256032"/>
          </a:xfrm>
          <a:prstGeom prst="rect">
            <a:avLst/>
          </a:prstGeom>
          <a:noFill/>
          <a:ln/>
        </p:spPr>
        <p:txBody>
          <a:bodyPr wrap="square" lIns="0" tIns="0" rIns="0" bIns="0" rtlCol="0" anchor="t"/>
          <a:lstStyle/>
          <a:p>
            <a:pPr indent="0" marL="0">
              <a:buNone/>
            </a:pPr>
            <a:r>
              <a:rPr lang="en-US" sz="1000" b="1" spc="300" kern="0" dirty="0">
                <a:solidFill>
                  <a:schemeClr val="accent1"/>
                </a:solidFill>
              </a:rPr>
              <a:t>BY SIGNING, I CONFIRM THAT I</a:t>
            </a:r>
            <a:endParaRPr lang="en-US" sz="1000" dirty="0"/>
          </a:p>
        </p:txBody>
      </p:sp>
      <p:pic>
        <p:nvPicPr>
          <p:cNvPr id="7" name="Image 0" descr="check">    </p:cNvPr>
          <p:cNvPicPr>
            <a:picLocks noChangeAspect="1"/>
          </p:cNvPicPr>
          <p:nvPr/>
        </p:nvPicPr>
        <p:blipFill>
          <a:blip r:embed="rId1"/>
          <a:stretch>
            <a:fillRect/>
          </a:stretch>
        </p:blipFill>
        <p:spPr>
          <a:xfrm>
            <a:off x="1051560" y="2560320"/>
            <a:ext cx="329184" cy="329184"/>
          </a:xfrm>
          <a:prstGeom prst="rect">
            <a:avLst/>
          </a:prstGeom>
        </p:spPr>
      </p:pic>
      <p:sp>
        <p:nvSpPr>
          <p:cNvPr id="8" name="Text 4"/>
          <p:cNvSpPr txBox="1"/>
          <p:nvPr/>
        </p:nvSpPr>
        <p:spPr>
          <a:xfrm>
            <a:off x="1554480" y="2514600"/>
            <a:ext cx="4937760" cy="457200"/>
          </a:xfrm>
          <a:prstGeom prst="rect">
            <a:avLst/>
          </a:prstGeom>
          <a:noFill/>
          <a:ln/>
        </p:spPr>
        <p:txBody>
          <a:bodyPr wrap="square" lIns="0" tIns="0" rIns="0" bIns="0" rtlCol="0" anchor="ctr"/>
          <a:lstStyle/>
          <a:p>
            <a:pPr indent="0" marL="0">
              <a:buNone/>
            </a:pPr>
            <a:r>
              <a:rPr lang="en-US" sz="1550" dirty="0">
                <a:solidFill>
                  <a:schemeClr val="tx1"/>
                </a:solidFill>
              </a:rPr>
              <a:t>Attended the 2026 annual AML/CFT/CPF training</a:t>
            </a:r>
            <a:endParaRPr lang="en-US" sz="1550" dirty="0"/>
          </a:p>
        </p:txBody>
      </p:sp>
      <p:pic>
        <p:nvPicPr>
          <p:cNvPr id="9" name="Image 1" descr="check">    </p:cNvPr>
          <p:cNvPicPr>
            <a:picLocks noChangeAspect="1"/>
          </p:cNvPicPr>
          <p:nvPr/>
        </p:nvPicPr>
        <p:blipFill>
          <a:blip r:embed="rId2"/>
          <a:stretch>
            <a:fillRect/>
          </a:stretch>
        </p:blipFill>
        <p:spPr>
          <a:xfrm>
            <a:off x="1051560" y="3246120"/>
            <a:ext cx="329184" cy="329184"/>
          </a:xfrm>
          <a:prstGeom prst="rect">
            <a:avLst/>
          </a:prstGeom>
        </p:spPr>
      </p:pic>
      <p:sp>
        <p:nvSpPr>
          <p:cNvPr id="10" name="Text 5"/>
          <p:cNvSpPr txBox="1"/>
          <p:nvPr/>
        </p:nvSpPr>
        <p:spPr>
          <a:xfrm>
            <a:off x="1554480" y="3200400"/>
            <a:ext cx="4937760" cy="457200"/>
          </a:xfrm>
          <a:prstGeom prst="rect">
            <a:avLst/>
          </a:prstGeom>
          <a:noFill/>
          <a:ln/>
        </p:spPr>
        <p:txBody>
          <a:bodyPr wrap="square" lIns="0" tIns="0" rIns="0" bIns="0" rtlCol="0" anchor="ctr"/>
          <a:lstStyle/>
          <a:p>
            <a:pPr indent="0" marL="0">
              <a:buNone/>
            </a:pPr>
            <a:r>
              <a:rPr lang="en-US" sz="1550" dirty="0">
                <a:solidFill>
                  <a:schemeClr val="tx1"/>
                </a:solidFill>
              </a:rPr>
              <a:t>Understand my personal obligations under TCI law</a:t>
            </a:r>
            <a:endParaRPr lang="en-US" sz="1550" dirty="0"/>
          </a:p>
        </p:txBody>
      </p:sp>
      <p:pic>
        <p:nvPicPr>
          <p:cNvPr id="11" name="Image 2" descr="check">    </p:cNvPr>
          <p:cNvPicPr>
            <a:picLocks noChangeAspect="1"/>
          </p:cNvPicPr>
          <p:nvPr/>
        </p:nvPicPr>
        <p:blipFill>
          <a:blip r:embed="rId3"/>
          <a:stretch>
            <a:fillRect/>
          </a:stretch>
        </p:blipFill>
        <p:spPr>
          <a:xfrm>
            <a:off x="1051560" y="3931920"/>
            <a:ext cx="329184" cy="329184"/>
          </a:xfrm>
          <a:prstGeom prst="rect">
            <a:avLst/>
          </a:prstGeom>
        </p:spPr>
      </p:pic>
      <p:sp>
        <p:nvSpPr>
          <p:cNvPr id="12" name="Text 6"/>
          <p:cNvSpPr txBox="1"/>
          <p:nvPr/>
        </p:nvSpPr>
        <p:spPr>
          <a:xfrm>
            <a:off x="1554480" y="3886200"/>
            <a:ext cx="4937760" cy="457200"/>
          </a:xfrm>
          <a:prstGeom prst="rect">
            <a:avLst/>
          </a:prstGeom>
          <a:noFill/>
          <a:ln/>
        </p:spPr>
        <p:txBody>
          <a:bodyPr wrap="square" lIns="0" tIns="0" rIns="0" bIns="0" rtlCol="0" anchor="ctr"/>
          <a:lstStyle/>
          <a:p>
            <a:pPr indent="0" marL="0">
              <a:buNone/>
            </a:pPr>
            <a:r>
              <a:rPr lang="en-US" sz="1550" dirty="0">
                <a:solidFill>
                  <a:schemeClr val="tx1"/>
                </a:solidFill>
              </a:rPr>
              <a:t>Have read and will follow the firm's AML/CFT policy</a:t>
            </a:r>
            <a:endParaRPr lang="en-US" sz="1550" dirty="0"/>
          </a:p>
        </p:txBody>
      </p:sp>
      <p:pic>
        <p:nvPicPr>
          <p:cNvPr id="13" name="Image 3" descr="check">    </p:cNvPr>
          <p:cNvPicPr>
            <a:picLocks noChangeAspect="1"/>
          </p:cNvPicPr>
          <p:nvPr/>
        </p:nvPicPr>
        <p:blipFill>
          <a:blip r:embed="rId4"/>
          <a:stretch>
            <a:fillRect/>
          </a:stretch>
        </p:blipFill>
        <p:spPr>
          <a:xfrm>
            <a:off x="1051560" y="4617720"/>
            <a:ext cx="329184" cy="329184"/>
          </a:xfrm>
          <a:prstGeom prst="rect">
            <a:avLst/>
          </a:prstGeom>
        </p:spPr>
      </p:pic>
      <p:sp>
        <p:nvSpPr>
          <p:cNvPr id="14" name="Text 7"/>
          <p:cNvSpPr txBox="1"/>
          <p:nvPr/>
        </p:nvSpPr>
        <p:spPr>
          <a:xfrm>
            <a:off x="1554480" y="4572000"/>
            <a:ext cx="4937760" cy="457200"/>
          </a:xfrm>
          <a:prstGeom prst="rect">
            <a:avLst/>
          </a:prstGeom>
          <a:noFill/>
          <a:ln/>
        </p:spPr>
        <p:txBody>
          <a:bodyPr wrap="square" lIns="0" tIns="0" rIns="0" bIns="0" rtlCol="0" anchor="ctr"/>
          <a:lstStyle/>
          <a:p>
            <a:pPr indent="0" marL="0">
              <a:buNone/>
            </a:pPr>
            <a:r>
              <a:rPr lang="en-US" sz="1550" dirty="0">
                <a:solidFill>
                  <a:schemeClr val="tx1"/>
                </a:solidFill>
              </a:rPr>
              <a:t>Know how to report a concern to the MLRO</a:t>
            </a:r>
            <a:endParaRPr lang="en-US" sz="1550" dirty="0"/>
          </a:p>
        </p:txBody>
      </p:sp>
      <p:sp>
        <p:nvSpPr>
          <p:cNvPr id="15" name="Text 8"/>
          <p:cNvSpPr txBox="1"/>
          <p:nvPr/>
        </p:nvSpPr>
        <p:spPr>
          <a:xfrm>
            <a:off x="1051560" y="5257800"/>
            <a:ext cx="5486400" cy="320040"/>
          </a:xfrm>
          <a:prstGeom prst="rect">
            <a:avLst/>
          </a:prstGeom>
          <a:noFill/>
          <a:ln/>
        </p:spPr>
        <p:txBody>
          <a:bodyPr wrap="square" lIns="0" tIns="0" rIns="0" bIns="0" rtlCol="0" anchor="t"/>
          <a:lstStyle/>
          <a:p>
            <a:pPr indent="0" marL="0">
              <a:buNone/>
            </a:pPr>
            <a:r>
              <a:rPr lang="en-US" sz="1300" dirty="0">
                <a:solidFill>
                  <a:schemeClr val="accent4"/>
                </a:solidFill>
              </a:rPr>
              <a:t>Signature  ______________________     Date  __________</a:t>
            </a:r>
            <a:endParaRPr lang="en-US" sz="1300" dirty="0"/>
          </a:p>
        </p:txBody>
      </p:sp>
      <p:sp>
        <p:nvSpPr>
          <p:cNvPr id="16" name="Text 9"/>
          <p:cNvSpPr txBox="1"/>
          <p:nvPr/>
        </p:nvSpPr>
        <p:spPr>
          <a:xfrm>
            <a:off x="7269480" y="2103120"/>
            <a:ext cx="3657600" cy="256032"/>
          </a:xfrm>
          <a:prstGeom prst="rect">
            <a:avLst/>
          </a:prstGeom>
          <a:noFill/>
          <a:ln/>
        </p:spPr>
        <p:txBody>
          <a:bodyPr wrap="square" lIns="0" tIns="0" rIns="0" bIns="0" rtlCol="0" anchor="t"/>
          <a:lstStyle/>
          <a:p>
            <a:pPr indent="0" marL="0">
              <a:buNone/>
            </a:pPr>
            <a:r>
              <a:rPr lang="en-US" sz="1000" b="1" spc="300" kern="0" dirty="0">
                <a:solidFill>
                  <a:schemeClr val="accent5"/>
                </a:solidFill>
              </a:rPr>
              <a:t>WHO TO CALL</a:t>
            </a:r>
            <a:endParaRPr lang="en-US" sz="1000" dirty="0"/>
          </a:p>
        </p:txBody>
      </p:sp>
      <p:sp>
        <p:nvSpPr>
          <p:cNvPr id="17" name="Text 10"/>
          <p:cNvSpPr txBox="1"/>
          <p:nvPr/>
        </p:nvSpPr>
        <p:spPr>
          <a:xfrm>
            <a:off x="7269480" y="2514600"/>
            <a:ext cx="4206240" cy="365760"/>
          </a:xfrm>
          <a:prstGeom prst="rect">
            <a:avLst/>
          </a:prstGeom>
          <a:noFill/>
          <a:ln/>
        </p:spPr>
        <p:txBody>
          <a:bodyPr wrap="square" lIns="0" tIns="0" rIns="0" bIns="0" rtlCol="0" anchor="t"/>
          <a:lstStyle/>
          <a:p>
            <a:pPr indent="0" marL="0">
              <a:buNone/>
            </a:pPr>
            <a:r>
              <a:rPr lang="en-US" sz="1900" dirty="0">
                <a:solidFill>
                  <a:schemeClr val="bg1"/>
                </a:solidFill>
                <a:latin typeface="Cambria" pitchFamily="34" charset="0"/>
                <a:ea typeface="Cambria" pitchFamily="34" charset="-122"/>
                <a:cs typeface="Cambria" pitchFamily="34" charset="-120"/>
              </a:rPr>
              <a:t>MLRO</a:t>
            </a:r>
            <a:endParaRPr lang="en-US" sz="1900" dirty="0"/>
          </a:p>
        </p:txBody>
      </p:sp>
      <p:sp>
        <p:nvSpPr>
          <p:cNvPr id="18" name="Text 11"/>
          <p:cNvSpPr txBox="1"/>
          <p:nvPr/>
        </p:nvSpPr>
        <p:spPr>
          <a:xfrm>
            <a:off x="7269480" y="2898648"/>
            <a:ext cx="4206240" cy="274320"/>
          </a:xfrm>
          <a:prstGeom prst="rect">
            <a:avLst/>
          </a:prstGeom>
          <a:noFill/>
          <a:ln/>
        </p:spPr>
        <p:txBody>
          <a:bodyPr wrap="square" lIns="0" tIns="0" rIns="0" bIns="0" rtlCol="0" anchor="t"/>
          <a:lstStyle/>
          <a:p>
            <a:pPr indent="0" marL="0">
              <a:buNone/>
            </a:pPr>
            <a:r>
              <a:rPr lang="en-US" sz="1300" dirty="0">
                <a:solidFill>
                  <a:schemeClr val="accent6"/>
                </a:solidFill>
              </a:rPr>
              <a:t>[Name]  ·  [email]  ·  [ext.]</a:t>
            </a:r>
            <a:endParaRPr lang="en-US" sz="1300" dirty="0"/>
          </a:p>
        </p:txBody>
      </p:sp>
      <p:sp>
        <p:nvSpPr>
          <p:cNvPr id="19" name="Text 12"/>
          <p:cNvSpPr txBox="1"/>
          <p:nvPr/>
        </p:nvSpPr>
        <p:spPr>
          <a:xfrm>
            <a:off x="7269480" y="3474720"/>
            <a:ext cx="4206240" cy="365760"/>
          </a:xfrm>
          <a:prstGeom prst="rect">
            <a:avLst/>
          </a:prstGeom>
          <a:noFill/>
          <a:ln/>
        </p:spPr>
        <p:txBody>
          <a:bodyPr wrap="square" lIns="0" tIns="0" rIns="0" bIns="0" rtlCol="0" anchor="t"/>
          <a:lstStyle/>
          <a:p>
            <a:pPr indent="0" marL="0">
              <a:buNone/>
            </a:pPr>
            <a:r>
              <a:rPr lang="en-US" sz="1900" dirty="0">
                <a:solidFill>
                  <a:schemeClr val="bg1"/>
                </a:solidFill>
                <a:latin typeface="Cambria" pitchFamily="34" charset="0"/>
                <a:ea typeface="Cambria" pitchFamily="34" charset="-122"/>
                <a:cs typeface="Cambria" pitchFamily="34" charset="-120"/>
              </a:rPr>
              <a:t>MLCO</a:t>
            </a:r>
            <a:endParaRPr lang="en-US" sz="1900" dirty="0"/>
          </a:p>
        </p:txBody>
      </p:sp>
      <p:sp>
        <p:nvSpPr>
          <p:cNvPr id="20" name="Text 13"/>
          <p:cNvSpPr txBox="1"/>
          <p:nvPr/>
        </p:nvSpPr>
        <p:spPr>
          <a:xfrm>
            <a:off x="7269480" y="3858768"/>
            <a:ext cx="4206240" cy="274320"/>
          </a:xfrm>
          <a:prstGeom prst="rect">
            <a:avLst/>
          </a:prstGeom>
          <a:noFill/>
          <a:ln/>
        </p:spPr>
        <p:txBody>
          <a:bodyPr wrap="square" lIns="0" tIns="0" rIns="0" bIns="0" rtlCol="0" anchor="t"/>
          <a:lstStyle/>
          <a:p>
            <a:pPr indent="0" marL="0">
              <a:buNone/>
            </a:pPr>
            <a:r>
              <a:rPr lang="en-US" sz="1300" dirty="0">
                <a:solidFill>
                  <a:schemeClr val="accent6"/>
                </a:solidFill>
              </a:rPr>
              <a:t>[Name]  ·  [email]  ·  [ext.]</a:t>
            </a:r>
            <a:endParaRPr lang="en-US" sz="1300" dirty="0"/>
          </a:p>
        </p:txBody>
      </p:sp>
      <p:sp>
        <p:nvSpPr>
          <p:cNvPr id="21" name="Text 14"/>
          <p:cNvSpPr txBox="1"/>
          <p:nvPr/>
        </p:nvSpPr>
        <p:spPr>
          <a:xfrm>
            <a:off x="7269480" y="4434840"/>
            <a:ext cx="4206240" cy="365760"/>
          </a:xfrm>
          <a:prstGeom prst="rect">
            <a:avLst/>
          </a:prstGeom>
          <a:noFill/>
          <a:ln/>
        </p:spPr>
        <p:txBody>
          <a:bodyPr wrap="square" lIns="0" tIns="0" rIns="0" bIns="0" rtlCol="0" anchor="t"/>
          <a:lstStyle/>
          <a:p>
            <a:pPr indent="0" marL="0">
              <a:buNone/>
            </a:pPr>
            <a:r>
              <a:rPr lang="en-US" sz="1900" dirty="0">
                <a:solidFill>
                  <a:schemeClr val="bg1"/>
                </a:solidFill>
                <a:latin typeface="Cambria" pitchFamily="34" charset="0"/>
                <a:ea typeface="Cambria" pitchFamily="34" charset="-122"/>
                <a:cs typeface="Cambria" pitchFamily="34" charset="-120"/>
              </a:rPr>
              <a:t>Compliance Officer</a:t>
            </a:r>
            <a:endParaRPr lang="en-US" sz="1900" dirty="0"/>
          </a:p>
        </p:txBody>
      </p:sp>
      <p:sp>
        <p:nvSpPr>
          <p:cNvPr id="22" name="Text 15"/>
          <p:cNvSpPr txBox="1"/>
          <p:nvPr/>
        </p:nvSpPr>
        <p:spPr>
          <a:xfrm>
            <a:off x="7269480" y="4818888"/>
            <a:ext cx="4206240" cy="274320"/>
          </a:xfrm>
          <a:prstGeom prst="rect">
            <a:avLst/>
          </a:prstGeom>
          <a:noFill/>
          <a:ln/>
        </p:spPr>
        <p:txBody>
          <a:bodyPr wrap="square" lIns="0" tIns="0" rIns="0" bIns="0" rtlCol="0" anchor="t"/>
          <a:lstStyle/>
          <a:p>
            <a:pPr indent="0" marL="0">
              <a:buNone/>
            </a:pPr>
            <a:r>
              <a:rPr lang="en-US" sz="1300" dirty="0">
                <a:solidFill>
                  <a:schemeClr val="accent6"/>
                </a:solidFill>
              </a:rPr>
              <a:t>[Your name]  ·  [email]  ·  [ext.]</a:t>
            </a:r>
            <a:endParaRPr lang="en-US" sz="1300" dirty="0"/>
          </a:p>
        </p:txBody>
      </p:sp>
      <p:sp>
        <p:nvSpPr>
          <p:cNvPr id="23" name="Text 16"/>
          <p:cNvSpPr txBox="1"/>
          <p:nvPr/>
        </p:nvSpPr>
        <p:spPr>
          <a:xfrm>
            <a:off x="7269480" y="5349240"/>
            <a:ext cx="4206240" cy="411480"/>
          </a:xfrm>
          <a:prstGeom prst="rect">
            <a:avLst/>
          </a:prstGeom>
          <a:noFill/>
          <a:ln/>
        </p:spPr>
        <p:txBody>
          <a:bodyPr wrap="square" lIns="0" tIns="0" rIns="0" bIns="0" rtlCol="0" anchor="t"/>
          <a:lstStyle/>
          <a:p>
            <a:pPr indent="0" marL="0">
              <a:buNone/>
            </a:pPr>
            <a:r>
              <a:rPr lang="en-US" sz="2000" i="1" dirty="0">
                <a:solidFill>
                  <a:schemeClr val="accent5"/>
                </a:solidFill>
                <a:latin typeface="Cambria" pitchFamily="34" charset="0"/>
                <a:ea typeface="Cambria" pitchFamily="34" charset="-122"/>
                <a:cs typeface="Cambria" pitchFamily="34" charset="-120"/>
              </a:rPr>
              <a:t>If in doubt, speak up.</a:t>
            </a:r>
            <a:endParaRPr lang="en-US" sz="20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27</a:t>
            </a:fld>
            <a:endParaRPr lang="en-US"/>
          </a:p>
        </p:txBody>
      </p:sp>
    </p:spTree>
  </p:cSld>
  <p:clrMapOvr>
    <a:masterClrMapping/>
  </p:clrMapOvr>
</p:sld>
</file>

<file path=ppt/theme/theme1.xml><?xml version="1.0" encoding="utf-8"?>
<a:theme xmlns:a="http://schemas.openxmlformats.org/drawingml/2006/main" name="Missick Stanbrook Compliance">
  <a:themeElements>
    <a:clrScheme name="Missick Stanbrook Compliance">
      <a:dk1>
        <a:srgbClr val="0B1F2A"/>
      </a:dk1>
      <a:lt1>
        <a:srgbClr val="FFFFFF"/>
      </a:lt1>
      <a:dk2>
        <a:srgbClr val="0F3B4C"/>
      </a:dk2>
      <a:lt2>
        <a:srgbClr val="EEF4F5"/>
      </a:lt2>
      <a:accent1>
        <a:srgbClr val="13A89E"/>
      </a:accent1>
      <a:accent2>
        <a:srgbClr val="E07A5F"/>
      </a:accent2>
      <a:accent3>
        <a:srgbClr val="C9A86A"/>
      </a:accent3>
      <a:accent4>
        <a:srgbClr val="5B7C8A"/>
      </a:accent4>
      <a:accent5>
        <a:srgbClr val="7FD1C7"/>
      </a:accent5>
      <a:accent6>
        <a:srgbClr val="A9BCC4"/>
      </a:accent6>
      <a:hlink>
        <a:srgbClr val="13A89E"/>
      </a:hlink>
      <a:folHlink>
        <a:srgbClr val="5B7C8A"/>
      </a:folHlink>
    </a:clrScheme>
    <a:fontScheme name="Missick Stanbrook Compli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Missick &amp; Stanbrook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Annual AML/CFT Training</dc:title>
  <dc:subject>PptxGenJS Presentation</dc:subject>
  <dc:creator>Compliance Department</dc:creator>
  <cp:lastModifiedBy>Compliance Department</cp:lastModifiedBy>
  <cp:revision>1</cp:revision>
  <dcterms:created xsi:type="dcterms:W3CDTF">2026-10-25T16:15:13Z</dcterms:created>
  <dcterms:modified xsi:type="dcterms:W3CDTF">2026-10-25T16:15:13Z</dcterms:modified>
</cp:coreProperties>
</file>